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317" r:id="rId21"/>
    <p:sldId id="275" r:id="rId22"/>
    <p:sldId id="276" r:id="rId23"/>
    <p:sldId id="277" r:id="rId24"/>
    <p:sldId id="303" r:id="rId25"/>
    <p:sldId id="304" r:id="rId26"/>
    <p:sldId id="305" r:id="rId27"/>
    <p:sldId id="306" r:id="rId28"/>
    <p:sldId id="307" r:id="rId29"/>
    <p:sldId id="308" r:id="rId30"/>
    <p:sldId id="309" r:id="rId31"/>
    <p:sldId id="310" r:id="rId32"/>
    <p:sldId id="311" r:id="rId33"/>
    <p:sldId id="312" r:id="rId34"/>
    <p:sldId id="313" r:id="rId35"/>
    <p:sldId id="314" r:id="rId36"/>
    <p:sldId id="315" r:id="rId37"/>
    <p:sldId id="284" r:id="rId38"/>
    <p:sldId id="285" r:id="rId39"/>
    <p:sldId id="286" r:id="rId40"/>
    <p:sldId id="287" r:id="rId41"/>
    <p:sldId id="288" r:id="rId42"/>
    <p:sldId id="289" r:id="rId43"/>
    <p:sldId id="290" r:id="rId44"/>
    <p:sldId id="291" r:id="rId45"/>
    <p:sldId id="316" r:id="rId46"/>
    <p:sldId id="292" r:id="rId47"/>
    <p:sldId id="293" r:id="rId48"/>
    <p:sldId id="294" r:id="rId49"/>
    <p:sldId id="295" r:id="rId50"/>
    <p:sldId id="296" r:id="rId51"/>
    <p:sldId id="297" r:id="rId52"/>
    <p:sldId id="298" r:id="rId53"/>
    <p:sldId id="299" r:id="rId54"/>
    <p:sldId id="300" r:id="rId55"/>
    <p:sldId id="301" r:id="rId56"/>
    <p:sldId id="302" r:id="rId57"/>
  </p:sldIdLst>
  <p:sldSz cx="5765800" cy="3244850"/>
  <p:notesSz cx="5765800" cy="324485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4006" autoAdjust="0"/>
  </p:normalViewPr>
  <p:slideViewPr>
    <p:cSldViewPr>
      <p:cViewPr varScale="1">
        <p:scale>
          <a:sx n="163" d="100"/>
          <a:sy n="163" d="100"/>
        </p:scale>
        <p:origin x="874" y="96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1" Type="http://schemas.openxmlformats.org/officeDocument/2006/relationships/theme" Target="theme/theme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D4570B03-06D1-496E-940D-E834C1A39D15}" type="doc">
      <dgm:prSet loTypeId="urn:diagrams.loki3.com/BracketList" loCatId="list" qsTypeId="urn:microsoft.com/office/officeart/2005/8/quickstyle/3d1" qsCatId="3D" csTypeId="urn:microsoft.com/office/officeart/2005/8/colors/accent0_3" csCatId="mainScheme" phldr="1"/>
      <dgm:spPr/>
      <dgm:t>
        <a:bodyPr/>
        <a:lstStyle/>
        <a:p>
          <a:endParaRPr lang="en-US"/>
        </a:p>
      </dgm:t>
    </dgm:pt>
    <dgm:pt modelId="{DE0D542D-D583-46F8-AF81-5963C844620D}">
      <dgm:prSet phldrT="[Text]" custT="1"/>
      <dgm:spPr/>
      <dgm:t>
        <a:bodyPr/>
        <a:lstStyle/>
        <a:p>
          <a:pPr algn="l"/>
          <a:endParaRPr lang="en-US" sz="700" dirty="0"/>
        </a:p>
      </dgm:t>
    </dgm:pt>
    <dgm:pt modelId="{C8EF2553-001E-4794-9586-0CDE54007ADD}" type="parTrans" cxnId="{51656E9E-C438-4269-8BAA-86F019163B07}">
      <dgm:prSet/>
      <dgm:spPr/>
      <dgm:t>
        <a:bodyPr/>
        <a:lstStyle/>
        <a:p>
          <a:endParaRPr lang="en-US"/>
        </a:p>
      </dgm:t>
    </dgm:pt>
    <dgm:pt modelId="{FB29F8EB-EE92-45C5-8BCF-B06C4D9BC7DC}" type="sibTrans" cxnId="{51656E9E-C438-4269-8BAA-86F019163B07}">
      <dgm:prSet/>
      <dgm:spPr/>
      <dgm:t>
        <a:bodyPr/>
        <a:lstStyle/>
        <a:p>
          <a:endParaRPr lang="en-US"/>
        </a:p>
      </dgm:t>
    </dgm:pt>
    <dgm:pt modelId="{D12CF5CC-B0AB-4657-8BC8-05A2DA36F5F4}">
      <dgm:prSet phldrT="[Text]"/>
      <dgm:spPr/>
      <dgm:t>
        <a:bodyPr/>
        <a:lstStyle/>
        <a:p>
          <a:pPr algn="l"/>
          <a:r>
            <a:rPr lang="en-US" b="0" i="0" dirty="0"/>
            <a:t>Table Extraction</a:t>
          </a:r>
          <a:endParaRPr lang="en-US" dirty="0"/>
        </a:p>
      </dgm:t>
    </dgm:pt>
    <dgm:pt modelId="{6A3B3684-783F-4816-9363-23FED4B817AB}" type="parTrans" cxnId="{4BE1A33F-8709-45AC-9866-A77B712F0F4B}">
      <dgm:prSet/>
      <dgm:spPr/>
      <dgm:t>
        <a:bodyPr/>
        <a:lstStyle/>
        <a:p>
          <a:endParaRPr lang="en-US"/>
        </a:p>
      </dgm:t>
    </dgm:pt>
    <dgm:pt modelId="{443C1D04-5678-4F60-8A9D-9083BCA3E12E}" type="sibTrans" cxnId="{4BE1A33F-8709-45AC-9866-A77B712F0F4B}">
      <dgm:prSet/>
      <dgm:spPr/>
      <dgm:t>
        <a:bodyPr/>
        <a:lstStyle/>
        <a:p>
          <a:endParaRPr lang="en-US"/>
        </a:p>
      </dgm:t>
    </dgm:pt>
    <dgm:pt modelId="{02D6A755-2659-4714-A019-A60BD2DBF44D}">
      <dgm:prSet phldrT="[Text]" custT="1"/>
      <dgm:spPr/>
      <dgm:t>
        <a:bodyPr/>
        <a:lstStyle/>
        <a:p>
          <a:pPr algn="l"/>
          <a:endParaRPr lang="en-US" sz="1050" b="0" i="0" dirty="0">
            <a:latin typeface="Arial Black" panose="020B0A04020102020204" pitchFamily="34" charset="0"/>
          </a:endParaRPr>
        </a:p>
      </dgm:t>
    </dgm:pt>
    <dgm:pt modelId="{A11D1553-18D4-4D46-8E28-8FA6B27EC28B}" type="parTrans" cxnId="{E9038612-49E6-4585-9419-CEFEF22E5596}">
      <dgm:prSet/>
      <dgm:spPr/>
      <dgm:t>
        <a:bodyPr/>
        <a:lstStyle/>
        <a:p>
          <a:endParaRPr lang="en-US"/>
        </a:p>
      </dgm:t>
    </dgm:pt>
    <dgm:pt modelId="{8D2AE69D-74F5-4BBB-BCDD-A101C39C3368}" type="sibTrans" cxnId="{E9038612-49E6-4585-9419-CEFEF22E5596}">
      <dgm:prSet/>
      <dgm:spPr/>
      <dgm:t>
        <a:bodyPr/>
        <a:lstStyle/>
        <a:p>
          <a:endParaRPr lang="en-US"/>
        </a:p>
      </dgm:t>
    </dgm:pt>
    <dgm:pt modelId="{9357E48B-E7E0-4CA0-9ABC-FF0F47D16FFF}">
      <dgm:prSet phldrT="[Text]"/>
      <dgm:spPr/>
      <dgm:t>
        <a:bodyPr/>
        <a:lstStyle/>
        <a:p>
          <a:pPr algn="l"/>
          <a:r>
            <a:rPr lang="en-US" b="0" i="0" dirty="0"/>
            <a:t>Section-Aware Splitting</a:t>
          </a:r>
          <a:endParaRPr lang="en-US" dirty="0"/>
        </a:p>
      </dgm:t>
    </dgm:pt>
    <dgm:pt modelId="{7581C13E-E6C9-4383-A784-20E62B70B3DC}" type="parTrans" cxnId="{86FD203E-7063-4D5F-A35C-3598D65669ED}">
      <dgm:prSet/>
      <dgm:spPr/>
      <dgm:t>
        <a:bodyPr/>
        <a:lstStyle/>
        <a:p>
          <a:endParaRPr lang="en-US"/>
        </a:p>
      </dgm:t>
    </dgm:pt>
    <dgm:pt modelId="{F31CFC71-E692-4437-B605-955BBEFE5B3C}" type="sibTrans" cxnId="{86FD203E-7063-4D5F-A35C-3598D65669ED}">
      <dgm:prSet/>
      <dgm:spPr/>
      <dgm:t>
        <a:bodyPr/>
        <a:lstStyle/>
        <a:p>
          <a:endParaRPr lang="en-US"/>
        </a:p>
      </dgm:t>
    </dgm:pt>
    <dgm:pt modelId="{D19DA2C2-DBED-4C48-A059-92B1F02E952E}">
      <dgm:prSet phldrT="[Text]"/>
      <dgm:spPr/>
      <dgm:t>
        <a:bodyPr/>
        <a:lstStyle/>
        <a:p>
          <a:pPr algn="l"/>
          <a:r>
            <a:rPr lang="en-US" b="0" i="0" dirty="0"/>
            <a:t>Optimal Sizing</a:t>
          </a:r>
          <a:endParaRPr lang="en-US" dirty="0"/>
        </a:p>
      </dgm:t>
    </dgm:pt>
    <dgm:pt modelId="{2411435A-2DED-45FE-BAF2-EA5E2BAB2221}" type="parTrans" cxnId="{CED7CC02-254C-4CB5-AA30-2B25713B0DE9}">
      <dgm:prSet/>
      <dgm:spPr/>
      <dgm:t>
        <a:bodyPr/>
        <a:lstStyle/>
        <a:p>
          <a:endParaRPr lang="en-US"/>
        </a:p>
      </dgm:t>
    </dgm:pt>
    <dgm:pt modelId="{8B1C7915-ACF1-48A9-8CBC-03BA5CAA0EC8}" type="sibTrans" cxnId="{CED7CC02-254C-4CB5-AA30-2B25713B0DE9}">
      <dgm:prSet/>
      <dgm:spPr/>
      <dgm:t>
        <a:bodyPr/>
        <a:lstStyle/>
        <a:p>
          <a:endParaRPr lang="en-US"/>
        </a:p>
      </dgm:t>
    </dgm:pt>
    <dgm:pt modelId="{B6EA1160-7F8A-4126-8376-C44E264E6EA1}">
      <dgm:prSet phldrT="[Text]" custT="1"/>
      <dgm:spPr/>
      <dgm:t>
        <a:bodyPr/>
        <a:lstStyle/>
        <a:p>
          <a:pPr algn="l"/>
          <a:endParaRPr lang="en-US" sz="600" dirty="0"/>
        </a:p>
      </dgm:t>
    </dgm:pt>
    <dgm:pt modelId="{C4A29E89-B10D-4EE9-817D-665085164D56}" type="parTrans" cxnId="{BEBC4F50-0997-43E0-A4F6-3DCF33909B4C}">
      <dgm:prSet/>
      <dgm:spPr/>
      <dgm:t>
        <a:bodyPr/>
        <a:lstStyle/>
        <a:p>
          <a:endParaRPr lang="en-US"/>
        </a:p>
      </dgm:t>
    </dgm:pt>
    <dgm:pt modelId="{78A00466-42E4-4EC0-9E29-CCB271DF42F4}" type="sibTrans" cxnId="{BEBC4F50-0997-43E0-A4F6-3DCF33909B4C}">
      <dgm:prSet/>
      <dgm:spPr/>
      <dgm:t>
        <a:bodyPr/>
        <a:lstStyle/>
        <a:p>
          <a:endParaRPr lang="en-US"/>
        </a:p>
      </dgm:t>
    </dgm:pt>
    <dgm:pt modelId="{016B6379-197D-4014-BBB5-7272361FA5ED}">
      <dgm:prSet phldrT="[Text]"/>
      <dgm:spPr/>
      <dgm:t>
        <a:bodyPr/>
        <a:lstStyle/>
        <a:p>
          <a:pPr algn="l"/>
          <a:r>
            <a:rPr lang="en-US" b="0" i="0" dirty="0"/>
            <a:t>Fully Local Execution</a:t>
          </a:r>
          <a:endParaRPr lang="en-US" dirty="0"/>
        </a:p>
      </dgm:t>
    </dgm:pt>
    <dgm:pt modelId="{8D526268-2F08-4285-9EEA-ACD0B693F879}" type="parTrans" cxnId="{35C42657-DB4D-4E59-9BB6-9C2A11020C13}">
      <dgm:prSet/>
      <dgm:spPr/>
      <dgm:t>
        <a:bodyPr/>
        <a:lstStyle/>
        <a:p>
          <a:endParaRPr lang="en-US"/>
        </a:p>
      </dgm:t>
    </dgm:pt>
    <dgm:pt modelId="{791199FC-FDB9-4DE9-A0A6-52879619A3C8}" type="sibTrans" cxnId="{35C42657-DB4D-4E59-9BB6-9C2A11020C13}">
      <dgm:prSet/>
      <dgm:spPr/>
      <dgm:t>
        <a:bodyPr/>
        <a:lstStyle/>
        <a:p>
          <a:endParaRPr lang="en-US"/>
        </a:p>
      </dgm:t>
    </dgm:pt>
    <dgm:pt modelId="{B410AD1F-A2B3-49B3-8BE2-CA1B2963672B}">
      <dgm:prSet phldrT="[Text]"/>
      <dgm:spPr/>
      <dgm:t>
        <a:bodyPr/>
        <a:lstStyle/>
        <a:p>
          <a:pPr algn="l"/>
          <a:r>
            <a:rPr lang="en-US" b="0" i="0" dirty="0"/>
            <a:t>Header Stripping</a:t>
          </a:r>
          <a:endParaRPr lang="en-US" dirty="0"/>
        </a:p>
      </dgm:t>
    </dgm:pt>
    <dgm:pt modelId="{CCBF6D02-9F0B-4236-9549-FD1FC07A5984}" type="sibTrans" cxnId="{E8C2E0BE-83B9-42FF-9F2F-0017F48DCA71}">
      <dgm:prSet/>
      <dgm:spPr/>
      <dgm:t>
        <a:bodyPr/>
        <a:lstStyle/>
        <a:p>
          <a:endParaRPr lang="en-US"/>
        </a:p>
      </dgm:t>
    </dgm:pt>
    <dgm:pt modelId="{703C4DDF-2819-43E6-95F5-DEA0F213ACDA}" type="parTrans" cxnId="{E8C2E0BE-83B9-42FF-9F2F-0017F48DCA71}">
      <dgm:prSet/>
      <dgm:spPr/>
      <dgm:t>
        <a:bodyPr/>
        <a:lstStyle/>
        <a:p>
          <a:endParaRPr lang="en-US"/>
        </a:p>
      </dgm:t>
    </dgm:pt>
    <dgm:pt modelId="{E5D331DA-30E0-4D9E-AF95-9BED1C00B881}">
      <dgm:prSet phldrT="[Text]" custT="1"/>
      <dgm:spPr/>
      <dgm:t>
        <a:bodyPr/>
        <a:lstStyle/>
        <a:p>
          <a:pPr algn="l"/>
          <a:endParaRPr lang="en-US" sz="500" dirty="0"/>
        </a:p>
      </dgm:t>
    </dgm:pt>
    <dgm:pt modelId="{0EEC3D0D-1968-4D98-B1E4-5BE2E7C9D046}" type="parTrans" cxnId="{E5D3C6D9-77FA-4A53-B8D1-9AFC12914D57}">
      <dgm:prSet/>
      <dgm:spPr/>
      <dgm:t>
        <a:bodyPr/>
        <a:lstStyle/>
        <a:p>
          <a:endParaRPr lang="en-US"/>
        </a:p>
      </dgm:t>
    </dgm:pt>
    <dgm:pt modelId="{0D12E0D9-447A-4318-A2D1-567184552CEB}" type="sibTrans" cxnId="{E5D3C6D9-77FA-4A53-B8D1-9AFC12914D57}">
      <dgm:prSet/>
      <dgm:spPr/>
      <dgm:t>
        <a:bodyPr/>
        <a:lstStyle/>
        <a:p>
          <a:endParaRPr lang="en-US"/>
        </a:p>
      </dgm:t>
    </dgm:pt>
    <dgm:pt modelId="{F73F6B60-F387-4B00-AF21-983EFA908F3B}">
      <dgm:prSet phldrT="[Text]"/>
      <dgm:spPr/>
      <dgm:t>
        <a:bodyPr/>
        <a:lstStyle/>
        <a:p>
          <a:pPr algn="l"/>
          <a:r>
            <a:rPr lang="en-US" b="0" i="0" dirty="0"/>
            <a:t>Zero Docker Setup</a:t>
          </a:r>
          <a:endParaRPr lang="en-US" dirty="0"/>
        </a:p>
      </dgm:t>
    </dgm:pt>
    <dgm:pt modelId="{66BC6DEB-3BCA-40D4-BBDB-03469584A26B}" type="parTrans" cxnId="{F6B286A8-B838-48A2-8EA3-C6AA8D365595}">
      <dgm:prSet/>
      <dgm:spPr/>
      <dgm:t>
        <a:bodyPr/>
        <a:lstStyle/>
        <a:p>
          <a:endParaRPr lang="en-US"/>
        </a:p>
      </dgm:t>
    </dgm:pt>
    <dgm:pt modelId="{F9A40652-90E5-4569-99B1-02A0DB0C497F}" type="sibTrans" cxnId="{F6B286A8-B838-48A2-8EA3-C6AA8D365595}">
      <dgm:prSet/>
      <dgm:spPr/>
      <dgm:t>
        <a:bodyPr/>
        <a:lstStyle/>
        <a:p>
          <a:endParaRPr lang="en-US"/>
        </a:p>
      </dgm:t>
    </dgm:pt>
    <dgm:pt modelId="{CFC255E3-F313-4F68-A8BE-AA9A0E7B2920}">
      <dgm:prSet phldrT="[Text]" custT="1"/>
      <dgm:spPr/>
      <dgm:t>
        <a:bodyPr/>
        <a:lstStyle/>
        <a:p>
          <a:pPr algn="l"/>
          <a:endParaRPr lang="en-US" sz="500" dirty="0"/>
        </a:p>
      </dgm:t>
    </dgm:pt>
    <dgm:pt modelId="{80D5B58A-7533-437A-907C-7A96D4C934CD}" type="parTrans" cxnId="{38475AF4-CAB8-417F-B300-5B7AFA14E6E2}">
      <dgm:prSet/>
      <dgm:spPr/>
      <dgm:t>
        <a:bodyPr/>
        <a:lstStyle/>
        <a:p>
          <a:endParaRPr lang="en-US"/>
        </a:p>
      </dgm:t>
    </dgm:pt>
    <dgm:pt modelId="{AF699248-E40C-4F45-8095-1040C5E7766E}" type="sibTrans" cxnId="{38475AF4-CAB8-417F-B300-5B7AFA14E6E2}">
      <dgm:prSet/>
      <dgm:spPr/>
      <dgm:t>
        <a:bodyPr/>
        <a:lstStyle/>
        <a:p>
          <a:endParaRPr lang="en-US"/>
        </a:p>
      </dgm:t>
    </dgm:pt>
    <dgm:pt modelId="{DFD7F550-E826-4DB8-852E-70462049B908}">
      <dgm:prSet phldrT="[Text]"/>
      <dgm:spPr/>
      <dgm:t>
        <a:bodyPr/>
        <a:lstStyle/>
        <a:p>
          <a:pPr algn="l"/>
          <a:r>
            <a:rPr lang="en-US" b="0" i="0" dirty="0"/>
            <a:t>Precision Metadata Filtering</a:t>
          </a:r>
          <a:endParaRPr lang="en-US" dirty="0"/>
        </a:p>
      </dgm:t>
    </dgm:pt>
    <dgm:pt modelId="{F769BD8D-0698-445D-897D-E2A2FA3FF3AC}" type="parTrans" cxnId="{175A0D4F-E174-43F2-8F85-B67FCA281E1A}">
      <dgm:prSet/>
      <dgm:spPr/>
      <dgm:t>
        <a:bodyPr/>
        <a:lstStyle/>
        <a:p>
          <a:endParaRPr lang="en-US"/>
        </a:p>
      </dgm:t>
    </dgm:pt>
    <dgm:pt modelId="{DD95DAB0-10DD-49AD-A13D-0FF303E43A7B}" type="sibTrans" cxnId="{175A0D4F-E174-43F2-8F85-B67FCA281E1A}">
      <dgm:prSet/>
      <dgm:spPr/>
      <dgm:t>
        <a:bodyPr/>
        <a:lstStyle/>
        <a:p>
          <a:endParaRPr lang="en-US"/>
        </a:p>
      </dgm:t>
    </dgm:pt>
    <dgm:pt modelId="{EF4D839F-1954-4FEA-BC1D-6A6FE5E5C4E4}">
      <dgm:prSet phldrT="[Text]"/>
      <dgm:spPr/>
      <dgm:t>
        <a:bodyPr/>
        <a:lstStyle/>
        <a:p>
          <a:pPr algn="l"/>
          <a:r>
            <a:rPr lang="en-US" b="0" i="0" dirty="0"/>
            <a:t>Over-fetching</a:t>
          </a:r>
          <a:endParaRPr lang="en-US" dirty="0"/>
        </a:p>
      </dgm:t>
    </dgm:pt>
    <dgm:pt modelId="{ABA9D00D-FA58-4C5C-A960-9BF9EC11A01B}" type="parTrans" cxnId="{A96622E3-BC84-4F67-BC21-F7E183C9238B}">
      <dgm:prSet/>
      <dgm:spPr/>
      <dgm:t>
        <a:bodyPr/>
        <a:lstStyle/>
        <a:p>
          <a:endParaRPr lang="en-US"/>
        </a:p>
      </dgm:t>
    </dgm:pt>
    <dgm:pt modelId="{BFF19C4C-6C38-488B-B9A1-292A32DD8C60}" type="sibTrans" cxnId="{A96622E3-BC84-4F67-BC21-F7E183C9238B}">
      <dgm:prSet/>
      <dgm:spPr/>
      <dgm:t>
        <a:bodyPr/>
        <a:lstStyle/>
        <a:p>
          <a:endParaRPr lang="en-US"/>
        </a:p>
      </dgm:t>
    </dgm:pt>
    <dgm:pt modelId="{67AAB135-0D51-4F78-B9C5-116756FDD4FD}">
      <dgm:prSet phldrT="[Text]" custT="1"/>
      <dgm:spPr/>
      <dgm:t>
        <a:bodyPr/>
        <a:lstStyle/>
        <a:p>
          <a:pPr algn="l"/>
          <a:endParaRPr lang="en-US" sz="500" dirty="0"/>
        </a:p>
      </dgm:t>
    </dgm:pt>
    <dgm:pt modelId="{0764D504-CB07-4071-9A74-C38D1F4EC718}" type="parTrans" cxnId="{56A8B0BB-481F-4E64-8165-87BB69F9A22B}">
      <dgm:prSet/>
      <dgm:spPr/>
      <dgm:t>
        <a:bodyPr/>
        <a:lstStyle/>
        <a:p>
          <a:endParaRPr lang="en-US"/>
        </a:p>
      </dgm:t>
    </dgm:pt>
    <dgm:pt modelId="{AE1B9AE7-854E-4E8A-9B49-3CA8614B49B7}" type="sibTrans" cxnId="{56A8B0BB-481F-4E64-8165-87BB69F9A22B}">
      <dgm:prSet/>
      <dgm:spPr/>
      <dgm:t>
        <a:bodyPr/>
        <a:lstStyle/>
        <a:p>
          <a:endParaRPr lang="en-US"/>
        </a:p>
      </dgm:t>
    </dgm:pt>
    <dgm:pt modelId="{B8004FBE-713E-4F15-8885-85B9EA6E9A18}">
      <dgm:prSet phldrT="[Text]"/>
      <dgm:spPr/>
      <dgm:t>
        <a:bodyPr/>
        <a:lstStyle/>
        <a:p>
          <a:pPr algn="l"/>
          <a:r>
            <a:rPr lang="en-US" b="0" i="0" dirty="0"/>
            <a:t>Anti-Hallucination Guardrails</a:t>
          </a:r>
          <a:endParaRPr lang="en-US" dirty="0"/>
        </a:p>
      </dgm:t>
    </dgm:pt>
    <dgm:pt modelId="{8A89D8F8-211F-464D-AF74-1F8DE05387B4}" type="parTrans" cxnId="{F6E88605-19FE-4705-B7C4-F462D8AB4643}">
      <dgm:prSet/>
      <dgm:spPr/>
      <dgm:t>
        <a:bodyPr/>
        <a:lstStyle/>
        <a:p>
          <a:endParaRPr lang="en-US"/>
        </a:p>
      </dgm:t>
    </dgm:pt>
    <dgm:pt modelId="{CA806B09-F251-46F6-807A-781E4FCD5974}" type="sibTrans" cxnId="{F6E88605-19FE-4705-B7C4-F462D8AB4643}">
      <dgm:prSet/>
      <dgm:spPr/>
      <dgm:t>
        <a:bodyPr/>
        <a:lstStyle/>
        <a:p>
          <a:endParaRPr lang="en-US"/>
        </a:p>
      </dgm:t>
    </dgm:pt>
    <dgm:pt modelId="{20D280F0-91E7-42CA-9A03-571050C0CB16}">
      <dgm:prSet phldrT="[Text]"/>
      <dgm:spPr/>
      <dgm:t>
        <a:bodyPr/>
        <a:lstStyle/>
        <a:p>
          <a:pPr algn="l"/>
          <a:r>
            <a:rPr lang="en-US" b="0" i="0" dirty="0"/>
            <a:t>Strict Citations</a:t>
          </a:r>
          <a:endParaRPr lang="en-US" dirty="0"/>
        </a:p>
      </dgm:t>
    </dgm:pt>
    <dgm:pt modelId="{731ED404-621E-4ED2-85AD-DF4BDFC2D3BD}" type="parTrans" cxnId="{CBDABCD5-9B7D-42F1-9295-22DC73E2FDB0}">
      <dgm:prSet/>
      <dgm:spPr/>
      <dgm:t>
        <a:bodyPr/>
        <a:lstStyle/>
        <a:p>
          <a:endParaRPr lang="en-US"/>
        </a:p>
      </dgm:t>
    </dgm:pt>
    <dgm:pt modelId="{C2E8C2C7-E4B0-46E1-AD5C-037C095ABDF0}" type="sibTrans" cxnId="{CBDABCD5-9B7D-42F1-9295-22DC73E2FDB0}">
      <dgm:prSet/>
      <dgm:spPr/>
      <dgm:t>
        <a:bodyPr/>
        <a:lstStyle/>
        <a:p>
          <a:endParaRPr lang="en-US"/>
        </a:p>
      </dgm:t>
    </dgm:pt>
    <dgm:pt modelId="{96D22CE3-E99B-43B7-A890-8B3328F8E2E0}">
      <dgm:prSet phldrT="[Text]"/>
      <dgm:spPr/>
      <dgm:t>
        <a:bodyPr/>
        <a:lstStyle/>
        <a:p>
          <a:pPr algn="l"/>
          <a:r>
            <a:rPr lang="en-US" b="0" i="0" dirty="0"/>
            <a:t>Rich Metadata</a:t>
          </a:r>
          <a:endParaRPr lang="en-US" dirty="0"/>
        </a:p>
      </dgm:t>
    </dgm:pt>
    <dgm:pt modelId="{3DA8366F-C933-44CA-ADDF-18F73189EA6A}" type="parTrans" cxnId="{3456690B-B173-48B8-86F7-97252F1597D5}">
      <dgm:prSet/>
      <dgm:spPr/>
      <dgm:t>
        <a:bodyPr/>
        <a:lstStyle/>
        <a:p>
          <a:endParaRPr lang="en-US"/>
        </a:p>
      </dgm:t>
    </dgm:pt>
    <dgm:pt modelId="{A42478D0-807D-4203-8347-8182C244F189}" type="sibTrans" cxnId="{3456690B-B173-48B8-86F7-97252F1597D5}">
      <dgm:prSet/>
      <dgm:spPr/>
      <dgm:t>
        <a:bodyPr/>
        <a:lstStyle/>
        <a:p>
          <a:endParaRPr lang="en-US"/>
        </a:p>
      </dgm:t>
    </dgm:pt>
    <dgm:pt modelId="{39F54975-3C18-4047-B841-1E5ED79DA055}">
      <dgm:prSet phldrT="[Text]" custT="1"/>
      <dgm:spPr/>
      <dgm:t>
        <a:bodyPr/>
        <a:lstStyle/>
        <a:p>
          <a:pPr algn="l"/>
          <a:endParaRPr lang="en-US" sz="1100" dirty="0">
            <a:latin typeface="Arial Black" panose="020B0A04020102020204" pitchFamily="34" charset="0"/>
          </a:endParaRPr>
        </a:p>
      </dgm:t>
    </dgm:pt>
    <dgm:pt modelId="{CEC1D58E-1AB3-4E72-A00C-84BAD892CD40}" type="parTrans" cxnId="{C2E89A0B-866F-45C1-9E43-09B489A3A4E8}">
      <dgm:prSet/>
      <dgm:spPr/>
      <dgm:t>
        <a:bodyPr/>
        <a:lstStyle/>
        <a:p>
          <a:endParaRPr lang="en-US"/>
        </a:p>
      </dgm:t>
    </dgm:pt>
    <dgm:pt modelId="{5DDE273F-5EAF-4DCF-9576-3CC5E69C990E}" type="sibTrans" cxnId="{C2E89A0B-866F-45C1-9E43-09B489A3A4E8}">
      <dgm:prSet/>
      <dgm:spPr/>
      <dgm:t>
        <a:bodyPr/>
        <a:lstStyle/>
        <a:p>
          <a:endParaRPr lang="en-US"/>
        </a:p>
      </dgm:t>
    </dgm:pt>
    <dgm:pt modelId="{E382FAAA-4FB2-477A-98B3-A2A120BAC348}">
      <dgm:prSet phldrT="[Text]"/>
      <dgm:spPr/>
      <dgm:t>
        <a:bodyPr/>
        <a:lstStyle/>
        <a:p>
          <a:r>
            <a:rPr lang="en-US" b="0" i="0" dirty="0"/>
            <a:t>Smart Filtering</a:t>
          </a:r>
          <a:endParaRPr lang="en-US" dirty="0"/>
        </a:p>
      </dgm:t>
    </dgm:pt>
    <dgm:pt modelId="{A26A0720-9BE4-44E9-89C9-7F9980634043}" type="parTrans" cxnId="{99E6DEB9-6BD5-4EFC-87D0-EC8AA52BEB00}">
      <dgm:prSet/>
      <dgm:spPr/>
      <dgm:t>
        <a:bodyPr/>
        <a:lstStyle/>
        <a:p>
          <a:endParaRPr lang="en-US"/>
        </a:p>
      </dgm:t>
    </dgm:pt>
    <dgm:pt modelId="{92B8D365-A3DA-4EE7-BA70-DC7D10A7653D}" type="sibTrans" cxnId="{99E6DEB9-6BD5-4EFC-87D0-EC8AA52BEB00}">
      <dgm:prSet/>
      <dgm:spPr/>
      <dgm:t>
        <a:bodyPr/>
        <a:lstStyle/>
        <a:p>
          <a:endParaRPr lang="en-US"/>
        </a:p>
      </dgm:t>
    </dgm:pt>
    <dgm:pt modelId="{49162F80-9F02-44A6-B8BB-9C145D32E9A6}" type="pres">
      <dgm:prSet presAssocID="{D4570B03-06D1-496E-940D-E834C1A39D15}" presName="Name0" presStyleCnt="0">
        <dgm:presLayoutVars>
          <dgm:dir/>
          <dgm:animLvl val="lvl"/>
          <dgm:resizeHandles val="exact"/>
        </dgm:presLayoutVars>
      </dgm:prSet>
      <dgm:spPr/>
    </dgm:pt>
    <dgm:pt modelId="{93D76702-C2A8-4552-960B-C2CCD4981C99}" type="pres">
      <dgm:prSet presAssocID="{DE0D542D-D583-46F8-AF81-5963C844620D}" presName="linNode" presStyleCnt="0"/>
      <dgm:spPr/>
    </dgm:pt>
    <dgm:pt modelId="{EEF1E03F-C7C5-4626-9C13-2E78DD1D4267}" type="pres">
      <dgm:prSet presAssocID="{DE0D542D-D583-46F8-AF81-5963C844620D}" presName="parTx" presStyleLbl="revTx" presStyleIdx="0" presStyleCnt="7" custScaleX="275628" custLinFactNeighborX="-977" custLinFactNeighborY="27409">
        <dgm:presLayoutVars>
          <dgm:chMax val="1"/>
          <dgm:bulletEnabled val="1"/>
        </dgm:presLayoutVars>
      </dgm:prSet>
      <dgm:spPr/>
    </dgm:pt>
    <dgm:pt modelId="{A26B1DE6-CF11-4DDE-B44C-06D2D40056A5}" type="pres">
      <dgm:prSet presAssocID="{DE0D542D-D583-46F8-AF81-5963C844620D}" presName="bracket" presStyleLbl="parChTrans1D1" presStyleIdx="0" presStyleCnt="7" custScaleX="318408" custScaleY="105564"/>
      <dgm:spPr/>
    </dgm:pt>
    <dgm:pt modelId="{84088476-830B-44FF-9FC8-4FF311557564}" type="pres">
      <dgm:prSet presAssocID="{DE0D542D-D583-46F8-AF81-5963C844620D}" presName="spH" presStyleCnt="0"/>
      <dgm:spPr/>
    </dgm:pt>
    <dgm:pt modelId="{16433D64-952C-4A31-983D-1017B3C32C47}" type="pres">
      <dgm:prSet presAssocID="{DE0D542D-D583-46F8-AF81-5963C844620D}" presName="desTx" presStyleLbl="node1" presStyleIdx="0" presStyleCnt="7" custScaleX="272913" custScaleY="105564">
        <dgm:presLayoutVars>
          <dgm:bulletEnabled val="1"/>
        </dgm:presLayoutVars>
      </dgm:prSet>
      <dgm:spPr/>
    </dgm:pt>
    <dgm:pt modelId="{0D64A2A7-0C6F-4181-A777-C89732C0E5C5}" type="pres">
      <dgm:prSet presAssocID="{FB29F8EB-EE92-45C5-8BCF-B06C4D9BC7DC}" presName="spV" presStyleCnt="0"/>
      <dgm:spPr/>
    </dgm:pt>
    <dgm:pt modelId="{19DA4E40-3C89-4875-AC17-D25DBD2ACEB7}" type="pres">
      <dgm:prSet presAssocID="{02D6A755-2659-4714-A019-A60BD2DBF44D}" presName="linNode" presStyleCnt="0"/>
      <dgm:spPr/>
    </dgm:pt>
    <dgm:pt modelId="{AC2B96A3-ADBA-40C0-B958-7DDD08E7D4E8}" type="pres">
      <dgm:prSet presAssocID="{02D6A755-2659-4714-A019-A60BD2DBF44D}" presName="parTx" presStyleLbl="revTx" presStyleIdx="1" presStyleCnt="7" custScaleX="279345" custScaleY="101368">
        <dgm:presLayoutVars>
          <dgm:chMax val="1"/>
          <dgm:bulletEnabled val="1"/>
        </dgm:presLayoutVars>
      </dgm:prSet>
      <dgm:spPr/>
    </dgm:pt>
    <dgm:pt modelId="{198F5C82-A1B5-4598-AC6F-A9C0DABD7BDF}" type="pres">
      <dgm:prSet presAssocID="{02D6A755-2659-4714-A019-A60BD2DBF44D}" presName="bracket" presStyleLbl="parChTrans1D1" presStyleIdx="1" presStyleCnt="7" custScaleX="340255"/>
      <dgm:spPr/>
    </dgm:pt>
    <dgm:pt modelId="{8B63F9A0-3944-4E74-93DB-D303A8D9255B}" type="pres">
      <dgm:prSet presAssocID="{02D6A755-2659-4714-A019-A60BD2DBF44D}" presName="spH" presStyleCnt="0"/>
      <dgm:spPr/>
    </dgm:pt>
    <dgm:pt modelId="{2E54DBD1-1915-453C-B205-7D57F6596F56}" type="pres">
      <dgm:prSet presAssocID="{02D6A755-2659-4714-A019-A60BD2DBF44D}" presName="desTx" presStyleLbl="node1" presStyleIdx="1" presStyleCnt="7" custScaleX="277292">
        <dgm:presLayoutVars>
          <dgm:bulletEnabled val="1"/>
        </dgm:presLayoutVars>
      </dgm:prSet>
      <dgm:spPr/>
    </dgm:pt>
    <dgm:pt modelId="{B220DA74-EC66-489D-8246-311B923B97F4}" type="pres">
      <dgm:prSet presAssocID="{8D2AE69D-74F5-4BBB-BCDD-A101C39C3368}" presName="spV" presStyleCnt="0"/>
      <dgm:spPr/>
    </dgm:pt>
    <dgm:pt modelId="{07C8456B-70F4-46B2-8434-66CD9C4C8206}" type="pres">
      <dgm:prSet presAssocID="{B6EA1160-7F8A-4126-8376-C44E264E6EA1}" presName="linNode" presStyleCnt="0"/>
      <dgm:spPr/>
    </dgm:pt>
    <dgm:pt modelId="{4D2CC661-966E-4BA4-843D-A1C1153050D7}" type="pres">
      <dgm:prSet presAssocID="{B6EA1160-7F8A-4126-8376-C44E264E6EA1}" presName="parTx" presStyleLbl="revTx" presStyleIdx="2" presStyleCnt="7" custScaleY="35369" custLinFactNeighborX="-977" custLinFactNeighborY="13090">
        <dgm:presLayoutVars>
          <dgm:chMax val="1"/>
          <dgm:bulletEnabled val="1"/>
        </dgm:presLayoutVars>
      </dgm:prSet>
      <dgm:spPr/>
    </dgm:pt>
    <dgm:pt modelId="{A0E10437-37D9-40A1-94FC-7CF5534408C5}" type="pres">
      <dgm:prSet presAssocID="{B6EA1160-7F8A-4126-8376-C44E264E6EA1}" presName="bracket" presStyleLbl="parChTrans1D1" presStyleIdx="2" presStyleCnt="7"/>
      <dgm:spPr/>
    </dgm:pt>
    <dgm:pt modelId="{C06C2236-897C-4D2B-8456-36AAFC45E58A}" type="pres">
      <dgm:prSet presAssocID="{B6EA1160-7F8A-4126-8376-C44E264E6EA1}" presName="spH" presStyleCnt="0"/>
      <dgm:spPr/>
    </dgm:pt>
    <dgm:pt modelId="{A85E5853-DBE3-4294-93EB-D0C052772C14}" type="pres">
      <dgm:prSet presAssocID="{B6EA1160-7F8A-4126-8376-C44E264E6EA1}" presName="desTx" presStyleLbl="node1" presStyleIdx="2" presStyleCnt="7" custLinFactNeighborX="17727" custLinFactNeighborY="-2439">
        <dgm:presLayoutVars>
          <dgm:bulletEnabled val="1"/>
        </dgm:presLayoutVars>
      </dgm:prSet>
      <dgm:spPr/>
    </dgm:pt>
    <dgm:pt modelId="{61C6EDBC-202D-45B6-90DB-576D020436A6}" type="pres">
      <dgm:prSet presAssocID="{78A00466-42E4-4EC0-9E29-CCB271DF42F4}" presName="spV" presStyleCnt="0"/>
      <dgm:spPr/>
    </dgm:pt>
    <dgm:pt modelId="{AB1628CB-FBAF-4FEC-83F2-49EEE2D83036}" type="pres">
      <dgm:prSet presAssocID="{E5D331DA-30E0-4D9E-AF95-9BED1C00B881}" presName="linNode" presStyleCnt="0"/>
      <dgm:spPr/>
    </dgm:pt>
    <dgm:pt modelId="{51EE0D49-AD04-4513-87AC-4148C700764C}" type="pres">
      <dgm:prSet presAssocID="{E5D331DA-30E0-4D9E-AF95-9BED1C00B881}" presName="parTx" presStyleLbl="revTx" presStyleIdx="3" presStyleCnt="7">
        <dgm:presLayoutVars>
          <dgm:chMax val="1"/>
          <dgm:bulletEnabled val="1"/>
        </dgm:presLayoutVars>
      </dgm:prSet>
      <dgm:spPr/>
    </dgm:pt>
    <dgm:pt modelId="{FBEC08E7-8EA9-4F19-8102-67D71DDC638F}" type="pres">
      <dgm:prSet presAssocID="{E5D331DA-30E0-4D9E-AF95-9BED1C00B881}" presName="bracket" presStyleLbl="parChTrans1D1" presStyleIdx="3" presStyleCnt="7"/>
      <dgm:spPr/>
    </dgm:pt>
    <dgm:pt modelId="{7D46405E-DD88-4E9A-80A9-23C375168980}" type="pres">
      <dgm:prSet presAssocID="{E5D331DA-30E0-4D9E-AF95-9BED1C00B881}" presName="spH" presStyleCnt="0"/>
      <dgm:spPr/>
    </dgm:pt>
    <dgm:pt modelId="{824F19CC-5252-49CF-BB92-9DDE5C78A83D}" type="pres">
      <dgm:prSet presAssocID="{E5D331DA-30E0-4D9E-AF95-9BED1C00B881}" presName="desTx" presStyleLbl="node1" presStyleIdx="3" presStyleCnt="7">
        <dgm:presLayoutVars>
          <dgm:bulletEnabled val="1"/>
        </dgm:presLayoutVars>
      </dgm:prSet>
      <dgm:spPr/>
    </dgm:pt>
    <dgm:pt modelId="{15CBEDD1-6E59-4A21-B65E-A24E06847EC8}" type="pres">
      <dgm:prSet presAssocID="{0D12E0D9-447A-4318-A2D1-567184552CEB}" presName="spV" presStyleCnt="0"/>
      <dgm:spPr/>
    </dgm:pt>
    <dgm:pt modelId="{53B1EBAB-B262-4365-81D5-47D562D38253}" type="pres">
      <dgm:prSet presAssocID="{CFC255E3-F313-4F68-A8BE-AA9A0E7B2920}" presName="linNode" presStyleCnt="0"/>
      <dgm:spPr/>
    </dgm:pt>
    <dgm:pt modelId="{1988FC77-CF36-4CB7-8B74-1CB63D2CB4BE}" type="pres">
      <dgm:prSet presAssocID="{CFC255E3-F313-4F68-A8BE-AA9A0E7B2920}" presName="parTx" presStyleLbl="revTx" presStyleIdx="4" presStyleCnt="7" custLinFactNeighborX="1725" custLinFactNeighborY="7549">
        <dgm:presLayoutVars>
          <dgm:chMax val="1"/>
          <dgm:bulletEnabled val="1"/>
        </dgm:presLayoutVars>
      </dgm:prSet>
      <dgm:spPr/>
    </dgm:pt>
    <dgm:pt modelId="{0F317D99-FAA7-486C-AD04-E80658653891}" type="pres">
      <dgm:prSet presAssocID="{CFC255E3-F313-4F68-A8BE-AA9A0E7B2920}" presName="bracket" presStyleLbl="parChTrans1D1" presStyleIdx="4" presStyleCnt="7"/>
      <dgm:spPr/>
    </dgm:pt>
    <dgm:pt modelId="{4E0EA082-60FC-4371-9072-8611BCDAC3AC}" type="pres">
      <dgm:prSet presAssocID="{CFC255E3-F313-4F68-A8BE-AA9A0E7B2920}" presName="spH" presStyleCnt="0"/>
      <dgm:spPr/>
    </dgm:pt>
    <dgm:pt modelId="{A5768B98-F77A-4129-ACD5-EDDCB6DCE048}" type="pres">
      <dgm:prSet presAssocID="{CFC255E3-F313-4F68-A8BE-AA9A0E7B2920}" presName="desTx" presStyleLbl="node1" presStyleIdx="4" presStyleCnt="7">
        <dgm:presLayoutVars>
          <dgm:bulletEnabled val="1"/>
        </dgm:presLayoutVars>
      </dgm:prSet>
      <dgm:spPr/>
    </dgm:pt>
    <dgm:pt modelId="{CEB34B8F-A441-4D1F-AC27-A153B51A9AFE}" type="pres">
      <dgm:prSet presAssocID="{AF699248-E40C-4F45-8095-1040C5E7766E}" presName="spV" presStyleCnt="0"/>
      <dgm:spPr/>
    </dgm:pt>
    <dgm:pt modelId="{B63F1452-A433-4A82-86A6-A31C99BB4ABB}" type="pres">
      <dgm:prSet presAssocID="{39F54975-3C18-4047-B841-1E5ED79DA055}" presName="linNode" presStyleCnt="0"/>
      <dgm:spPr/>
    </dgm:pt>
    <dgm:pt modelId="{D1E7592D-5481-4E23-BBA9-37FC11FDB1FC}" type="pres">
      <dgm:prSet presAssocID="{39F54975-3C18-4047-B841-1E5ED79DA055}" presName="parTx" presStyleLbl="revTx" presStyleIdx="5" presStyleCnt="7">
        <dgm:presLayoutVars>
          <dgm:chMax val="1"/>
          <dgm:bulletEnabled val="1"/>
        </dgm:presLayoutVars>
      </dgm:prSet>
      <dgm:spPr/>
    </dgm:pt>
    <dgm:pt modelId="{7463CE50-C0A3-481C-A7EE-61A136CA5614}" type="pres">
      <dgm:prSet presAssocID="{39F54975-3C18-4047-B841-1E5ED79DA055}" presName="bracket" presStyleLbl="parChTrans1D1" presStyleIdx="5" presStyleCnt="7"/>
      <dgm:spPr/>
    </dgm:pt>
    <dgm:pt modelId="{FC4F3020-1D98-4C4D-A2E9-8733211A8AA4}" type="pres">
      <dgm:prSet presAssocID="{39F54975-3C18-4047-B841-1E5ED79DA055}" presName="spH" presStyleCnt="0"/>
      <dgm:spPr/>
    </dgm:pt>
    <dgm:pt modelId="{68C4F1F0-2F56-483B-8104-BEA79A7538A1}" type="pres">
      <dgm:prSet presAssocID="{39F54975-3C18-4047-B841-1E5ED79DA055}" presName="desTx" presStyleLbl="node1" presStyleIdx="5" presStyleCnt="7">
        <dgm:presLayoutVars>
          <dgm:bulletEnabled val="1"/>
        </dgm:presLayoutVars>
      </dgm:prSet>
      <dgm:spPr/>
    </dgm:pt>
    <dgm:pt modelId="{A1073545-5D48-4C69-8C57-292BC6B3C4B1}" type="pres">
      <dgm:prSet presAssocID="{5DDE273F-5EAF-4DCF-9576-3CC5E69C990E}" presName="spV" presStyleCnt="0"/>
      <dgm:spPr/>
    </dgm:pt>
    <dgm:pt modelId="{B2891C81-7B23-4425-8547-60BFE480CB4F}" type="pres">
      <dgm:prSet presAssocID="{67AAB135-0D51-4F78-B9C5-116756FDD4FD}" presName="linNode" presStyleCnt="0"/>
      <dgm:spPr/>
    </dgm:pt>
    <dgm:pt modelId="{E4B80767-5737-4482-A6AF-D1C6CDF122DC}" type="pres">
      <dgm:prSet presAssocID="{67AAB135-0D51-4F78-B9C5-116756FDD4FD}" presName="parTx" presStyleLbl="revTx" presStyleIdx="6" presStyleCnt="7" custLinFactNeighborX="-977" custLinFactNeighborY="11756">
        <dgm:presLayoutVars>
          <dgm:chMax val="1"/>
          <dgm:bulletEnabled val="1"/>
        </dgm:presLayoutVars>
      </dgm:prSet>
      <dgm:spPr/>
    </dgm:pt>
    <dgm:pt modelId="{D95A6C44-A417-4C00-9432-D1FAC161DC5F}" type="pres">
      <dgm:prSet presAssocID="{67AAB135-0D51-4F78-B9C5-116756FDD4FD}" presName="bracket" presStyleLbl="parChTrans1D1" presStyleIdx="6" presStyleCnt="7"/>
      <dgm:spPr/>
    </dgm:pt>
    <dgm:pt modelId="{B7B9C01C-FDAE-4A74-ABD3-EC7CD2A4D2D5}" type="pres">
      <dgm:prSet presAssocID="{67AAB135-0D51-4F78-B9C5-116756FDD4FD}" presName="spH" presStyleCnt="0"/>
      <dgm:spPr/>
    </dgm:pt>
    <dgm:pt modelId="{051F707C-CB75-4D21-8C13-082BD2FF2D14}" type="pres">
      <dgm:prSet presAssocID="{67AAB135-0D51-4F78-B9C5-116756FDD4FD}" presName="desTx" presStyleLbl="node1" presStyleIdx="6" presStyleCnt="7">
        <dgm:presLayoutVars>
          <dgm:bulletEnabled val="1"/>
        </dgm:presLayoutVars>
      </dgm:prSet>
      <dgm:spPr/>
    </dgm:pt>
  </dgm:ptLst>
  <dgm:cxnLst>
    <dgm:cxn modelId="{CED7CC02-254C-4CB5-AA30-2B25713B0DE9}" srcId="{02D6A755-2659-4714-A019-A60BD2DBF44D}" destId="{D19DA2C2-DBED-4C48-A059-92B1F02E952E}" srcOrd="1" destOrd="0" parTransId="{2411435A-2DED-45FE-BAF2-EA5E2BAB2221}" sibTransId="{8B1C7915-ACF1-48A9-8CBC-03BA5CAA0EC8}"/>
    <dgm:cxn modelId="{F6E88605-19FE-4705-B7C4-F462D8AB4643}" srcId="{67AAB135-0D51-4F78-B9C5-116756FDD4FD}" destId="{B8004FBE-713E-4F15-8885-85B9EA6E9A18}" srcOrd="0" destOrd="0" parTransId="{8A89D8F8-211F-464D-AF74-1F8DE05387B4}" sibTransId="{CA806B09-F251-46F6-807A-781E4FCD5974}"/>
    <dgm:cxn modelId="{29685408-45E5-4A09-A94C-6B5811184DDF}" type="presOf" srcId="{9357E48B-E7E0-4CA0-9ABC-FF0F47D16FFF}" destId="{2E54DBD1-1915-453C-B205-7D57F6596F56}" srcOrd="0" destOrd="0" presId="urn:diagrams.loki3.com/BracketList"/>
    <dgm:cxn modelId="{3456690B-B173-48B8-86F7-97252F1597D5}" srcId="{E5D331DA-30E0-4D9E-AF95-9BED1C00B881}" destId="{96D22CE3-E99B-43B7-A890-8B3328F8E2E0}" srcOrd="1" destOrd="0" parTransId="{3DA8366F-C933-44CA-ADDF-18F73189EA6A}" sibTransId="{A42478D0-807D-4203-8347-8182C244F189}"/>
    <dgm:cxn modelId="{C2E89A0B-866F-45C1-9E43-09B489A3A4E8}" srcId="{D4570B03-06D1-496E-940D-E834C1A39D15}" destId="{39F54975-3C18-4047-B841-1E5ED79DA055}" srcOrd="5" destOrd="0" parTransId="{CEC1D58E-1AB3-4E72-A00C-84BAD892CD40}" sibTransId="{5DDE273F-5EAF-4DCF-9576-3CC5E69C990E}"/>
    <dgm:cxn modelId="{E9038612-49E6-4585-9419-CEFEF22E5596}" srcId="{D4570B03-06D1-496E-940D-E834C1A39D15}" destId="{02D6A755-2659-4714-A019-A60BD2DBF44D}" srcOrd="1" destOrd="0" parTransId="{A11D1553-18D4-4D46-8E28-8FA6B27EC28B}" sibTransId="{8D2AE69D-74F5-4BBB-BCDD-A101C39C3368}"/>
    <dgm:cxn modelId="{9CA15018-9C07-46DF-90DA-8AF065446E5E}" type="presOf" srcId="{39F54975-3C18-4047-B841-1E5ED79DA055}" destId="{D1E7592D-5481-4E23-BBA9-37FC11FDB1FC}" srcOrd="0" destOrd="0" presId="urn:diagrams.loki3.com/BracketList"/>
    <dgm:cxn modelId="{253CA61A-3D10-40C6-A6A5-EB9F6A55F5B0}" type="presOf" srcId="{E382FAAA-4FB2-477A-98B3-A2A120BAC348}" destId="{68C4F1F0-2F56-483B-8104-BEA79A7538A1}" srcOrd="0" destOrd="0" presId="urn:diagrams.loki3.com/BracketList"/>
    <dgm:cxn modelId="{8FE8D121-64DD-4D0A-B1E3-B860DA31B65D}" type="presOf" srcId="{67AAB135-0D51-4F78-B9C5-116756FDD4FD}" destId="{E4B80767-5737-4482-A6AF-D1C6CDF122DC}" srcOrd="0" destOrd="0" presId="urn:diagrams.loki3.com/BracketList"/>
    <dgm:cxn modelId="{D60FD02C-D5E8-494B-B039-6EEC522D73AE}" type="presOf" srcId="{B8004FBE-713E-4F15-8885-85B9EA6E9A18}" destId="{051F707C-CB75-4D21-8C13-082BD2FF2D14}" srcOrd="0" destOrd="0" presId="urn:diagrams.loki3.com/BracketList"/>
    <dgm:cxn modelId="{AEBFEC2D-8855-4E2E-BEE0-C2AC6A2AD198}" type="presOf" srcId="{D12CF5CC-B0AB-4657-8BC8-05A2DA36F5F4}" destId="{16433D64-952C-4A31-983D-1017B3C32C47}" srcOrd="0" destOrd="0" presId="urn:diagrams.loki3.com/BracketList"/>
    <dgm:cxn modelId="{86FD203E-7063-4D5F-A35C-3598D65669ED}" srcId="{02D6A755-2659-4714-A019-A60BD2DBF44D}" destId="{9357E48B-E7E0-4CA0-9ABC-FF0F47D16FFF}" srcOrd="0" destOrd="0" parTransId="{7581C13E-E6C9-4383-A784-20E62B70B3DC}" sibTransId="{F31CFC71-E692-4437-B605-955BBEFE5B3C}"/>
    <dgm:cxn modelId="{4BE1A33F-8709-45AC-9866-A77B712F0F4B}" srcId="{DE0D542D-D583-46F8-AF81-5963C844620D}" destId="{D12CF5CC-B0AB-4657-8BC8-05A2DA36F5F4}" srcOrd="0" destOrd="0" parTransId="{6A3B3684-783F-4816-9363-23FED4B817AB}" sibTransId="{443C1D04-5678-4F60-8A9D-9083BCA3E12E}"/>
    <dgm:cxn modelId="{79185F44-6415-43D5-957F-294E77A373C5}" type="presOf" srcId="{F73F6B60-F387-4B00-AF21-983EFA908F3B}" destId="{824F19CC-5252-49CF-BB92-9DDE5C78A83D}" srcOrd="0" destOrd="0" presId="urn:diagrams.loki3.com/BracketList"/>
    <dgm:cxn modelId="{BB10DE44-0E64-4D65-BC2C-C5E23F3B4B7E}" type="presOf" srcId="{B410AD1F-A2B3-49B3-8BE2-CA1B2963672B}" destId="{16433D64-952C-4A31-983D-1017B3C32C47}" srcOrd="0" destOrd="1" presId="urn:diagrams.loki3.com/BracketList"/>
    <dgm:cxn modelId="{C8A7134D-29D6-4AE5-AFFB-1706BB271EEA}" type="presOf" srcId="{DE0D542D-D583-46F8-AF81-5963C844620D}" destId="{EEF1E03F-C7C5-4626-9C13-2E78DD1D4267}" srcOrd="0" destOrd="0" presId="urn:diagrams.loki3.com/BracketList"/>
    <dgm:cxn modelId="{F0A4654E-4223-438B-A830-452AC96E48E2}" type="presOf" srcId="{20D280F0-91E7-42CA-9A03-571050C0CB16}" destId="{051F707C-CB75-4D21-8C13-082BD2FF2D14}" srcOrd="0" destOrd="1" presId="urn:diagrams.loki3.com/BracketList"/>
    <dgm:cxn modelId="{175A0D4F-E174-43F2-8F85-B67FCA281E1A}" srcId="{CFC255E3-F313-4F68-A8BE-AA9A0E7B2920}" destId="{DFD7F550-E826-4DB8-852E-70462049B908}" srcOrd="0" destOrd="0" parTransId="{F769BD8D-0698-445D-897D-E2A2FA3FF3AC}" sibTransId="{DD95DAB0-10DD-49AD-A13D-0FF303E43A7B}"/>
    <dgm:cxn modelId="{BEBC4F50-0997-43E0-A4F6-3DCF33909B4C}" srcId="{D4570B03-06D1-496E-940D-E834C1A39D15}" destId="{B6EA1160-7F8A-4126-8376-C44E264E6EA1}" srcOrd="2" destOrd="0" parTransId="{C4A29E89-B10D-4EE9-817D-665085164D56}" sibTransId="{78A00466-42E4-4EC0-9E29-CCB271DF42F4}"/>
    <dgm:cxn modelId="{91C5D652-BEDF-41BC-8F3B-05BE92152759}" type="presOf" srcId="{96D22CE3-E99B-43B7-A890-8B3328F8E2E0}" destId="{824F19CC-5252-49CF-BB92-9DDE5C78A83D}" srcOrd="0" destOrd="1" presId="urn:diagrams.loki3.com/BracketList"/>
    <dgm:cxn modelId="{84B90654-B9B2-4F49-B93C-7AB9B1513360}" type="presOf" srcId="{CFC255E3-F313-4F68-A8BE-AA9A0E7B2920}" destId="{1988FC77-CF36-4CB7-8B74-1CB63D2CB4BE}" srcOrd="0" destOrd="0" presId="urn:diagrams.loki3.com/BracketList"/>
    <dgm:cxn modelId="{A9446154-ADD1-42B0-A05A-FEA847BCBE80}" type="presOf" srcId="{DFD7F550-E826-4DB8-852E-70462049B908}" destId="{A5768B98-F77A-4129-ACD5-EDDCB6DCE048}" srcOrd="0" destOrd="0" presId="urn:diagrams.loki3.com/BracketList"/>
    <dgm:cxn modelId="{35C42657-DB4D-4E59-9BB6-9C2A11020C13}" srcId="{B6EA1160-7F8A-4126-8376-C44E264E6EA1}" destId="{016B6379-197D-4014-BBB5-7272361FA5ED}" srcOrd="0" destOrd="0" parTransId="{8D526268-2F08-4285-9EEA-ACD0B693F879}" sibTransId="{791199FC-FDB9-4DE9-A0A6-52879619A3C8}"/>
    <dgm:cxn modelId="{81E2E479-FF41-415B-B38F-7F0297466D91}" type="presOf" srcId="{D4570B03-06D1-496E-940D-E834C1A39D15}" destId="{49162F80-9F02-44A6-B8BB-9C145D32E9A6}" srcOrd="0" destOrd="0" presId="urn:diagrams.loki3.com/BracketList"/>
    <dgm:cxn modelId="{51656E9E-C438-4269-8BAA-86F019163B07}" srcId="{D4570B03-06D1-496E-940D-E834C1A39D15}" destId="{DE0D542D-D583-46F8-AF81-5963C844620D}" srcOrd="0" destOrd="0" parTransId="{C8EF2553-001E-4794-9586-0CDE54007ADD}" sibTransId="{FB29F8EB-EE92-45C5-8BCF-B06C4D9BC7DC}"/>
    <dgm:cxn modelId="{F6B286A8-B838-48A2-8EA3-C6AA8D365595}" srcId="{E5D331DA-30E0-4D9E-AF95-9BED1C00B881}" destId="{F73F6B60-F387-4B00-AF21-983EFA908F3B}" srcOrd="0" destOrd="0" parTransId="{66BC6DEB-3BCA-40D4-BBDB-03469584A26B}" sibTransId="{F9A40652-90E5-4569-99B1-02A0DB0C497F}"/>
    <dgm:cxn modelId="{48925DAF-9D7D-48B1-915F-91E9E63EDFE3}" type="presOf" srcId="{016B6379-197D-4014-BBB5-7272361FA5ED}" destId="{A85E5853-DBE3-4294-93EB-D0C052772C14}" srcOrd="0" destOrd="0" presId="urn:diagrams.loki3.com/BracketList"/>
    <dgm:cxn modelId="{8CD274B0-EC7A-409C-AB2D-56C7534B144B}" type="presOf" srcId="{E5D331DA-30E0-4D9E-AF95-9BED1C00B881}" destId="{51EE0D49-AD04-4513-87AC-4148C700764C}" srcOrd="0" destOrd="0" presId="urn:diagrams.loki3.com/BracketList"/>
    <dgm:cxn modelId="{99E6DEB9-6BD5-4EFC-87D0-EC8AA52BEB00}" srcId="{39F54975-3C18-4047-B841-1E5ED79DA055}" destId="{E382FAAA-4FB2-477A-98B3-A2A120BAC348}" srcOrd="0" destOrd="0" parTransId="{A26A0720-9BE4-44E9-89C9-7F9980634043}" sibTransId="{92B8D365-A3DA-4EE7-BA70-DC7D10A7653D}"/>
    <dgm:cxn modelId="{56A8B0BB-481F-4E64-8165-87BB69F9A22B}" srcId="{D4570B03-06D1-496E-940D-E834C1A39D15}" destId="{67AAB135-0D51-4F78-B9C5-116756FDD4FD}" srcOrd="6" destOrd="0" parTransId="{0764D504-CB07-4071-9A74-C38D1F4EC718}" sibTransId="{AE1B9AE7-854E-4E8A-9B49-3CA8614B49B7}"/>
    <dgm:cxn modelId="{E8C2E0BE-83B9-42FF-9F2F-0017F48DCA71}" srcId="{DE0D542D-D583-46F8-AF81-5963C844620D}" destId="{B410AD1F-A2B3-49B3-8BE2-CA1B2963672B}" srcOrd="1" destOrd="0" parTransId="{703C4DDF-2819-43E6-95F5-DEA0F213ACDA}" sibTransId="{CCBF6D02-9F0B-4236-9549-FD1FC07A5984}"/>
    <dgm:cxn modelId="{06F5ADC8-64CC-416E-A504-58BD95BE6371}" type="presOf" srcId="{D19DA2C2-DBED-4C48-A059-92B1F02E952E}" destId="{2E54DBD1-1915-453C-B205-7D57F6596F56}" srcOrd="0" destOrd="1" presId="urn:diagrams.loki3.com/BracketList"/>
    <dgm:cxn modelId="{CBDABCD5-9B7D-42F1-9295-22DC73E2FDB0}" srcId="{67AAB135-0D51-4F78-B9C5-116756FDD4FD}" destId="{20D280F0-91E7-42CA-9A03-571050C0CB16}" srcOrd="1" destOrd="0" parTransId="{731ED404-621E-4ED2-85AD-DF4BDFC2D3BD}" sibTransId="{C2E8C2C7-E4B0-46E1-AD5C-037C095ABDF0}"/>
    <dgm:cxn modelId="{E5D3C6D9-77FA-4A53-B8D1-9AFC12914D57}" srcId="{D4570B03-06D1-496E-940D-E834C1A39D15}" destId="{E5D331DA-30E0-4D9E-AF95-9BED1C00B881}" srcOrd="3" destOrd="0" parTransId="{0EEC3D0D-1968-4D98-B1E4-5BE2E7C9D046}" sibTransId="{0D12E0D9-447A-4318-A2D1-567184552CEB}"/>
    <dgm:cxn modelId="{A96622E3-BC84-4F67-BC21-F7E183C9238B}" srcId="{CFC255E3-F313-4F68-A8BE-AA9A0E7B2920}" destId="{EF4D839F-1954-4FEA-BC1D-6A6FE5E5C4E4}" srcOrd="1" destOrd="0" parTransId="{ABA9D00D-FA58-4C5C-A960-9BF9EC11A01B}" sibTransId="{BFF19C4C-6C38-488B-B9A1-292A32DD8C60}"/>
    <dgm:cxn modelId="{E4C5A6E7-BD51-49BE-B462-C60D6912FD6F}" type="presOf" srcId="{B6EA1160-7F8A-4126-8376-C44E264E6EA1}" destId="{4D2CC661-966E-4BA4-843D-A1C1153050D7}" srcOrd="0" destOrd="0" presId="urn:diagrams.loki3.com/BracketList"/>
    <dgm:cxn modelId="{AD4ED5EC-FC39-42A5-BC4B-7545101D5B7F}" type="presOf" srcId="{02D6A755-2659-4714-A019-A60BD2DBF44D}" destId="{AC2B96A3-ADBA-40C0-B958-7DDD08E7D4E8}" srcOrd="0" destOrd="0" presId="urn:diagrams.loki3.com/BracketList"/>
    <dgm:cxn modelId="{E148A8F3-3E98-4E38-A6A3-BF7236721D64}" type="presOf" srcId="{EF4D839F-1954-4FEA-BC1D-6A6FE5E5C4E4}" destId="{A5768B98-F77A-4129-ACD5-EDDCB6DCE048}" srcOrd="0" destOrd="1" presId="urn:diagrams.loki3.com/BracketList"/>
    <dgm:cxn modelId="{38475AF4-CAB8-417F-B300-5B7AFA14E6E2}" srcId="{D4570B03-06D1-496E-940D-E834C1A39D15}" destId="{CFC255E3-F313-4F68-A8BE-AA9A0E7B2920}" srcOrd="4" destOrd="0" parTransId="{80D5B58A-7533-437A-907C-7A96D4C934CD}" sibTransId="{AF699248-E40C-4F45-8095-1040C5E7766E}"/>
    <dgm:cxn modelId="{C7CA2681-FAC3-474C-B622-629EB19F99E9}" type="presParOf" srcId="{49162F80-9F02-44A6-B8BB-9C145D32E9A6}" destId="{93D76702-C2A8-4552-960B-C2CCD4981C99}" srcOrd="0" destOrd="0" presId="urn:diagrams.loki3.com/BracketList"/>
    <dgm:cxn modelId="{38CA16D5-C4E9-4454-9705-C78453B60C5A}" type="presParOf" srcId="{93D76702-C2A8-4552-960B-C2CCD4981C99}" destId="{EEF1E03F-C7C5-4626-9C13-2E78DD1D4267}" srcOrd="0" destOrd="0" presId="urn:diagrams.loki3.com/BracketList"/>
    <dgm:cxn modelId="{E10DDCF7-A95D-4D15-B04C-07349A4D6BCA}" type="presParOf" srcId="{93D76702-C2A8-4552-960B-C2CCD4981C99}" destId="{A26B1DE6-CF11-4DDE-B44C-06D2D40056A5}" srcOrd="1" destOrd="0" presId="urn:diagrams.loki3.com/BracketList"/>
    <dgm:cxn modelId="{0622E855-FEE5-42F3-871C-5A71B3CD000D}" type="presParOf" srcId="{93D76702-C2A8-4552-960B-C2CCD4981C99}" destId="{84088476-830B-44FF-9FC8-4FF311557564}" srcOrd="2" destOrd="0" presId="urn:diagrams.loki3.com/BracketList"/>
    <dgm:cxn modelId="{13EFC042-FA28-419B-9229-41FA227E415E}" type="presParOf" srcId="{93D76702-C2A8-4552-960B-C2CCD4981C99}" destId="{16433D64-952C-4A31-983D-1017B3C32C47}" srcOrd="3" destOrd="0" presId="urn:diagrams.loki3.com/BracketList"/>
    <dgm:cxn modelId="{A0D01DE3-83E6-4F00-B4C0-8DE1238F54D2}" type="presParOf" srcId="{49162F80-9F02-44A6-B8BB-9C145D32E9A6}" destId="{0D64A2A7-0C6F-4181-A777-C89732C0E5C5}" srcOrd="1" destOrd="0" presId="urn:diagrams.loki3.com/BracketList"/>
    <dgm:cxn modelId="{3BE838D0-860C-4080-BE1C-CB30AB500675}" type="presParOf" srcId="{49162F80-9F02-44A6-B8BB-9C145D32E9A6}" destId="{19DA4E40-3C89-4875-AC17-D25DBD2ACEB7}" srcOrd="2" destOrd="0" presId="urn:diagrams.loki3.com/BracketList"/>
    <dgm:cxn modelId="{036BF45A-4627-4A66-B6C5-601510B3442D}" type="presParOf" srcId="{19DA4E40-3C89-4875-AC17-D25DBD2ACEB7}" destId="{AC2B96A3-ADBA-40C0-B958-7DDD08E7D4E8}" srcOrd="0" destOrd="0" presId="urn:diagrams.loki3.com/BracketList"/>
    <dgm:cxn modelId="{02768F28-E2A5-453B-AD8A-0E5126C07E86}" type="presParOf" srcId="{19DA4E40-3C89-4875-AC17-D25DBD2ACEB7}" destId="{198F5C82-A1B5-4598-AC6F-A9C0DABD7BDF}" srcOrd="1" destOrd="0" presId="urn:diagrams.loki3.com/BracketList"/>
    <dgm:cxn modelId="{485CCD12-288D-4190-B3ED-3CA05A4823F3}" type="presParOf" srcId="{19DA4E40-3C89-4875-AC17-D25DBD2ACEB7}" destId="{8B63F9A0-3944-4E74-93DB-D303A8D9255B}" srcOrd="2" destOrd="0" presId="urn:diagrams.loki3.com/BracketList"/>
    <dgm:cxn modelId="{18E61AB3-8AAA-4DC5-AAFB-371ED981E2CD}" type="presParOf" srcId="{19DA4E40-3C89-4875-AC17-D25DBD2ACEB7}" destId="{2E54DBD1-1915-453C-B205-7D57F6596F56}" srcOrd="3" destOrd="0" presId="urn:diagrams.loki3.com/BracketList"/>
    <dgm:cxn modelId="{0E5D4118-9D73-4901-91A6-655FA33AE8B9}" type="presParOf" srcId="{49162F80-9F02-44A6-B8BB-9C145D32E9A6}" destId="{B220DA74-EC66-489D-8246-311B923B97F4}" srcOrd="3" destOrd="0" presId="urn:diagrams.loki3.com/BracketList"/>
    <dgm:cxn modelId="{26355425-B656-47B3-BD79-9473BBADA7A3}" type="presParOf" srcId="{49162F80-9F02-44A6-B8BB-9C145D32E9A6}" destId="{07C8456B-70F4-46B2-8434-66CD9C4C8206}" srcOrd="4" destOrd="0" presId="urn:diagrams.loki3.com/BracketList"/>
    <dgm:cxn modelId="{9D8DFE18-29F4-4112-BC09-FE482A19C5BE}" type="presParOf" srcId="{07C8456B-70F4-46B2-8434-66CD9C4C8206}" destId="{4D2CC661-966E-4BA4-843D-A1C1153050D7}" srcOrd="0" destOrd="0" presId="urn:diagrams.loki3.com/BracketList"/>
    <dgm:cxn modelId="{C55C5301-CDAB-40FE-A341-490196920ADB}" type="presParOf" srcId="{07C8456B-70F4-46B2-8434-66CD9C4C8206}" destId="{A0E10437-37D9-40A1-94FC-7CF5534408C5}" srcOrd="1" destOrd="0" presId="urn:diagrams.loki3.com/BracketList"/>
    <dgm:cxn modelId="{37166880-5B6E-40A5-83D3-9B9457DFA9C0}" type="presParOf" srcId="{07C8456B-70F4-46B2-8434-66CD9C4C8206}" destId="{C06C2236-897C-4D2B-8456-36AAFC45E58A}" srcOrd="2" destOrd="0" presId="urn:diagrams.loki3.com/BracketList"/>
    <dgm:cxn modelId="{F1323A13-4D45-4A77-AF03-73BF4BE3AD21}" type="presParOf" srcId="{07C8456B-70F4-46B2-8434-66CD9C4C8206}" destId="{A85E5853-DBE3-4294-93EB-D0C052772C14}" srcOrd="3" destOrd="0" presId="urn:diagrams.loki3.com/BracketList"/>
    <dgm:cxn modelId="{F03D55CF-7FD9-48AA-8247-D9528DCED494}" type="presParOf" srcId="{49162F80-9F02-44A6-B8BB-9C145D32E9A6}" destId="{61C6EDBC-202D-45B6-90DB-576D020436A6}" srcOrd="5" destOrd="0" presId="urn:diagrams.loki3.com/BracketList"/>
    <dgm:cxn modelId="{E3262B73-620C-4EE7-95D1-AB7FAC91F666}" type="presParOf" srcId="{49162F80-9F02-44A6-B8BB-9C145D32E9A6}" destId="{AB1628CB-FBAF-4FEC-83F2-49EEE2D83036}" srcOrd="6" destOrd="0" presId="urn:diagrams.loki3.com/BracketList"/>
    <dgm:cxn modelId="{64653BA4-9E62-45A2-95C7-EE0EB58886FB}" type="presParOf" srcId="{AB1628CB-FBAF-4FEC-83F2-49EEE2D83036}" destId="{51EE0D49-AD04-4513-87AC-4148C700764C}" srcOrd="0" destOrd="0" presId="urn:diagrams.loki3.com/BracketList"/>
    <dgm:cxn modelId="{FC0CD3D0-669A-4BBA-A714-7056E0E6A44A}" type="presParOf" srcId="{AB1628CB-FBAF-4FEC-83F2-49EEE2D83036}" destId="{FBEC08E7-8EA9-4F19-8102-67D71DDC638F}" srcOrd="1" destOrd="0" presId="urn:diagrams.loki3.com/BracketList"/>
    <dgm:cxn modelId="{AA241E8A-9E9A-453F-8ED0-E26DB1EC7D32}" type="presParOf" srcId="{AB1628CB-FBAF-4FEC-83F2-49EEE2D83036}" destId="{7D46405E-DD88-4E9A-80A9-23C375168980}" srcOrd="2" destOrd="0" presId="urn:diagrams.loki3.com/BracketList"/>
    <dgm:cxn modelId="{5BF2CC99-1169-4733-9558-6C5C53B931CE}" type="presParOf" srcId="{AB1628CB-FBAF-4FEC-83F2-49EEE2D83036}" destId="{824F19CC-5252-49CF-BB92-9DDE5C78A83D}" srcOrd="3" destOrd="0" presId="urn:diagrams.loki3.com/BracketList"/>
    <dgm:cxn modelId="{84727C40-5601-4666-A15D-0CE7FF8033C7}" type="presParOf" srcId="{49162F80-9F02-44A6-B8BB-9C145D32E9A6}" destId="{15CBEDD1-6E59-4A21-B65E-A24E06847EC8}" srcOrd="7" destOrd="0" presId="urn:diagrams.loki3.com/BracketList"/>
    <dgm:cxn modelId="{E3C27EBC-53B5-4EC2-AEE3-5A7E0AFAEC71}" type="presParOf" srcId="{49162F80-9F02-44A6-B8BB-9C145D32E9A6}" destId="{53B1EBAB-B262-4365-81D5-47D562D38253}" srcOrd="8" destOrd="0" presId="urn:diagrams.loki3.com/BracketList"/>
    <dgm:cxn modelId="{2B41B403-D68D-4ABD-B447-1210F30D4A33}" type="presParOf" srcId="{53B1EBAB-B262-4365-81D5-47D562D38253}" destId="{1988FC77-CF36-4CB7-8B74-1CB63D2CB4BE}" srcOrd="0" destOrd="0" presId="urn:diagrams.loki3.com/BracketList"/>
    <dgm:cxn modelId="{DC841AC6-0E9E-4A64-BF87-E1357CDC38D5}" type="presParOf" srcId="{53B1EBAB-B262-4365-81D5-47D562D38253}" destId="{0F317D99-FAA7-486C-AD04-E80658653891}" srcOrd="1" destOrd="0" presId="urn:diagrams.loki3.com/BracketList"/>
    <dgm:cxn modelId="{C8567C00-4523-4504-83CA-27064167BF18}" type="presParOf" srcId="{53B1EBAB-B262-4365-81D5-47D562D38253}" destId="{4E0EA082-60FC-4371-9072-8611BCDAC3AC}" srcOrd="2" destOrd="0" presId="urn:diagrams.loki3.com/BracketList"/>
    <dgm:cxn modelId="{13F53899-4468-40E6-A5B4-3C5878C83514}" type="presParOf" srcId="{53B1EBAB-B262-4365-81D5-47D562D38253}" destId="{A5768B98-F77A-4129-ACD5-EDDCB6DCE048}" srcOrd="3" destOrd="0" presId="urn:diagrams.loki3.com/BracketList"/>
    <dgm:cxn modelId="{C9C38E14-D668-4249-AF24-03AA179EA89A}" type="presParOf" srcId="{49162F80-9F02-44A6-B8BB-9C145D32E9A6}" destId="{CEB34B8F-A441-4D1F-AC27-A153B51A9AFE}" srcOrd="9" destOrd="0" presId="urn:diagrams.loki3.com/BracketList"/>
    <dgm:cxn modelId="{AE8288C4-01AB-42AD-8490-B3C33DF3AF51}" type="presParOf" srcId="{49162F80-9F02-44A6-B8BB-9C145D32E9A6}" destId="{B63F1452-A433-4A82-86A6-A31C99BB4ABB}" srcOrd="10" destOrd="0" presId="urn:diagrams.loki3.com/BracketList"/>
    <dgm:cxn modelId="{76510AF7-5456-48FC-9493-1ADA1781FF2D}" type="presParOf" srcId="{B63F1452-A433-4A82-86A6-A31C99BB4ABB}" destId="{D1E7592D-5481-4E23-BBA9-37FC11FDB1FC}" srcOrd="0" destOrd="0" presId="urn:diagrams.loki3.com/BracketList"/>
    <dgm:cxn modelId="{0B6F8FD6-801C-46AD-A79A-FE714BCFC8D7}" type="presParOf" srcId="{B63F1452-A433-4A82-86A6-A31C99BB4ABB}" destId="{7463CE50-C0A3-481C-A7EE-61A136CA5614}" srcOrd="1" destOrd="0" presId="urn:diagrams.loki3.com/BracketList"/>
    <dgm:cxn modelId="{C0E521AB-79C3-4C3E-A228-CF7674ECE6AD}" type="presParOf" srcId="{B63F1452-A433-4A82-86A6-A31C99BB4ABB}" destId="{FC4F3020-1D98-4C4D-A2E9-8733211A8AA4}" srcOrd="2" destOrd="0" presId="urn:diagrams.loki3.com/BracketList"/>
    <dgm:cxn modelId="{FDFF470D-B2E3-494C-B226-48950A691053}" type="presParOf" srcId="{B63F1452-A433-4A82-86A6-A31C99BB4ABB}" destId="{68C4F1F0-2F56-483B-8104-BEA79A7538A1}" srcOrd="3" destOrd="0" presId="urn:diagrams.loki3.com/BracketList"/>
    <dgm:cxn modelId="{0B5C7C84-7615-4E71-B67A-2F58EFEDE1BF}" type="presParOf" srcId="{49162F80-9F02-44A6-B8BB-9C145D32E9A6}" destId="{A1073545-5D48-4C69-8C57-292BC6B3C4B1}" srcOrd="11" destOrd="0" presId="urn:diagrams.loki3.com/BracketList"/>
    <dgm:cxn modelId="{F0D1CBBE-710C-4F5F-A96C-5CEE734C40C7}" type="presParOf" srcId="{49162F80-9F02-44A6-B8BB-9C145D32E9A6}" destId="{B2891C81-7B23-4425-8547-60BFE480CB4F}" srcOrd="12" destOrd="0" presId="urn:diagrams.loki3.com/BracketList"/>
    <dgm:cxn modelId="{1BAC502C-45D3-4923-BAA4-312044D830EF}" type="presParOf" srcId="{B2891C81-7B23-4425-8547-60BFE480CB4F}" destId="{E4B80767-5737-4482-A6AF-D1C6CDF122DC}" srcOrd="0" destOrd="0" presId="urn:diagrams.loki3.com/BracketList"/>
    <dgm:cxn modelId="{941D1F8B-BFA6-4F5E-947C-B04B49FE0ACD}" type="presParOf" srcId="{B2891C81-7B23-4425-8547-60BFE480CB4F}" destId="{D95A6C44-A417-4C00-9432-D1FAC161DC5F}" srcOrd="1" destOrd="0" presId="urn:diagrams.loki3.com/BracketList"/>
    <dgm:cxn modelId="{96085F76-D6CF-4B8F-954B-151A4562536A}" type="presParOf" srcId="{B2891C81-7B23-4425-8547-60BFE480CB4F}" destId="{B7B9C01C-FDAE-4A74-ABD3-EC7CD2A4D2D5}" srcOrd="2" destOrd="0" presId="urn:diagrams.loki3.com/BracketList"/>
    <dgm:cxn modelId="{11BCEB7C-D48B-47B0-843A-496A2562263F}" type="presParOf" srcId="{B2891C81-7B23-4425-8547-60BFE480CB4F}" destId="{051F707C-CB75-4D21-8C13-082BD2FF2D14}" srcOrd="3" destOrd="0" presId="urn:diagrams.loki3.com/Bracket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94F4DF53-25FF-454C-9942-5E1B04D1201F}" type="doc">
      <dgm:prSet loTypeId="urn:microsoft.com/office/officeart/2008/layout/VerticalCurvedList" loCatId="list" qsTypeId="urn:microsoft.com/office/officeart/2005/8/quickstyle/simple5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16F1512C-36DE-4EB2-83E2-C9C317C33CB2}">
      <dgm:prSet phldrT="[Text]"/>
      <dgm:spPr/>
      <dgm:t>
        <a:bodyPr/>
        <a:lstStyle/>
        <a:p>
          <a:r>
            <a:rPr lang="en-US" b="1" dirty="0"/>
            <a:t>Reduce Manual Specification Search</a:t>
          </a:r>
          <a:endParaRPr lang="en-US" dirty="0"/>
        </a:p>
      </dgm:t>
    </dgm:pt>
    <dgm:pt modelId="{67B97BF2-5446-4E1D-9C07-04EC3ABCCECF}" type="parTrans" cxnId="{0EF3CF35-4B7E-46DF-AF16-12B05FD86CE7}">
      <dgm:prSet/>
      <dgm:spPr/>
      <dgm:t>
        <a:bodyPr/>
        <a:lstStyle/>
        <a:p>
          <a:endParaRPr lang="en-US"/>
        </a:p>
      </dgm:t>
    </dgm:pt>
    <dgm:pt modelId="{AAFFD448-153D-448D-8596-EF57C947B64A}" type="sibTrans" cxnId="{0EF3CF35-4B7E-46DF-AF16-12B05FD86CE7}">
      <dgm:prSet/>
      <dgm:spPr/>
      <dgm:t>
        <a:bodyPr/>
        <a:lstStyle/>
        <a:p>
          <a:endParaRPr lang="en-US"/>
        </a:p>
      </dgm:t>
    </dgm:pt>
    <dgm:pt modelId="{B3C686C6-0011-47D2-BEAA-C3D2F7991C03}">
      <dgm:prSet phldrT="[Text]"/>
      <dgm:spPr/>
      <dgm:t>
        <a:bodyPr/>
        <a:lstStyle/>
        <a:p>
          <a:r>
            <a:rPr lang="en-US" b="1" dirty="0"/>
            <a:t>Accelerate Engineering Decision-Making</a:t>
          </a:r>
          <a:endParaRPr lang="en-US" dirty="0"/>
        </a:p>
      </dgm:t>
    </dgm:pt>
    <dgm:pt modelId="{63E9AB13-BBF0-4C8D-BE75-C16893ABF49E}" type="parTrans" cxnId="{2CE41FAA-C126-4C12-ACAE-DDAF7213589C}">
      <dgm:prSet/>
      <dgm:spPr/>
      <dgm:t>
        <a:bodyPr/>
        <a:lstStyle/>
        <a:p>
          <a:endParaRPr lang="en-US"/>
        </a:p>
      </dgm:t>
    </dgm:pt>
    <dgm:pt modelId="{55499C66-5AE0-4025-929C-3D0AA25A74B4}" type="sibTrans" cxnId="{2CE41FAA-C126-4C12-ACAE-DDAF7213589C}">
      <dgm:prSet/>
      <dgm:spPr/>
      <dgm:t>
        <a:bodyPr/>
        <a:lstStyle/>
        <a:p>
          <a:endParaRPr lang="en-US"/>
        </a:p>
      </dgm:t>
    </dgm:pt>
    <dgm:pt modelId="{EC814C30-DCF8-4487-901B-69A9BDBEA86D}">
      <dgm:prSet phldrT="[Text]"/>
      <dgm:spPr/>
      <dgm:t>
        <a:bodyPr/>
        <a:lstStyle/>
        <a:p>
          <a:r>
            <a:rPr lang="en-US" b="1" dirty="0"/>
            <a:t>Reduce Risk of AI Hallucination</a:t>
          </a:r>
          <a:endParaRPr lang="en-US" dirty="0"/>
        </a:p>
      </dgm:t>
    </dgm:pt>
    <dgm:pt modelId="{E2975B38-326B-4945-A28C-73A6DEFD7BFB}" type="parTrans" cxnId="{8F1C0709-BBF5-4764-9B45-B04E34D8A1ED}">
      <dgm:prSet/>
      <dgm:spPr/>
      <dgm:t>
        <a:bodyPr/>
        <a:lstStyle/>
        <a:p>
          <a:endParaRPr lang="en-US"/>
        </a:p>
      </dgm:t>
    </dgm:pt>
    <dgm:pt modelId="{74DC6479-E69C-460E-9BAF-E5A327730A12}" type="sibTrans" cxnId="{8F1C0709-BBF5-4764-9B45-B04E34D8A1ED}">
      <dgm:prSet/>
      <dgm:spPr/>
      <dgm:t>
        <a:bodyPr/>
        <a:lstStyle/>
        <a:p>
          <a:endParaRPr lang="en-US"/>
        </a:p>
      </dgm:t>
    </dgm:pt>
    <dgm:pt modelId="{902C23CE-B9DA-4135-A67A-890F22B54EE9}">
      <dgm:prSet phldrT="[Text]"/>
      <dgm:spPr/>
      <dgm:t>
        <a:bodyPr/>
        <a:lstStyle/>
        <a:p>
          <a:r>
            <a:rPr lang="en-US" b="1" dirty="0"/>
            <a:t>Ensure Accurate &amp; Traceable Answers</a:t>
          </a:r>
          <a:endParaRPr lang="en-US" dirty="0"/>
        </a:p>
      </dgm:t>
    </dgm:pt>
    <dgm:pt modelId="{A34B2880-3286-46F9-A037-090254B58252}" type="parTrans" cxnId="{A70355B5-ED0A-483A-9544-0BE959253F96}">
      <dgm:prSet/>
      <dgm:spPr/>
      <dgm:t>
        <a:bodyPr/>
        <a:lstStyle/>
        <a:p>
          <a:endParaRPr lang="en-US"/>
        </a:p>
      </dgm:t>
    </dgm:pt>
    <dgm:pt modelId="{B919B6FD-51D9-47CE-B947-AA347F400D95}" type="sibTrans" cxnId="{A70355B5-ED0A-483A-9544-0BE959253F96}">
      <dgm:prSet/>
      <dgm:spPr/>
      <dgm:t>
        <a:bodyPr/>
        <a:lstStyle/>
        <a:p>
          <a:endParaRPr lang="en-US"/>
        </a:p>
      </dgm:t>
    </dgm:pt>
    <dgm:pt modelId="{42415DEF-5B9C-4827-BBE3-7DB741280272}">
      <dgm:prSet phldrT="[Text]"/>
      <dgm:spPr/>
      <dgm:t>
        <a:bodyPr/>
        <a:lstStyle/>
        <a:p>
          <a:r>
            <a:rPr lang="en-US" b="1" dirty="0"/>
            <a:t>Fully local LLM Assistant</a:t>
          </a:r>
          <a:endParaRPr lang="en-US" dirty="0"/>
        </a:p>
      </dgm:t>
    </dgm:pt>
    <dgm:pt modelId="{7A8B2A1E-08A6-40D0-8E02-774B94B9A310}" type="parTrans" cxnId="{5BC36AEB-CB38-4C0B-BF87-6EB04A3D1A0B}">
      <dgm:prSet/>
      <dgm:spPr/>
      <dgm:t>
        <a:bodyPr/>
        <a:lstStyle/>
        <a:p>
          <a:endParaRPr lang="en-US"/>
        </a:p>
      </dgm:t>
    </dgm:pt>
    <dgm:pt modelId="{71ADB649-F768-4C9B-946A-CBD289261D6C}" type="sibTrans" cxnId="{5BC36AEB-CB38-4C0B-BF87-6EB04A3D1A0B}">
      <dgm:prSet/>
      <dgm:spPr/>
      <dgm:t>
        <a:bodyPr/>
        <a:lstStyle/>
        <a:p>
          <a:endParaRPr lang="en-US"/>
        </a:p>
      </dgm:t>
    </dgm:pt>
    <dgm:pt modelId="{A1DE103F-597B-47A3-8FF7-8F744A92C1F6}" type="pres">
      <dgm:prSet presAssocID="{94F4DF53-25FF-454C-9942-5E1B04D1201F}" presName="Name0" presStyleCnt="0">
        <dgm:presLayoutVars>
          <dgm:chMax val="7"/>
          <dgm:chPref val="7"/>
          <dgm:dir/>
        </dgm:presLayoutVars>
      </dgm:prSet>
      <dgm:spPr/>
    </dgm:pt>
    <dgm:pt modelId="{58E6185E-5142-4F18-8924-380B672D9E43}" type="pres">
      <dgm:prSet presAssocID="{94F4DF53-25FF-454C-9942-5E1B04D1201F}" presName="Name1" presStyleCnt="0"/>
      <dgm:spPr/>
    </dgm:pt>
    <dgm:pt modelId="{A4A6B6CE-0F99-498B-BACD-62BE11CC06D1}" type="pres">
      <dgm:prSet presAssocID="{94F4DF53-25FF-454C-9942-5E1B04D1201F}" presName="cycle" presStyleCnt="0"/>
      <dgm:spPr/>
    </dgm:pt>
    <dgm:pt modelId="{88D9CFA6-0DAF-4850-89E6-975D69B2B682}" type="pres">
      <dgm:prSet presAssocID="{94F4DF53-25FF-454C-9942-5E1B04D1201F}" presName="srcNode" presStyleLbl="node1" presStyleIdx="0" presStyleCnt="5"/>
      <dgm:spPr/>
    </dgm:pt>
    <dgm:pt modelId="{B56D14D6-3CD0-4865-B385-11B962D7A7A5}" type="pres">
      <dgm:prSet presAssocID="{94F4DF53-25FF-454C-9942-5E1B04D1201F}" presName="conn" presStyleLbl="parChTrans1D2" presStyleIdx="0" presStyleCnt="1"/>
      <dgm:spPr/>
    </dgm:pt>
    <dgm:pt modelId="{5EBA1596-09C5-466E-8CD0-A1F26FB67789}" type="pres">
      <dgm:prSet presAssocID="{94F4DF53-25FF-454C-9942-5E1B04D1201F}" presName="extraNode" presStyleLbl="node1" presStyleIdx="0" presStyleCnt="5"/>
      <dgm:spPr/>
    </dgm:pt>
    <dgm:pt modelId="{69E5CB34-18DD-4005-AD33-5F4BD6F0DCAB}" type="pres">
      <dgm:prSet presAssocID="{94F4DF53-25FF-454C-9942-5E1B04D1201F}" presName="dstNode" presStyleLbl="node1" presStyleIdx="0" presStyleCnt="5"/>
      <dgm:spPr/>
    </dgm:pt>
    <dgm:pt modelId="{23102864-F17C-4A78-BB5E-52FA32DEB2F6}" type="pres">
      <dgm:prSet presAssocID="{16F1512C-36DE-4EB2-83E2-C9C317C33CB2}" presName="text_1" presStyleLbl="node1" presStyleIdx="0" presStyleCnt="5">
        <dgm:presLayoutVars>
          <dgm:bulletEnabled val="1"/>
        </dgm:presLayoutVars>
      </dgm:prSet>
      <dgm:spPr/>
    </dgm:pt>
    <dgm:pt modelId="{6C4B9D21-0CE3-402E-AA54-E70AE14F414C}" type="pres">
      <dgm:prSet presAssocID="{16F1512C-36DE-4EB2-83E2-C9C317C33CB2}" presName="accent_1" presStyleCnt="0"/>
      <dgm:spPr/>
    </dgm:pt>
    <dgm:pt modelId="{5A0AA265-1A41-42B0-A463-A80B0B36BA87}" type="pres">
      <dgm:prSet presAssocID="{16F1512C-36DE-4EB2-83E2-C9C317C33CB2}" presName="accentRepeatNode" presStyleLbl="solidFgAcc1" presStyleIdx="0" presStyleCnt="5"/>
      <dgm:spPr/>
    </dgm:pt>
    <dgm:pt modelId="{661A612B-48A1-4CB4-B023-5F3822CDC865}" type="pres">
      <dgm:prSet presAssocID="{B3C686C6-0011-47D2-BEAA-C3D2F7991C03}" presName="text_2" presStyleLbl="node1" presStyleIdx="1" presStyleCnt="5">
        <dgm:presLayoutVars>
          <dgm:bulletEnabled val="1"/>
        </dgm:presLayoutVars>
      </dgm:prSet>
      <dgm:spPr/>
    </dgm:pt>
    <dgm:pt modelId="{9BFE60A8-C16E-465D-AA8D-309D2D0EE54C}" type="pres">
      <dgm:prSet presAssocID="{B3C686C6-0011-47D2-BEAA-C3D2F7991C03}" presName="accent_2" presStyleCnt="0"/>
      <dgm:spPr/>
    </dgm:pt>
    <dgm:pt modelId="{5FE63B5A-7349-4B6A-A8E1-6736DB4F56C3}" type="pres">
      <dgm:prSet presAssocID="{B3C686C6-0011-47D2-BEAA-C3D2F7991C03}" presName="accentRepeatNode" presStyleLbl="solidFgAcc1" presStyleIdx="1" presStyleCnt="5"/>
      <dgm:spPr/>
    </dgm:pt>
    <dgm:pt modelId="{2E6FB2E9-F038-42B2-B098-4A484B72D349}" type="pres">
      <dgm:prSet presAssocID="{EC814C30-DCF8-4487-901B-69A9BDBEA86D}" presName="text_3" presStyleLbl="node1" presStyleIdx="2" presStyleCnt="5">
        <dgm:presLayoutVars>
          <dgm:bulletEnabled val="1"/>
        </dgm:presLayoutVars>
      </dgm:prSet>
      <dgm:spPr/>
    </dgm:pt>
    <dgm:pt modelId="{F3E6A51B-C6DF-4259-A25C-85B2B595B3CB}" type="pres">
      <dgm:prSet presAssocID="{EC814C30-DCF8-4487-901B-69A9BDBEA86D}" presName="accent_3" presStyleCnt="0"/>
      <dgm:spPr/>
    </dgm:pt>
    <dgm:pt modelId="{8A16A67F-7BB6-4F73-8161-BF1C87B9C54B}" type="pres">
      <dgm:prSet presAssocID="{EC814C30-DCF8-4487-901B-69A9BDBEA86D}" presName="accentRepeatNode" presStyleLbl="solidFgAcc1" presStyleIdx="2" presStyleCnt="5"/>
      <dgm:spPr/>
    </dgm:pt>
    <dgm:pt modelId="{B8BA84E8-6AD1-43E8-89AF-B86421E1D901}" type="pres">
      <dgm:prSet presAssocID="{902C23CE-B9DA-4135-A67A-890F22B54EE9}" presName="text_4" presStyleLbl="node1" presStyleIdx="3" presStyleCnt="5">
        <dgm:presLayoutVars>
          <dgm:bulletEnabled val="1"/>
        </dgm:presLayoutVars>
      </dgm:prSet>
      <dgm:spPr/>
    </dgm:pt>
    <dgm:pt modelId="{9CCA47BC-704B-488F-AA7B-063D53F529B5}" type="pres">
      <dgm:prSet presAssocID="{902C23CE-B9DA-4135-A67A-890F22B54EE9}" presName="accent_4" presStyleCnt="0"/>
      <dgm:spPr/>
    </dgm:pt>
    <dgm:pt modelId="{9B1F72C3-1841-4EDD-A13B-56727E7B895B}" type="pres">
      <dgm:prSet presAssocID="{902C23CE-B9DA-4135-A67A-890F22B54EE9}" presName="accentRepeatNode" presStyleLbl="solidFgAcc1" presStyleIdx="3" presStyleCnt="5"/>
      <dgm:spPr/>
    </dgm:pt>
    <dgm:pt modelId="{9882DC6A-7DF9-4FCB-977D-75C284B6928A}" type="pres">
      <dgm:prSet presAssocID="{42415DEF-5B9C-4827-BBE3-7DB741280272}" presName="text_5" presStyleLbl="node1" presStyleIdx="4" presStyleCnt="5">
        <dgm:presLayoutVars>
          <dgm:bulletEnabled val="1"/>
        </dgm:presLayoutVars>
      </dgm:prSet>
      <dgm:spPr/>
    </dgm:pt>
    <dgm:pt modelId="{CF3A6F99-3A64-4F47-85E9-4FABB835A844}" type="pres">
      <dgm:prSet presAssocID="{42415DEF-5B9C-4827-BBE3-7DB741280272}" presName="accent_5" presStyleCnt="0"/>
      <dgm:spPr/>
    </dgm:pt>
    <dgm:pt modelId="{8D046A10-912A-48BC-956D-0BE5849588EA}" type="pres">
      <dgm:prSet presAssocID="{42415DEF-5B9C-4827-BBE3-7DB741280272}" presName="accentRepeatNode" presStyleLbl="solidFgAcc1" presStyleIdx="4" presStyleCnt="5"/>
      <dgm:spPr/>
    </dgm:pt>
  </dgm:ptLst>
  <dgm:cxnLst>
    <dgm:cxn modelId="{8F1C0709-BBF5-4764-9B45-B04E34D8A1ED}" srcId="{94F4DF53-25FF-454C-9942-5E1B04D1201F}" destId="{EC814C30-DCF8-4487-901B-69A9BDBEA86D}" srcOrd="2" destOrd="0" parTransId="{E2975B38-326B-4945-A28C-73A6DEFD7BFB}" sibTransId="{74DC6479-E69C-460E-9BAF-E5A327730A12}"/>
    <dgm:cxn modelId="{F15BF91C-F4B1-4D4A-BFB0-F46F0EF460B0}" type="presOf" srcId="{94F4DF53-25FF-454C-9942-5E1B04D1201F}" destId="{A1DE103F-597B-47A3-8FF7-8F744A92C1F6}" srcOrd="0" destOrd="0" presId="urn:microsoft.com/office/officeart/2008/layout/VerticalCurvedList"/>
    <dgm:cxn modelId="{F0CC312E-B906-403A-A93D-9BC4AF3D92E4}" type="presOf" srcId="{B3C686C6-0011-47D2-BEAA-C3D2F7991C03}" destId="{661A612B-48A1-4CB4-B023-5F3822CDC865}" srcOrd="0" destOrd="0" presId="urn:microsoft.com/office/officeart/2008/layout/VerticalCurvedList"/>
    <dgm:cxn modelId="{0EF3CF35-4B7E-46DF-AF16-12B05FD86CE7}" srcId="{94F4DF53-25FF-454C-9942-5E1B04D1201F}" destId="{16F1512C-36DE-4EB2-83E2-C9C317C33CB2}" srcOrd="0" destOrd="0" parTransId="{67B97BF2-5446-4E1D-9C07-04EC3ABCCECF}" sibTransId="{AAFFD448-153D-448D-8596-EF57C947B64A}"/>
    <dgm:cxn modelId="{894C789A-F517-4F56-9424-0AD519D7E722}" type="presOf" srcId="{42415DEF-5B9C-4827-BBE3-7DB741280272}" destId="{9882DC6A-7DF9-4FCB-977D-75C284B6928A}" srcOrd="0" destOrd="0" presId="urn:microsoft.com/office/officeart/2008/layout/VerticalCurvedList"/>
    <dgm:cxn modelId="{2CE41FAA-C126-4C12-ACAE-DDAF7213589C}" srcId="{94F4DF53-25FF-454C-9942-5E1B04D1201F}" destId="{B3C686C6-0011-47D2-BEAA-C3D2F7991C03}" srcOrd="1" destOrd="0" parTransId="{63E9AB13-BBF0-4C8D-BE75-C16893ABF49E}" sibTransId="{55499C66-5AE0-4025-929C-3D0AA25A74B4}"/>
    <dgm:cxn modelId="{A70355B5-ED0A-483A-9544-0BE959253F96}" srcId="{94F4DF53-25FF-454C-9942-5E1B04D1201F}" destId="{902C23CE-B9DA-4135-A67A-890F22B54EE9}" srcOrd="3" destOrd="0" parTransId="{A34B2880-3286-46F9-A037-090254B58252}" sibTransId="{B919B6FD-51D9-47CE-B947-AA347F400D95}"/>
    <dgm:cxn modelId="{2D45FEBE-2BB4-44F7-A2A0-50E790D46F9F}" type="presOf" srcId="{902C23CE-B9DA-4135-A67A-890F22B54EE9}" destId="{B8BA84E8-6AD1-43E8-89AF-B86421E1D901}" srcOrd="0" destOrd="0" presId="urn:microsoft.com/office/officeart/2008/layout/VerticalCurvedList"/>
    <dgm:cxn modelId="{775B4AE3-EE29-4693-95F0-75CD78BB5E0E}" type="presOf" srcId="{EC814C30-DCF8-4487-901B-69A9BDBEA86D}" destId="{2E6FB2E9-F038-42B2-B098-4A484B72D349}" srcOrd="0" destOrd="0" presId="urn:microsoft.com/office/officeart/2008/layout/VerticalCurvedList"/>
    <dgm:cxn modelId="{5BC36AEB-CB38-4C0B-BF87-6EB04A3D1A0B}" srcId="{94F4DF53-25FF-454C-9942-5E1B04D1201F}" destId="{42415DEF-5B9C-4827-BBE3-7DB741280272}" srcOrd="4" destOrd="0" parTransId="{7A8B2A1E-08A6-40D0-8E02-774B94B9A310}" sibTransId="{71ADB649-F768-4C9B-946A-CBD289261D6C}"/>
    <dgm:cxn modelId="{4F137EF5-8600-421F-A9E7-A4198CBA092C}" type="presOf" srcId="{AAFFD448-153D-448D-8596-EF57C947B64A}" destId="{B56D14D6-3CD0-4865-B385-11B962D7A7A5}" srcOrd="0" destOrd="0" presId="urn:microsoft.com/office/officeart/2008/layout/VerticalCurvedList"/>
    <dgm:cxn modelId="{F4DCC8F9-682F-4DD1-A9CA-0440A7DF3EAD}" type="presOf" srcId="{16F1512C-36DE-4EB2-83E2-C9C317C33CB2}" destId="{23102864-F17C-4A78-BB5E-52FA32DEB2F6}" srcOrd="0" destOrd="0" presId="urn:microsoft.com/office/officeart/2008/layout/VerticalCurvedList"/>
    <dgm:cxn modelId="{6607B9DC-D292-4A78-AE97-5F2786E91423}" type="presParOf" srcId="{A1DE103F-597B-47A3-8FF7-8F744A92C1F6}" destId="{58E6185E-5142-4F18-8924-380B672D9E43}" srcOrd="0" destOrd="0" presId="urn:microsoft.com/office/officeart/2008/layout/VerticalCurvedList"/>
    <dgm:cxn modelId="{CC6E9527-5666-4990-B49E-BDB0F333A72C}" type="presParOf" srcId="{58E6185E-5142-4F18-8924-380B672D9E43}" destId="{A4A6B6CE-0F99-498B-BACD-62BE11CC06D1}" srcOrd="0" destOrd="0" presId="urn:microsoft.com/office/officeart/2008/layout/VerticalCurvedList"/>
    <dgm:cxn modelId="{F5482DE1-C93C-439C-B472-1921EE626899}" type="presParOf" srcId="{A4A6B6CE-0F99-498B-BACD-62BE11CC06D1}" destId="{88D9CFA6-0DAF-4850-89E6-975D69B2B682}" srcOrd="0" destOrd="0" presId="urn:microsoft.com/office/officeart/2008/layout/VerticalCurvedList"/>
    <dgm:cxn modelId="{A9E052C5-6716-4011-A790-150D18321294}" type="presParOf" srcId="{A4A6B6CE-0F99-498B-BACD-62BE11CC06D1}" destId="{B56D14D6-3CD0-4865-B385-11B962D7A7A5}" srcOrd="1" destOrd="0" presId="urn:microsoft.com/office/officeart/2008/layout/VerticalCurvedList"/>
    <dgm:cxn modelId="{27468359-FD54-40BF-8F49-918160CA9502}" type="presParOf" srcId="{A4A6B6CE-0F99-498B-BACD-62BE11CC06D1}" destId="{5EBA1596-09C5-466E-8CD0-A1F26FB67789}" srcOrd="2" destOrd="0" presId="urn:microsoft.com/office/officeart/2008/layout/VerticalCurvedList"/>
    <dgm:cxn modelId="{6319432A-3E49-4415-8A3A-0A44E02F88BE}" type="presParOf" srcId="{A4A6B6CE-0F99-498B-BACD-62BE11CC06D1}" destId="{69E5CB34-18DD-4005-AD33-5F4BD6F0DCAB}" srcOrd="3" destOrd="0" presId="urn:microsoft.com/office/officeart/2008/layout/VerticalCurvedList"/>
    <dgm:cxn modelId="{DB4CD09C-A969-495D-AC08-D11F841A7605}" type="presParOf" srcId="{58E6185E-5142-4F18-8924-380B672D9E43}" destId="{23102864-F17C-4A78-BB5E-52FA32DEB2F6}" srcOrd="1" destOrd="0" presId="urn:microsoft.com/office/officeart/2008/layout/VerticalCurvedList"/>
    <dgm:cxn modelId="{DD3A7230-E577-490B-8312-82E40DC7AEC0}" type="presParOf" srcId="{58E6185E-5142-4F18-8924-380B672D9E43}" destId="{6C4B9D21-0CE3-402E-AA54-E70AE14F414C}" srcOrd="2" destOrd="0" presId="urn:microsoft.com/office/officeart/2008/layout/VerticalCurvedList"/>
    <dgm:cxn modelId="{6F2F6A10-5B35-471D-90DE-913D69459DB8}" type="presParOf" srcId="{6C4B9D21-0CE3-402E-AA54-E70AE14F414C}" destId="{5A0AA265-1A41-42B0-A463-A80B0B36BA87}" srcOrd="0" destOrd="0" presId="urn:microsoft.com/office/officeart/2008/layout/VerticalCurvedList"/>
    <dgm:cxn modelId="{818B61DF-41C9-419F-B9D6-E7527117BFD3}" type="presParOf" srcId="{58E6185E-5142-4F18-8924-380B672D9E43}" destId="{661A612B-48A1-4CB4-B023-5F3822CDC865}" srcOrd="3" destOrd="0" presId="urn:microsoft.com/office/officeart/2008/layout/VerticalCurvedList"/>
    <dgm:cxn modelId="{260F4C73-7B51-4860-A9C1-A0D3FB386FBC}" type="presParOf" srcId="{58E6185E-5142-4F18-8924-380B672D9E43}" destId="{9BFE60A8-C16E-465D-AA8D-309D2D0EE54C}" srcOrd="4" destOrd="0" presId="urn:microsoft.com/office/officeart/2008/layout/VerticalCurvedList"/>
    <dgm:cxn modelId="{302F8371-A048-4470-BBE3-874CC11404A7}" type="presParOf" srcId="{9BFE60A8-C16E-465D-AA8D-309D2D0EE54C}" destId="{5FE63B5A-7349-4B6A-A8E1-6736DB4F56C3}" srcOrd="0" destOrd="0" presId="urn:microsoft.com/office/officeart/2008/layout/VerticalCurvedList"/>
    <dgm:cxn modelId="{8A303F52-5D8A-4584-A51B-F5B2E2DBBE09}" type="presParOf" srcId="{58E6185E-5142-4F18-8924-380B672D9E43}" destId="{2E6FB2E9-F038-42B2-B098-4A484B72D349}" srcOrd="5" destOrd="0" presId="urn:microsoft.com/office/officeart/2008/layout/VerticalCurvedList"/>
    <dgm:cxn modelId="{3BEC7921-B0A3-4E85-8825-5507417B985A}" type="presParOf" srcId="{58E6185E-5142-4F18-8924-380B672D9E43}" destId="{F3E6A51B-C6DF-4259-A25C-85B2B595B3CB}" srcOrd="6" destOrd="0" presId="urn:microsoft.com/office/officeart/2008/layout/VerticalCurvedList"/>
    <dgm:cxn modelId="{3C08DC39-8C07-4AF4-A20C-9B3068492BC8}" type="presParOf" srcId="{F3E6A51B-C6DF-4259-A25C-85B2B595B3CB}" destId="{8A16A67F-7BB6-4F73-8161-BF1C87B9C54B}" srcOrd="0" destOrd="0" presId="urn:microsoft.com/office/officeart/2008/layout/VerticalCurvedList"/>
    <dgm:cxn modelId="{5C6AFB58-A343-4BF9-974F-D3FCD41AF773}" type="presParOf" srcId="{58E6185E-5142-4F18-8924-380B672D9E43}" destId="{B8BA84E8-6AD1-43E8-89AF-B86421E1D901}" srcOrd="7" destOrd="0" presId="urn:microsoft.com/office/officeart/2008/layout/VerticalCurvedList"/>
    <dgm:cxn modelId="{DB7AC0D1-8CB2-44DC-892D-10AA1EC3526F}" type="presParOf" srcId="{58E6185E-5142-4F18-8924-380B672D9E43}" destId="{9CCA47BC-704B-488F-AA7B-063D53F529B5}" srcOrd="8" destOrd="0" presId="urn:microsoft.com/office/officeart/2008/layout/VerticalCurvedList"/>
    <dgm:cxn modelId="{49CCCE94-511C-413D-9942-414AA93649A5}" type="presParOf" srcId="{9CCA47BC-704B-488F-AA7B-063D53F529B5}" destId="{9B1F72C3-1841-4EDD-A13B-56727E7B895B}" srcOrd="0" destOrd="0" presId="urn:microsoft.com/office/officeart/2008/layout/VerticalCurvedList"/>
    <dgm:cxn modelId="{21C30BC8-EAD9-4EE2-AF3A-43C58E7B53D4}" type="presParOf" srcId="{58E6185E-5142-4F18-8924-380B672D9E43}" destId="{9882DC6A-7DF9-4FCB-977D-75C284B6928A}" srcOrd="9" destOrd="0" presId="urn:microsoft.com/office/officeart/2008/layout/VerticalCurvedList"/>
    <dgm:cxn modelId="{8D20B41D-832A-40F6-BBE2-108585DFE61A}" type="presParOf" srcId="{58E6185E-5142-4F18-8924-380B672D9E43}" destId="{CF3A6F99-3A64-4F47-85E9-4FABB835A844}" srcOrd="10" destOrd="0" presId="urn:microsoft.com/office/officeart/2008/layout/VerticalCurvedList"/>
    <dgm:cxn modelId="{C2C47064-CFB8-4185-B731-8EF6649C1F7E}" type="presParOf" srcId="{CF3A6F99-3A64-4F47-85E9-4FABB835A844}" destId="{8D046A10-912A-48BC-956D-0BE5849588EA}" srcOrd="0" destOrd="0" presId="urn:microsoft.com/office/officeart/2008/layout/VerticalCurv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EF1E03F-C7C5-4626-9C13-2E78DD1D4267}">
      <dsp:nvSpPr>
        <dsp:cNvPr id="0" name=""/>
        <dsp:cNvSpPr/>
      </dsp:nvSpPr>
      <dsp:spPr>
        <a:xfrm>
          <a:off x="0" y="209985"/>
          <a:ext cx="1415513" cy="198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9784" tIns="17780" rIns="49784" bIns="17780" numCol="1" spcCol="1270" anchor="ctr" anchorCtr="0">
          <a:noAutofit/>
        </a:bodyPr>
        <a:lstStyle/>
        <a:p>
          <a:pPr marL="0" lvl="0" indent="0" algn="l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700" kern="1200" dirty="0"/>
        </a:p>
      </dsp:txBody>
      <dsp:txXfrm>
        <a:off x="0" y="209985"/>
        <a:ext cx="1415513" cy="198000"/>
      </dsp:txXfrm>
    </dsp:sp>
    <dsp:sp modelId="{A26B1DE6-CF11-4DDE-B44C-06D2D40056A5}">
      <dsp:nvSpPr>
        <dsp:cNvPr id="0" name=""/>
        <dsp:cNvSpPr/>
      </dsp:nvSpPr>
      <dsp:spPr>
        <a:xfrm>
          <a:off x="1415513" y="52231"/>
          <a:ext cx="327042" cy="404969"/>
        </a:xfrm>
        <a:prstGeom prst="leftBrace">
          <a:avLst>
            <a:gd name="adj1" fmla="val 35000"/>
            <a:gd name="adj2" fmla="val 50000"/>
          </a:avLst>
        </a:prstGeom>
        <a:noFill/>
        <a:ln w="25400" cap="flat" cmpd="sng" algn="ctr">
          <a:solidFill>
            <a:schemeClr val="dk2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flat" dir="t"/>
        </a:scene3d>
        <a:sp3d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6433D64-952C-4A31-983D-1017B3C32C47}">
      <dsp:nvSpPr>
        <dsp:cNvPr id="0" name=""/>
        <dsp:cNvSpPr/>
      </dsp:nvSpPr>
      <dsp:spPr>
        <a:xfrm>
          <a:off x="1783641" y="52231"/>
          <a:ext cx="3812271" cy="404969"/>
        </a:xfrm>
        <a:prstGeom prst="rect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dk2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b="0" i="0" kern="1200" dirty="0"/>
            <a:t>Table Extraction</a:t>
          </a:r>
          <a:endParaRPr lang="en-US" sz="1000" kern="1200" dirty="0"/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b="0" i="0" kern="1200" dirty="0"/>
            <a:t>Header Stripping</a:t>
          </a:r>
          <a:endParaRPr lang="en-US" sz="1000" kern="1200" dirty="0"/>
        </a:p>
      </dsp:txBody>
      <dsp:txXfrm>
        <a:off x="1783641" y="52231"/>
        <a:ext cx="3812271" cy="404969"/>
      </dsp:txXfrm>
    </dsp:sp>
    <dsp:sp modelId="{AC2B96A3-ADBA-40C0-B958-7DDD08E7D4E8}">
      <dsp:nvSpPr>
        <dsp:cNvPr id="0" name=""/>
        <dsp:cNvSpPr/>
      </dsp:nvSpPr>
      <dsp:spPr>
        <a:xfrm>
          <a:off x="0" y="584659"/>
          <a:ext cx="1409769" cy="20070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232" tIns="27940" rIns="78232" bIns="27940" numCol="1" spcCol="1270" anchor="ctr" anchorCtr="0">
          <a:noAutofit/>
        </a:bodyPr>
        <a:lstStyle/>
        <a:p>
          <a:pPr marL="0" lvl="0" indent="0" algn="l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050" b="0" i="0" kern="1200" dirty="0">
            <a:latin typeface="Arial Black" panose="020B0A04020102020204" pitchFamily="34" charset="0"/>
          </a:endParaRPr>
        </a:p>
      </dsp:txBody>
      <dsp:txXfrm>
        <a:off x="0" y="584659"/>
        <a:ext cx="1409769" cy="200708"/>
      </dsp:txXfrm>
    </dsp:sp>
    <dsp:sp modelId="{198F5C82-A1B5-4598-AC6F-A9C0DABD7BDF}">
      <dsp:nvSpPr>
        <dsp:cNvPr id="0" name=""/>
        <dsp:cNvSpPr/>
      </dsp:nvSpPr>
      <dsp:spPr>
        <a:xfrm>
          <a:off x="1409769" y="493200"/>
          <a:ext cx="343432" cy="383625"/>
        </a:xfrm>
        <a:prstGeom prst="leftBrace">
          <a:avLst>
            <a:gd name="adj1" fmla="val 35000"/>
            <a:gd name="adj2" fmla="val 50000"/>
          </a:avLst>
        </a:prstGeom>
        <a:noFill/>
        <a:ln w="25400" cap="flat" cmpd="sng" algn="ctr">
          <a:solidFill>
            <a:schemeClr val="dk2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flat" dir="t"/>
        </a:scene3d>
        <a:sp3d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E54DBD1-1915-453C-B205-7D57F6596F56}">
      <dsp:nvSpPr>
        <dsp:cNvPr id="0" name=""/>
        <dsp:cNvSpPr/>
      </dsp:nvSpPr>
      <dsp:spPr>
        <a:xfrm>
          <a:off x="1793575" y="493200"/>
          <a:ext cx="3806390" cy="383625"/>
        </a:xfrm>
        <a:prstGeom prst="rect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dk2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b="0" i="0" kern="1200" dirty="0"/>
            <a:t>Section-Aware Splitting</a:t>
          </a:r>
          <a:endParaRPr lang="en-US" sz="1000" kern="1200" dirty="0"/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b="0" i="0" kern="1200" dirty="0"/>
            <a:t>Optimal Sizing</a:t>
          </a:r>
          <a:endParaRPr lang="en-US" sz="1000" kern="1200" dirty="0"/>
        </a:p>
      </dsp:txBody>
      <dsp:txXfrm>
        <a:off x="1793575" y="493200"/>
        <a:ext cx="3806390" cy="383625"/>
      </dsp:txXfrm>
    </dsp:sp>
    <dsp:sp modelId="{4D2CC661-966E-4BA4-843D-A1C1153050D7}">
      <dsp:nvSpPr>
        <dsp:cNvPr id="0" name=""/>
        <dsp:cNvSpPr/>
      </dsp:nvSpPr>
      <dsp:spPr>
        <a:xfrm>
          <a:off x="0" y="1012010"/>
          <a:ext cx="1399124" cy="7003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2672" tIns="15240" rIns="42672" bIns="15240" numCol="1" spcCol="1270" anchor="ctr" anchorCtr="0">
          <a:noAutofit/>
        </a:bodyPr>
        <a:lstStyle/>
        <a:p>
          <a:pPr marL="0" lvl="0" indent="0" algn="l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600" kern="1200" dirty="0"/>
        </a:p>
      </dsp:txBody>
      <dsp:txXfrm>
        <a:off x="0" y="1012010"/>
        <a:ext cx="1399124" cy="70030"/>
      </dsp:txXfrm>
    </dsp:sp>
    <dsp:sp modelId="{A0E10437-37D9-40A1-94FC-7CF5534408C5}">
      <dsp:nvSpPr>
        <dsp:cNvPr id="0" name=""/>
        <dsp:cNvSpPr/>
      </dsp:nvSpPr>
      <dsp:spPr>
        <a:xfrm>
          <a:off x="1399124" y="912825"/>
          <a:ext cx="279824" cy="216562"/>
        </a:xfrm>
        <a:prstGeom prst="leftBrace">
          <a:avLst>
            <a:gd name="adj1" fmla="val 35000"/>
            <a:gd name="adj2" fmla="val 50000"/>
          </a:avLst>
        </a:prstGeom>
        <a:noFill/>
        <a:ln w="25400" cap="flat" cmpd="sng" algn="ctr">
          <a:solidFill>
            <a:schemeClr val="dk2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flat" dir="t"/>
        </a:scene3d>
        <a:sp3d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85E5853-DBE3-4294-93EB-D0C052772C14}">
      <dsp:nvSpPr>
        <dsp:cNvPr id="0" name=""/>
        <dsp:cNvSpPr/>
      </dsp:nvSpPr>
      <dsp:spPr>
        <a:xfrm>
          <a:off x="1796350" y="907543"/>
          <a:ext cx="3805618" cy="216562"/>
        </a:xfrm>
        <a:prstGeom prst="rect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dk2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b="0" i="0" kern="1200" dirty="0"/>
            <a:t>Fully Local Execution</a:t>
          </a:r>
          <a:endParaRPr lang="en-US" sz="1000" kern="1200" dirty="0"/>
        </a:p>
      </dsp:txBody>
      <dsp:txXfrm>
        <a:off x="1796350" y="907543"/>
        <a:ext cx="3805618" cy="216562"/>
      </dsp:txXfrm>
    </dsp:sp>
    <dsp:sp modelId="{51EE0D49-AD04-4513-87AC-4148C700764C}">
      <dsp:nvSpPr>
        <dsp:cNvPr id="0" name=""/>
        <dsp:cNvSpPr/>
      </dsp:nvSpPr>
      <dsp:spPr>
        <a:xfrm>
          <a:off x="0" y="1258200"/>
          <a:ext cx="1399124" cy="198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5560" tIns="12700" rIns="35560" bIns="12700" numCol="1" spcCol="1270" anchor="ctr" anchorCtr="0">
          <a:noAutofit/>
        </a:bodyPr>
        <a:lstStyle/>
        <a:p>
          <a:pPr marL="0" lvl="0" indent="0" algn="l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 dirty="0"/>
        </a:p>
      </dsp:txBody>
      <dsp:txXfrm>
        <a:off x="0" y="1258200"/>
        <a:ext cx="1399124" cy="198000"/>
      </dsp:txXfrm>
    </dsp:sp>
    <dsp:sp modelId="{FBEC08E7-8EA9-4F19-8102-67D71DDC638F}">
      <dsp:nvSpPr>
        <dsp:cNvPr id="0" name=""/>
        <dsp:cNvSpPr/>
      </dsp:nvSpPr>
      <dsp:spPr>
        <a:xfrm>
          <a:off x="1399124" y="1165388"/>
          <a:ext cx="279824" cy="383625"/>
        </a:xfrm>
        <a:prstGeom prst="leftBrace">
          <a:avLst>
            <a:gd name="adj1" fmla="val 35000"/>
            <a:gd name="adj2" fmla="val 50000"/>
          </a:avLst>
        </a:prstGeom>
        <a:noFill/>
        <a:ln w="25400" cap="flat" cmpd="sng" algn="ctr">
          <a:solidFill>
            <a:schemeClr val="dk2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flat" dir="t"/>
        </a:scene3d>
        <a:sp3d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24F19CC-5252-49CF-BB92-9DDE5C78A83D}">
      <dsp:nvSpPr>
        <dsp:cNvPr id="0" name=""/>
        <dsp:cNvSpPr/>
      </dsp:nvSpPr>
      <dsp:spPr>
        <a:xfrm>
          <a:off x="1790879" y="1165388"/>
          <a:ext cx="3805618" cy="383625"/>
        </a:xfrm>
        <a:prstGeom prst="rect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dk2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b="0" i="0" kern="1200" dirty="0"/>
            <a:t>Zero Docker Setup</a:t>
          </a:r>
          <a:endParaRPr lang="en-US" sz="1000" kern="1200" dirty="0"/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b="0" i="0" kern="1200" dirty="0"/>
            <a:t>Rich Metadata</a:t>
          </a:r>
          <a:endParaRPr lang="en-US" sz="1000" kern="1200" dirty="0"/>
        </a:p>
      </dsp:txBody>
      <dsp:txXfrm>
        <a:off x="1790879" y="1165388"/>
        <a:ext cx="3805618" cy="383625"/>
      </dsp:txXfrm>
    </dsp:sp>
    <dsp:sp modelId="{1988FC77-CF36-4CB7-8B74-1CB63D2CB4BE}">
      <dsp:nvSpPr>
        <dsp:cNvPr id="0" name=""/>
        <dsp:cNvSpPr/>
      </dsp:nvSpPr>
      <dsp:spPr>
        <a:xfrm>
          <a:off x="4826" y="1692772"/>
          <a:ext cx="1399124" cy="198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5560" tIns="12700" rIns="35560" bIns="12700" numCol="1" spcCol="1270" anchor="ctr" anchorCtr="0">
          <a:noAutofit/>
        </a:bodyPr>
        <a:lstStyle/>
        <a:p>
          <a:pPr marL="0" lvl="0" indent="0" algn="l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 dirty="0"/>
        </a:p>
      </dsp:txBody>
      <dsp:txXfrm>
        <a:off x="4826" y="1692772"/>
        <a:ext cx="1399124" cy="198000"/>
      </dsp:txXfrm>
    </dsp:sp>
    <dsp:sp modelId="{0F317D99-FAA7-486C-AD04-E80658653891}">
      <dsp:nvSpPr>
        <dsp:cNvPr id="0" name=""/>
        <dsp:cNvSpPr/>
      </dsp:nvSpPr>
      <dsp:spPr>
        <a:xfrm>
          <a:off x="1399124" y="1585013"/>
          <a:ext cx="279824" cy="383625"/>
        </a:xfrm>
        <a:prstGeom prst="leftBrace">
          <a:avLst>
            <a:gd name="adj1" fmla="val 35000"/>
            <a:gd name="adj2" fmla="val 50000"/>
          </a:avLst>
        </a:prstGeom>
        <a:noFill/>
        <a:ln w="25400" cap="flat" cmpd="sng" algn="ctr">
          <a:solidFill>
            <a:schemeClr val="dk2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flat" dir="t"/>
        </a:scene3d>
        <a:sp3d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5768B98-F77A-4129-ACD5-EDDCB6DCE048}">
      <dsp:nvSpPr>
        <dsp:cNvPr id="0" name=""/>
        <dsp:cNvSpPr/>
      </dsp:nvSpPr>
      <dsp:spPr>
        <a:xfrm>
          <a:off x="1790879" y="1585013"/>
          <a:ext cx="3805618" cy="383625"/>
        </a:xfrm>
        <a:prstGeom prst="rect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dk2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b="0" i="0" kern="1200" dirty="0"/>
            <a:t>Precision Metadata Filtering</a:t>
          </a:r>
          <a:endParaRPr lang="en-US" sz="1000" kern="1200" dirty="0"/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b="0" i="0" kern="1200" dirty="0"/>
            <a:t>Over-fetching</a:t>
          </a:r>
          <a:endParaRPr lang="en-US" sz="1000" kern="1200" dirty="0"/>
        </a:p>
      </dsp:txBody>
      <dsp:txXfrm>
        <a:off x="1790879" y="1585013"/>
        <a:ext cx="3805618" cy="383625"/>
      </dsp:txXfrm>
    </dsp:sp>
    <dsp:sp modelId="{D1E7592D-5481-4E23-BBA9-37FC11FDB1FC}">
      <dsp:nvSpPr>
        <dsp:cNvPr id="0" name=""/>
        <dsp:cNvSpPr/>
      </dsp:nvSpPr>
      <dsp:spPr>
        <a:xfrm>
          <a:off x="0" y="2013919"/>
          <a:ext cx="1400492" cy="198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232" tIns="27940" rIns="78232" bIns="27940" numCol="1" spcCol="1270" anchor="ctr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100" kern="1200" dirty="0">
            <a:latin typeface="Arial Black" panose="020B0A04020102020204" pitchFamily="34" charset="0"/>
          </a:endParaRPr>
        </a:p>
      </dsp:txBody>
      <dsp:txXfrm>
        <a:off x="0" y="2013919"/>
        <a:ext cx="1400492" cy="198000"/>
      </dsp:txXfrm>
    </dsp:sp>
    <dsp:sp modelId="{7463CE50-C0A3-481C-A7EE-61A136CA5614}">
      <dsp:nvSpPr>
        <dsp:cNvPr id="0" name=""/>
        <dsp:cNvSpPr/>
      </dsp:nvSpPr>
      <dsp:spPr>
        <a:xfrm>
          <a:off x="1400492" y="2004638"/>
          <a:ext cx="280098" cy="216562"/>
        </a:xfrm>
        <a:prstGeom prst="leftBrace">
          <a:avLst>
            <a:gd name="adj1" fmla="val 35000"/>
            <a:gd name="adj2" fmla="val 50000"/>
          </a:avLst>
        </a:prstGeom>
        <a:noFill/>
        <a:ln w="25400" cap="flat" cmpd="sng" algn="ctr">
          <a:solidFill>
            <a:schemeClr val="dk2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flat" dir="t"/>
        </a:scene3d>
        <a:sp3d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8C4F1F0-2F56-483B-8104-BEA79A7538A1}">
      <dsp:nvSpPr>
        <dsp:cNvPr id="0" name=""/>
        <dsp:cNvSpPr/>
      </dsp:nvSpPr>
      <dsp:spPr>
        <a:xfrm>
          <a:off x="1792630" y="2004638"/>
          <a:ext cx="3809338" cy="216562"/>
        </a:xfrm>
        <a:prstGeom prst="rect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dk2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b="0" i="0" kern="1200" dirty="0"/>
            <a:t>Smart Filtering</a:t>
          </a:r>
          <a:endParaRPr lang="en-US" sz="1000" kern="1200" dirty="0"/>
        </a:p>
      </dsp:txBody>
      <dsp:txXfrm>
        <a:off x="1792630" y="2004638"/>
        <a:ext cx="3809338" cy="216562"/>
      </dsp:txXfrm>
    </dsp:sp>
    <dsp:sp modelId="{E4B80767-5737-4482-A6AF-D1C6CDF122DC}">
      <dsp:nvSpPr>
        <dsp:cNvPr id="0" name=""/>
        <dsp:cNvSpPr/>
      </dsp:nvSpPr>
      <dsp:spPr>
        <a:xfrm>
          <a:off x="0" y="2373290"/>
          <a:ext cx="1399124" cy="198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5560" tIns="12700" rIns="35560" bIns="12700" numCol="1" spcCol="1270" anchor="ctr" anchorCtr="0">
          <a:noAutofit/>
        </a:bodyPr>
        <a:lstStyle/>
        <a:p>
          <a:pPr marL="0" lvl="0" indent="0" algn="l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 dirty="0"/>
        </a:p>
      </dsp:txBody>
      <dsp:txXfrm>
        <a:off x="0" y="2373290"/>
        <a:ext cx="1399124" cy="198000"/>
      </dsp:txXfrm>
    </dsp:sp>
    <dsp:sp modelId="{D95A6C44-A417-4C00-9432-D1FAC161DC5F}">
      <dsp:nvSpPr>
        <dsp:cNvPr id="0" name=""/>
        <dsp:cNvSpPr/>
      </dsp:nvSpPr>
      <dsp:spPr>
        <a:xfrm>
          <a:off x="1399124" y="2257200"/>
          <a:ext cx="279824" cy="383625"/>
        </a:xfrm>
        <a:prstGeom prst="leftBrace">
          <a:avLst>
            <a:gd name="adj1" fmla="val 35000"/>
            <a:gd name="adj2" fmla="val 50000"/>
          </a:avLst>
        </a:prstGeom>
        <a:noFill/>
        <a:ln w="25400" cap="flat" cmpd="sng" algn="ctr">
          <a:solidFill>
            <a:schemeClr val="dk2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flat" dir="t"/>
        </a:scene3d>
        <a:sp3d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51F707C-CB75-4D21-8C13-082BD2FF2D14}">
      <dsp:nvSpPr>
        <dsp:cNvPr id="0" name=""/>
        <dsp:cNvSpPr/>
      </dsp:nvSpPr>
      <dsp:spPr>
        <a:xfrm>
          <a:off x="1790879" y="2257200"/>
          <a:ext cx="3805618" cy="383625"/>
        </a:xfrm>
        <a:prstGeom prst="rect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dk2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b="0" i="0" kern="1200" dirty="0"/>
            <a:t>Anti-Hallucination Guardrails</a:t>
          </a:r>
          <a:endParaRPr lang="en-US" sz="1000" kern="1200" dirty="0"/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b="0" i="0" kern="1200" dirty="0"/>
            <a:t>Strict Citations</a:t>
          </a:r>
          <a:endParaRPr lang="en-US" sz="1000" kern="1200" dirty="0"/>
        </a:p>
      </dsp:txBody>
      <dsp:txXfrm>
        <a:off x="1790879" y="2257200"/>
        <a:ext cx="3805618" cy="383625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56D14D6-3CD0-4865-B385-11B962D7A7A5}">
      <dsp:nvSpPr>
        <dsp:cNvPr id="0" name=""/>
        <dsp:cNvSpPr/>
      </dsp:nvSpPr>
      <dsp:spPr>
        <a:xfrm>
          <a:off x="-2755162" y="-424804"/>
          <a:ext cx="3288010" cy="3288010"/>
        </a:xfrm>
        <a:prstGeom prst="blockArc">
          <a:avLst>
            <a:gd name="adj1" fmla="val 18900000"/>
            <a:gd name="adj2" fmla="val 2700000"/>
            <a:gd name="adj3" fmla="val 657"/>
          </a:avLst>
        </a:prstGeom>
        <a:noFill/>
        <a:ln w="254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3102864-F17C-4A78-BB5E-52FA32DEB2F6}">
      <dsp:nvSpPr>
        <dsp:cNvPr id="0" name=""/>
        <dsp:cNvSpPr/>
      </dsp:nvSpPr>
      <dsp:spPr>
        <a:xfrm>
          <a:off x="234323" y="152351"/>
          <a:ext cx="4093437" cy="304897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2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242013" tIns="40640" rIns="40640" bIns="4064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1" kern="1200" dirty="0"/>
            <a:t>Reduce Manual Specification Search</a:t>
          </a:r>
          <a:endParaRPr lang="en-US" sz="1600" kern="1200" dirty="0"/>
        </a:p>
      </dsp:txBody>
      <dsp:txXfrm>
        <a:off x="234323" y="152351"/>
        <a:ext cx="4093437" cy="304897"/>
      </dsp:txXfrm>
    </dsp:sp>
    <dsp:sp modelId="{5A0AA265-1A41-42B0-A463-A80B0B36BA87}">
      <dsp:nvSpPr>
        <dsp:cNvPr id="0" name=""/>
        <dsp:cNvSpPr/>
      </dsp:nvSpPr>
      <dsp:spPr>
        <a:xfrm>
          <a:off x="43761" y="114239"/>
          <a:ext cx="381122" cy="381122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661A612B-48A1-4CB4-B023-5F3822CDC865}">
      <dsp:nvSpPr>
        <dsp:cNvPr id="0" name=""/>
        <dsp:cNvSpPr/>
      </dsp:nvSpPr>
      <dsp:spPr>
        <a:xfrm>
          <a:off x="452803" y="609551"/>
          <a:ext cx="3874956" cy="304897"/>
        </a:xfrm>
        <a:prstGeom prst="rect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3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242013" tIns="40640" rIns="40640" bIns="4064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1" kern="1200" dirty="0"/>
            <a:t>Accelerate Engineering Decision-Making</a:t>
          </a:r>
          <a:endParaRPr lang="en-US" sz="1600" kern="1200" dirty="0"/>
        </a:p>
      </dsp:txBody>
      <dsp:txXfrm>
        <a:off x="452803" y="609551"/>
        <a:ext cx="3874956" cy="304897"/>
      </dsp:txXfrm>
    </dsp:sp>
    <dsp:sp modelId="{5FE63B5A-7349-4B6A-A8E1-6736DB4F56C3}">
      <dsp:nvSpPr>
        <dsp:cNvPr id="0" name=""/>
        <dsp:cNvSpPr/>
      </dsp:nvSpPr>
      <dsp:spPr>
        <a:xfrm>
          <a:off x="262242" y="571439"/>
          <a:ext cx="381122" cy="381122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2E6FB2E9-F038-42B2-B098-4A484B72D349}">
      <dsp:nvSpPr>
        <dsp:cNvPr id="0" name=""/>
        <dsp:cNvSpPr/>
      </dsp:nvSpPr>
      <dsp:spPr>
        <a:xfrm>
          <a:off x="519859" y="1066751"/>
          <a:ext cx="3807900" cy="304897"/>
        </a:xfrm>
        <a:prstGeom prst="rect">
          <a:avLst/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4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4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242013" tIns="40640" rIns="40640" bIns="4064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1" kern="1200" dirty="0"/>
            <a:t>Reduce Risk of AI Hallucination</a:t>
          </a:r>
          <a:endParaRPr lang="en-US" sz="1600" kern="1200" dirty="0"/>
        </a:p>
      </dsp:txBody>
      <dsp:txXfrm>
        <a:off x="519859" y="1066751"/>
        <a:ext cx="3807900" cy="304897"/>
      </dsp:txXfrm>
    </dsp:sp>
    <dsp:sp modelId="{8A16A67F-7BB6-4F73-8161-BF1C87B9C54B}">
      <dsp:nvSpPr>
        <dsp:cNvPr id="0" name=""/>
        <dsp:cNvSpPr/>
      </dsp:nvSpPr>
      <dsp:spPr>
        <a:xfrm>
          <a:off x="329298" y="1028639"/>
          <a:ext cx="381122" cy="381122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B8BA84E8-6AD1-43E8-89AF-B86421E1D901}">
      <dsp:nvSpPr>
        <dsp:cNvPr id="0" name=""/>
        <dsp:cNvSpPr/>
      </dsp:nvSpPr>
      <dsp:spPr>
        <a:xfrm>
          <a:off x="452803" y="1523951"/>
          <a:ext cx="3874956" cy="304897"/>
        </a:xfrm>
        <a:prstGeom prst="rect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5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242013" tIns="40640" rIns="40640" bIns="4064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1" kern="1200" dirty="0"/>
            <a:t>Ensure Accurate &amp; Traceable Answers</a:t>
          </a:r>
          <a:endParaRPr lang="en-US" sz="1600" kern="1200" dirty="0"/>
        </a:p>
      </dsp:txBody>
      <dsp:txXfrm>
        <a:off x="452803" y="1523951"/>
        <a:ext cx="3874956" cy="304897"/>
      </dsp:txXfrm>
    </dsp:sp>
    <dsp:sp modelId="{9B1F72C3-1841-4EDD-A13B-56727E7B895B}">
      <dsp:nvSpPr>
        <dsp:cNvPr id="0" name=""/>
        <dsp:cNvSpPr/>
      </dsp:nvSpPr>
      <dsp:spPr>
        <a:xfrm>
          <a:off x="262242" y="1485839"/>
          <a:ext cx="381122" cy="381122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9882DC6A-7DF9-4FCB-977D-75C284B6928A}">
      <dsp:nvSpPr>
        <dsp:cNvPr id="0" name=""/>
        <dsp:cNvSpPr/>
      </dsp:nvSpPr>
      <dsp:spPr>
        <a:xfrm>
          <a:off x="234323" y="1981152"/>
          <a:ext cx="4093437" cy="304897"/>
        </a:xfrm>
        <a:prstGeom prst="rect">
          <a:avLst/>
        </a:prstGeom>
        <a:gradFill rotWithShape="0">
          <a:gsLst>
            <a:gs pos="0">
              <a:schemeClr val="accent6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6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6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242013" tIns="40640" rIns="40640" bIns="4064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1" kern="1200" dirty="0"/>
            <a:t>Fully local LLM Assistant</a:t>
          </a:r>
          <a:endParaRPr lang="en-US" sz="1600" kern="1200" dirty="0"/>
        </a:p>
      </dsp:txBody>
      <dsp:txXfrm>
        <a:off x="234323" y="1981152"/>
        <a:ext cx="4093437" cy="304897"/>
      </dsp:txXfrm>
    </dsp:sp>
    <dsp:sp modelId="{8D046A10-912A-48BC-956D-0BE5849588EA}">
      <dsp:nvSpPr>
        <dsp:cNvPr id="0" name=""/>
        <dsp:cNvSpPr/>
      </dsp:nvSpPr>
      <dsp:spPr>
        <a:xfrm>
          <a:off x="43761" y="1943039"/>
          <a:ext cx="381122" cy="381122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6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diagrams.loki3.com/BracketList">
  <dgm:title val="Vertical Bracket List"/>
  <dgm:desc val="Use to show grouped blocks of information.  Works well with large amounts of Level 2 text."/>
  <dgm:catLst>
    <dgm:cat type="list" pri="4110"/>
    <dgm:cat type="officeonline" pri="3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3" srcId="0" destId="1" srcOrd="0" destOrd="0"/>
        <dgm:cxn modelId="4" srcId="1" destId="11" srcOrd="0" destOrd="0"/>
        <dgm:cxn modelId="5" srcId="0" destId="2" srcOrd="0" destOrd="0"/>
        <dgm:cxn modelId="6" srcId="2" destId="21" srcOrd="0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V" refType="primFontSz" refFor="des" refForName="parTx" fact="0.1"/>
      <dgm:constr type="primFontSz" for="des" forName="parTx" val="65"/>
      <dgm:constr type="primFontSz" for="des" forName="desTx" refType="primFontSz" refFor="des" refForName="parTx"/>
      <dgm:constr type="h" for="des" forName="parTx" refType="primFontSz" refFor="des" refForName="parTx" fact="0.55"/>
      <dgm:constr type="h" for="des" forName="bracket" refType="primFontSz" refFor="des" refForName="parTx" fact="0.55"/>
      <dgm:constr type="h" for="des" forName="desTx" refType="primFontSz" refFor="des" refForName="parTx" fact="0.55"/>
    </dgm:constrLst>
    <dgm:ruleLst>
      <dgm:rule type="primFontSz" for="des" forName="parTx" val="5" fact="NaN" max="NaN"/>
    </dgm:ruleLst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Tx" refType="w" fact="0.25"/>
          <dgm:constr type="w" for="ch" forName="bracket" refType="w" fact="0.05"/>
          <dgm:constr type="w" for="ch" forName="spH" refType="w" fact="0.02"/>
          <dgm:constr type="w" for="ch" forName="desTx" refType="w" fact="0.68"/>
          <dgm:constr type="h" for="ch" forName="bracket" refType="h" refFor="ch" refForName="desTx" op="gte"/>
          <dgm:constr type="h" for="ch" forName="bracket" refType="h" refFor="ch" refForName="parTx" op="gte"/>
          <dgm:constr type="h" for="ch" forName="desTx" refType="h" refFor="ch" refForName="parTx" op="gte"/>
        </dgm:constrLst>
        <dgm:ruleLst/>
        <dgm:layoutNode name="parTx" styleLbl="revTx">
          <dgm:varLst>
            <dgm:chMax val="1"/>
            <dgm:bulletEnabled val="1"/>
          </dgm:varLst>
          <dgm:choose name="Name8">
            <dgm:if name="Name9" func="var" arg="dir" op="equ" val="norm">
              <dgm:alg type="tx">
                <dgm:param type="parTxLTRAlign" val="r"/>
              </dgm:alg>
            </dgm:if>
            <dgm:else name="Name10">
              <dgm:alg type="tx">
                <dgm:param type="parTxLTRAlign" val="l"/>
              </dgm:alg>
            </dgm:else>
          </dgm:choose>
          <dgm:shape xmlns:r="http://schemas.openxmlformats.org/officeDocument/2006/relationships" type="rect" r:blip="">
            <dgm:adjLst/>
          </dgm:shape>
          <dgm:presOf axis="self" ptType="node"/>
          <dgm:constrLst>
            <dgm:constr type="tMarg" refType="primFontSz" fact="0.2"/>
            <dgm:constr type="bMarg" refType="primFontSz" fact="0.2"/>
          </dgm:constrLst>
          <dgm:ruleLst>
            <dgm:rule type="h" val="INF" fact="NaN" max="NaN"/>
          </dgm:ruleLst>
        </dgm:layoutNode>
        <dgm:layoutNode name="bracket" styleLbl="parChTrans1D1">
          <dgm:alg type="sp"/>
          <dgm:choose name="Name11">
            <dgm:if name="Name12" func="var" arg="dir" op="equ" val="norm">
              <dgm:shape xmlns:r="http://schemas.openxmlformats.org/officeDocument/2006/relationships" type="leftBrace" r:blip="">
                <dgm:adjLst>
                  <dgm:adj idx="1" val="0.35"/>
                </dgm:adjLst>
              </dgm:shape>
            </dgm:if>
            <dgm:else name="Name13">
              <dgm:shape xmlns:r="http://schemas.openxmlformats.org/officeDocument/2006/relationships" rot="180" type="leftBrace" r:blip="">
                <dgm:adjLst>
                  <dgm:adj idx="1" val="0.35"/>
                </dgm:adjLst>
              </dgm:shape>
            </dgm:else>
          </dgm:choose>
          <dgm:presOf/>
        </dgm:layoutNode>
        <dgm:layoutNode name="spH">
          <dgm:alg type="sp"/>
        </dgm:layoutNode>
        <dgm:choose name="Name14">
          <dgm:if name="Name15" axis="ch" ptType="node" func="cnt" op="gte" val="1">
            <dgm:layoutNode name="desTx" styleLbl="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secFontSz" refType="primFontSz"/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h" val="INF" fact="NaN" max="NaN"/>
              </dgm:ruleLst>
            </dgm:layoutNode>
          </dgm:if>
          <dgm:else name="Name16"/>
        </dgm:choose>
      </dgm:layoutNode>
      <dgm:forEach name="Name17" axis="followSib" ptType="sibTrans" cnt="1">
        <dgm:layoutNode name="spV">
          <dgm:alg type="sp"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8/layout/VerticalCurvedList">
  <dgm:title val=""/>
  <dgm:desc val=""/>
  <dgm:catLst>
    <dgm:cat type="list" pri="2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chMax val="7"/>
      <dgm:chPref val="7"/>
      <dgm:dir/>
    </dgm:varLst>
    <dgm:alg type="composite"/>
    <dgm:shape xmlns:r="http://schemas.openxmlformats.org/officeDocument/2006/relationships" r:blip="">
      <dgm:adjLst/>
    </dgm:shape>
    <dgm:constrLst>
      <dgm:constr type="w" for="ch" refType="h" refFor="ch" op="gte" fact="0.8"/>
    </dgm:constrLst>
    <dgm:layoutNode name="Name1">
      <dgm:alg type="composite"/>
      <dgm:shape xmlns:r="http://schemas.openxmlformats.org/officeDocument/2006/relationships" r:blip="">
        <dgm:adjLst/>
      </dgm:shape>
      <dgm:choose name="Name2">
        <dgm:if name="Name3" func="var" arg="dir" op="equ" val="norm">
          <dgm:choose name="Name4">
            <dgm:if name="Name5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h" fact="0.225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primFontSz" for="ch" ptType="node" op="equ" val="65"/>
              </dgm:constrLst>
            </dgm:if>
            <dgm:if name="Name6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h" fact="0.1891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h" fact="0.1891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primFontSz" for="ch" ptType="node" op="equ" val="65"/>
              </dgm:constrLst>
            </dgm:if>
            <dgm:if name="Name7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h" fact="0.1526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h" fact="0.2253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h" fact="0.1526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primFontSz" for="ch" ptType="node" op="equ" val="65"/>
              </dgm:constrLst>
            </dgm:if>
            <dgm:if name="Name8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h" fact="0.1268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h" fact="0.215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h" fact="0.21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h" fact="0.126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primFontSz" for="ch" ptType="node" op="equ" val="65"/>
              </dgm:constrLst>
            </dgm:if>
            <dgm:if name="Name9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h" fact="0.1082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h" fact="0.197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h" fact="0.2253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h" fact="0.197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h" fact="0.1082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primFontSz" for="ch" ptType="node" op="equ" val="65"/>
              </dgm:constrLst>
            </dgm:if>
            <dgm:if name="Name10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h" fact="0.094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h" fact="0.1809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h" fact="0.220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h" fact="0.2205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h" fact="0.18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h" fact="0.0943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primFontSz" for="ch" ptType="node" op="equ" val="65"/>
              </dgm:constrLst>
            </dgm:if>
            <dgm:else name="Name1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h" fact="0.0835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h" fact="0.165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h" fact="0.2109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h" fact="0.2253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h" fact="0.21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h" fact="0.1658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h" fact="0.0835"/>
                <dgm:constr type="l" for="ch" forName="text_7" refType="ctrX" refFor="ch" refForName="accent_7"/>
                <dgm:constr type="r" for="ch" forName="text_7" refType="w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lMarg" for="ch" forName="text_7" refType="w" refFor="ch" refForName="accent_7" fact="1.8"/>
                <dgm:constr type="primFontSz" for="ch" ptType="node" op="equ" val="65"/>
              </dgm:constrLst>
            </dgm:else>
          </dgm:choose>
        </dgm:if>
        <dgm:else name="Name12">
          <dgm:choose name="Name13">
            <dgm:if name="Name14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w"/>
                <dgm:constr type="ctrXOff" for="ch" forName="accent_1" refType="h" fact="-0.225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primFontSz" for="ch" ptType="node" op="equ" val="65"/>
              </dgm:constrLst>
            </dgm:if>
            <dgm:if name="Name15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w"/>
                <dgm:constr type="ctrXOff" for="ch" forName="accent_1" refType="h" fact="-0.1891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w"/>
                <dgm:constr type="ctrXOff" for="ch" forName="accent_2" refType="h" fact="-0.1891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primFontSz" for="ch" ptType="node" op="equ" val="65"/>
              </dgm:constrLst>
            </dgm:if>
            <dgm:if name="Name16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w"/>
                <dgm:constr type="ctrXOff" for="ch" forName="accent_1" refType="h" fact="-0.1526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w"/>
                <dgm:constr type="ctrXOff" for="ch" forName="accent_2" refType="h" fact="-0.2253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w"/>
                <dgm:constr type="ctrXOff" for="ch" forName="accent_3" refType="h" fact="-0.1526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primFontSz" for="ch" ptType="node" op="equ" val="65"/>
              </dgm:constrLst>
            </dgm:if>
            <dgm:if name="Name17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w"/>
                <dgm:constr type="ctrXOff" for="ch" forName="accent_1" refType="h" fact="-0.1268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w"/>
                <dgm:constr type="ctrXOff" for="ch" forName="accent_2" refType="h" fact="-0.215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w"/>
                <dgm:constr type="ctrXOff" for="ch" forName="accent_3" refType="h" fact="-0.21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w"/>
                <dgm:constr type="ctrXOff" for="ch" forName="accent_4" refType="h" fact="-0.126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primFontSz" for="ch" ptType="node" op="equ" val="65"/>
              </dgm:constrLst>
            </dgm:if>
            <dgm:if name="Name18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w"/>
                <dgm:constr type="ctrXOff" for="ch" forName="accent_1" refType="h" fact="-0.1082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w"/>
                <dgm:constr type="ctrXOff" for="ch" forName="accent_2" refType="h" fact="-0.197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w"/>
                <dgm:constr type="ctrXOff" for="ch" forName="accent_3" refType="h" fact="-0.2253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w"/>
                <dgm:constr type="ctrXOff" for="ch" forName="accent_4" refType="h" fact="-0.197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w"/>
                <dgm:constr type="ctrXOff" for="ch" forName="accent_5" refType="h" fact="-0.1082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primFontSz" for="ch" ptType="node" op="equ" val="65"/>
              </dgm:constrLst>
            </dgm:if>
            <dgm:if name="Name19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w"/>
                <dgm:constr type="ctrXOff" for="ch" forName="accent_1" refType="h" fact="-0.094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w"/>
                <dgm:constr type="ctrXOff" for="ch" forName="accent_2" refType="h" fact="-0.1809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w"/>
                <dgm:constr type="ctrXOff" for="ch" forName="accent_3" refType="h" fact="-0.220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w"/>
                <dgm:constr type="ctrXOff" for="ch" forName="accent_4" refType="h" fact="-0.2205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w"/>
                <dgm:constr type="ctrXOff" for="ch" forName="accent_5" refType="h" fact="-0.18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w"/>
                <dgm:constr type="ctrXOff" for="ch" forName="accent_6" refType="h" fact="-0.0943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primFontSz" for="ch" ptType="node" op="equ" val="65"/>
              </dgm:constrLst>
            </dgm:if>
            <dgm:else name="Name20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w"/>
                <dgm:constr type="ctrXOff" for="ch" forName="accent_1" refType="h" fact="-0.0835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w"/>
                <dgm:constr type="ctrXOff" for="ch" forName="accent_2" refType="h" fact="-0.165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w"/>
                <dgm:constr type="ctrXOff" for="ch" forName="accent_3" refType="h" fact="-0.2109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w"/>
                <dgm:constr type="ctrXOff" for="ch" forName="accent_4" refType="h" fact="-0.2253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w"/>
                <dgm:constr type="ctrXOff" for="ch" forName="accent_5" refType="h" fact="-0.21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w"/>
                <dgm:constr type="ctrXOff" for="ch" forName="accent_6" refType="h" fact="-0.1658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w"/>
                <dgm:constr type="ctrXOff" for="ch" forName="accent_7" refType="h" fact="-0.0835"/>
                <dgm:constr type="r" for="ch" forName="text_7" refType="ctrX" refFor="ch" refForName="accent_7"/>
                <dgm:constr type="rOff" for="ch" forName="text_7" refType="ctrXOff" refFor="ch" refForName="accent_7"/>
                <dgm:constr type="l" for="ch" forName="text_7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rMarg" for="ch" forName="text_7" refType="w" refFor="ch" refForName="accent_7" fact="1.8"/>
                <dgm:constr type="primFontSz" for="ch" ptType="node" op="equ" val="65"/>
              </dgm:constrLst>
            </dgm:else>
          </dgm:choose>
        </dgm:else>
      </dgm:choose>
      <dgm:layoutNode name="cycle">
        <dgm:choose name="Name21">
          <dgm:if name="Name22" func="var" arg="dir" op="equ" val="norm">
            <dgm:alg type="cycle">
              <dgm:param type="stAng" val="45"/>
              <dgm:param type="spanAng" val="90"/>
            </dgm:alg>
          </dgm:if>
          <dgm:else name="Name23">
            <dgm:alg type="cycle">
              <dgm:param type="stAng" val="225"/>
              <dgm:param type="spanAng" val="90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val="1"/>
          <dgm:constr type="h" for="ch" val="1"/>
          <dgm:constr type="diam" for="ch" forName="conn" refType="diam"/>
        </dgm:constrLst>
        <dgm:layoutNode name="src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conn" styleLbl="parChTrans1D2">
          <dgm:alg type="conn">
            <dgm:param type="connRout" val="curve"/>
            <dgm:param type="srcNode" val="srcNode"/>
            <dgm:param type="dstNode" val="dstNode"/>
            <dgm:param type="begPts" val="ctr"/>
            <dgm:param type="endPts" val="ctr"/>
            <dgm:param type="endSty" val="noArr"/>
          </dgm:alg>
          <dgm:shape xmlns:r="http://schemas.openxmlformats.org/officeDocument/2006/relationships" type="conn" r:blip="">
            <dgm:adjLst/>
          </dgm:shape>
          <dgm:presOf axis="desOrSelf" ptType="sibTrans" hideLastTrans="0" st="0" cnt="1"/>
          <dgm:constrLst>
            <dgm:constr type="begPad"/>
            <dgm:constr type="endPad"/>
          </dgm:constrLst>
        </dgm:layoutNode>
        <dgm:layoutNode name="extra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dstNode">
          <dgm:alg type="sp"/>
          <dgm:shape xmlns:r="http://schemas.openxmlformats.org/officeDocument/2006/relationships" type="rect" r:blip="" hideGeom="1">
            <dgm:adjLst/>
          </dgm:shape>
          <dgm:presOf/>
        </dgm:layoutNode>
      </dgm:layoutNode>
      <dgm:forEach name="wrapper" axis="self" ptType="parTrans">
        <dgm:forEach name="wrapper2" axis="self" ptType="sibTrans" st="2">
          <dgm:forEach name="accentRepeat" axis="self">
            <dgm:layoutNode name="accentRepeatNode" styleLbl="solidFgAcc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</dgm:forEach>
        </dgm:forEach>
      </dgm:forEach>
      <dgm:forEach name="Name24" axis="ch" ptType="node" cnt="1">
        <dgm:layoutNode name="text_1" styleLbl="node1">
          <dgm:varLst>
            <dgm:bulletEnabled val="1"/>
          </dgm:varLst>
          <dgm:choose name="Name25">
            <dgm:if name="Name2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2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1">
          <dgm:alg type="sp"/>
          <dgm:shape xmlns:r="http://schemas.openxmlformats.org/officeDocument/2006/relationships" r:blip="">
            <dgm:adjLst/>
          </dgm:shape>
          <dgm:presOf/>
          <dgm:constrLst/>
          <dgm:forEach name="Name28" ref="accentRepeat"/>
        </dgm:layoutNode>
      </dgm:forEach>
      <dgm:forEach name="Name29" axis="ch" ptType="node" st="2" cnt="1">
        <dgm:layoutNode name="text_2" styleLbl="node1">
          <dgm:varLst>
            <dgm:bulletEnabled val="1"/>
          </dgm:varLst>
          <dgm:choose name="Name30">
            <dgm:if name="Name3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2">
          <dgm:alg type="sp"/>
          <dgm:shape xmlns:r="http://schemas.openxmlformats.org/officeDocument/2006/relationships" r:blip="">
            <dgm:adjLst/>
          </dgm:shape>
          <dgm:presOf/>
          <dgm:constrLst/>
          <dgm:forEach name="Name33" ref="accentRepeat"/>
        </dgm:layoutNode>
      </dgm:forEach>
      <dgm:forEach name="Name34" axis="ch" ptType="node" st="3" cnt="1">
        <dgm:layoutNode name="text_3" styleLbl="node1">
          <dgm:varLst>
            <dgm:bulletEnabled val="1"/>
          </dgm:varLst>
          <dgm:choose name="Name35">
            <dgm:if name="Name3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3">
          <dgm:alg type="sp"/>
          <dgm:shape xmlns:r="http://schemas.openxmlformats.org/officeDocument/2006/relationships" r:blip="">
            <dgm:adjLst/>
          </dgm:shape>
          <dgm:presOf/>
          <dgm:constrLst/>
          <dgm:forEach name="Name38" ref="accentRepeat"/>
        </dgm:layoutNode>
      </dgm:forEach>
      <dgm:forEach name="Name39" axis="ch" ptType="node" st="4" cnt="1">
        <dgm:layoutNode name="text_4" styleLbl="node1">
          <dgm:varLst>
            <dgm:bulletEnabled val="1"/>
          </dgm:varLst>
          <dgm:choose name="Name40">
            <dgm:if name="Name4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4">
          <dgm:alg type="sp"/>
          <dgm:shape xmlns:r="http://schemas.openxmlformats.org/officeDocument/2006/relationships" r:blip="">
            <dgm:adjLst/>
          </dgm:shape>
          <dgm:presOf/>
          <dgm:constrLst/>
          <dgm:forEach name="Name43" ref="accentRepeat"/>
        </dgm:layoutNode>
      </dgm:forEach>
      <dgm:forEach name="Name44" axis="ch" ptType="node" st="5" cnt="1">
        <dgm:layoutNode name="text_5" styleLbl="node1">
          <dgm:varLst>
            <dgm:bulletEnabled val="1"/>
          </dgm:varLst>
          <dgm:choose name="Name45">
            <dgm:if name="Name4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5">
          <dgm:alg type="sp"/>
          <dgm:shape xmlns:r="http://schemas.openxmlformats.org/officeDocument/2006/relationships" r:blip="">
            <dgm:adjLst/>
          </dgm:shape>
          <dgm:presOf/>
          <dgm:constrLst/>
          <dgm:forEach name="Name48" ref="accentRepeat"/>
        </dgm:layoutNode>
      </dgm:forEach>
      <dgm:forEach name="Name49" axis="ch" ptType="node" st="6" cnt="1">
        <dgm:layoutNode name="text_6" styleLbl="node1">
          <dgm:varLst>
            <dgm:bulletEnabled val="1"/>
          </dgm:varLst>
          <dgm:choose name="Name50">
            <dgm:if name="Name5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6">
          <dgm:alg type="sp"/>
          <dgm:shape xmlns:r="http://schemas.openxmlformats.org/officeDocument/2006/relationships" r:blip="">
            <dgm:adjLst/>
          </dgm:shape>
          <dgm:presOf/>
          <dgm:constrLst/>
          <dgm:forEach name="Name53" ref="accentRepeat"/>
        </dgm:layoutNode>
      </dgm:forEach>
      <dgm:forEach name="Name54" axis="ch" ptType="node" st="7" cnt="1">
        <dgm:layoutNode name="text_7" styleLbl="node1">
          <dgm:varLst>
            <dgm:bulletEnabled val="1"/>
          </dgm:varLst>
          <dgm:choose name="Name55">
            <dgm:if name="Name5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7">
          <dgm:alg type="sp"/>
          <dgm:shape xmlns:r="http://schemas.openxmlformats.org/officeDocument/2006/relationships" r:blip="">
            <dgm:adjLst/>
          </dgm:shape>
          <dgm:presOf/>
          <dgm:constrLst/>
          <dgm:forEach name="Name58" ref="accentRepeat"/>
        </dgm:layoutNode>
      </dgm:forEach>
    </dgm:layoutNod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1">
  <dgm:title val=""/>
  <dgm:desc val=""/>
  <dgm:catLst>
    <dgm:cat type="3D" pri="111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flat" dir="t"/>
    </dgm:scene3d>
    <dgm:sp3d z="1270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flat" dir="t"/>
    </dgm:scene3d>
    <dgm:sp3d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flat" dir="t"/>
    </dgm:scene3d>
    <dgm:sp3d z="-1905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flat" dir="t"/>
    </dgm:scene3d>
    <dgm:sp3d z="-80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flat" dir="t"/>
    </dgm:scene3d>
    <dgm:sp3d z="127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flat" dir="t"/>
    </dgm:scene3d>
    <dgm:sp3d z="-1905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fla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flat" dir="t"/>
    </dgm:scene3d>
    <dgm:sp3d z="-10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flat" dir="t"/>
    </dgm:scene3d>
    <dgm:sp3d z="-190500" extrusionH="127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z="190500"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265488" y="0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BEA1986-BA3F-4B39-82E5-E5FA8BD8A6AC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911350" y="406400"/>
            <a:ext cx="1943100" cy="10937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576263" y="1562100"/>
            <a:ext cx="4613275" cy="12779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3082925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265488" y="3082925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172E42C-98F0-4AD8-A5A8-C02C8E23F5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71900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172E42C-98F0-4AD8-A5A8-C02C8E23F55D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11312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432435" y="1005903"/>
            <a:ext cx="4900930" cy="68141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400" b="0" i="0">
                <a:solidFill>
                  <a:schemeClr val="bg1"/>
                </a:solidFill>
                <a:latin typeface="Arial Black"/>
                <a:cs typeface="Arial Black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864870" y="1817116"/>
            <a:ext cx="4036060" cy="81121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100" b="0" i="0">
                <a:solidFill>
                  <a:schemeClr val="tx1"/>
                </a:solidFill>
                <a:latin typeface="Arial Black"/>
                <a:cs typeface="Arial Black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chemeClr val="bg1"/>
                </a:solidFill>
                <a:latin typeface="Tahoma"/>
                <a:cs typeface="Tahoma"/>
              </a:defRPr>
            </a:lvl1pPr>
          </a:lstStyle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8/10/2026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chemeClr val="bg1"/>
                </a:solidFill>
                <a:latin typeface="Tahoma"/>
                <a:cs typeface="Tahoma"/>
              </a:defRPr>
            </a:lvl1pPr>
          </a:lstStyle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‹#›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400" b="0" i="0">
                <a:solidFill>
                  <a:schemeClr val="bg1"/>
                </a:solidFill>
                <a:latin typeface="Arial Black"/>
                <a:cs typeface="Arial Black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1100" b="0" i="0">
                <a:solidFill>
                  <a:schemeClr val="tx1"/>
                </a:solidFill>
                <a:latin typeface="Arial Black"/>
                <a:cs typeface="Arial Black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chemeClr val="bg1"/>
                </a:solidFill>
                <a:latin typeface="Tahoma"/>
                <a:cs typeface="Tahoma"/>
              </a:defRPr>
            </a:lvl1pPr>
          </a:lstStyle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8/10/2026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chemeClr val="bg1"/>
                </a:solidFill>
                <a:latin typeface="Tahoma"/>
                <a:cs typeface="Tahoma"/>
              </a:defRPr>
            </a:lvl1pPr>
          </a:lstStyle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‹#›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400" b="0" i="0">
                <a:solidFill>
                  <a:schemeClr val="bg1"/>
                </a:solidFill>
                <a:latin typeface="Arial Black"/>
                <a:cs typeface="Arial Black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288290" y="746315"/>
            <a:ext cx="2508123" cy="21416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2969387" y="746315"/>
            <a:ext cx="2508123" cy="21416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chemeClr val="bg1"/>
                </a:solidFill>
                <a:latin typeface="Tahoma"/>
                <a:cs typeface="Tahoma"/>
              </a:defRPr>
            </a:lvl1pPr>
          </a:lstStyle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8/10/2026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chemeClr val="bg1"/>
                </a:solidFill>
                <a:latin typeface="Tahoma"/>
                <a:cs typeface="Tahoma"/>
              </a:defRPr>
            </a:lvl1pPr>
          </a:lstStyle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‹#›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400" b="0" i="0">
                <a:solidFill>
                  <a:schemeClr val="bg1"/>
                </a:solidFill>
                <a:latin typeface="Arial Black"/>
                <a:cs typeface="Arial Black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chemeClr val="bg1"/>
                </a:solidFill>
                <a:latin typeface="Tahoma"/>
                <a:cs typeface="Tahoma"/>
              </a:defRPr>
            </a:lvl1pPr>
          </a:lstStyle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8/10/2026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chemeClr val="bg1"/>
                </a:solidFill>
                <a:latin typeface="Tahoma"/>
                <a:cs typeface="Tahoma"/>
              </a:defRPr>
            </a:lvl1pPr>
          </a:lstStyle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‹#›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chemeClr val="bg1"/>
                </a:solidFill>
                <a:latin typeface="Tahoma"/>
                <a:cs typeface="Tahoma"/>
              </a:defRPr>
            </a:lvl1pPr>
          </a:lstStyle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8/10/2026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chemeClr val="bg1"/>
                </a:solidFill>
                <a:latin typeface="Tahoma"/>
                <a:cs typeface="Tahoma"/>
              </a:defRPr>
            </a:lvl1pPr>
          </a:lstStyle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‹#›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5760085" cy="345440"/>
          </a:xfrm>
          <a:custGeom>
            <a:avLst/>
            <a:gdLst/>
            <a:ahLst/>
            <a:cxnLst/>
            <a:rect l="l" t="t" r="r" b="b"/>
            <a:pathLst>
              <a:path w="5760085" h="345440">
                <a:moveTo>
                  <a:pt x="5759996" y="0"/>
                </a:moveTo>
                <a:lnTo>
                  <a:pt x="0" y="0"/>
                </a:lnTo>
                <a:lnTo>
                  <a:pt x="0" y="345058"/>
                </a:lnTo>
                <a:lnTo>
                  <a:pt x="5759996" y="345058"/>
                </a:lnTo>
                <a:lnTo>
                  <a:pt x="5759996" y="0"/>
                </a:lnTo>
                <a:close/>
              </a:path>
            </a:pathLst>
          </a:custGeom>
          <a:solidFill>
            <a:srgbClr val="1313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5300" y="57337"/>
            <a:ext cx="3531870" cy="2444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400" b="0" i="0">
                <a:solidFill>
                  <a:schemeClr val="bg1"/>
                </a:solidFill>
                <a:latin typeface="Arial Black"/>
                <a:cs typeface="Arial Black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86385" y="630325"/>
            <a:ext cx="2736215" cy="173799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100" b="0" i="0">
                <a:solidFill>
                  <a:schemeClr val="tx1"/>
                </a:solidFill>
                <a:latin typeface="Arial Black"/>
                <a:cs typeface="Arial Black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3220" y="3105948"/>
            <a:ext cx="464820" cy="13716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600" b="0" i="0">
                <a:solidFill>
                  <a:schemeClr val="bg1"/>
                </a:solidFill>
                <a:latin typeface="Tahoma"/>
                <a:cs typeface="Tahoma"/>
              </a:defRPr>
            </a:lvl1pPr>
          </a:lstStyle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288290" y="3017710"/>
            <a:ext cx="1326134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8/10/2026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415965" y="3105948"/>
            <a:ext cx="281304" cy="13716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600" b="0" i="0">
                <a:solidFill>
                  <a:schemeClr val="bg1"/>
                </a:solidFill>
                <a:latin typeface="Tahoma"/>
                <a:cs typeface="Tahoma"/>
              </a:defRPr>
            </a:lvl1pPr>
          </a:lstStyle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‹#›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slide" Target="slide3.xml"/><Relationship Id="rId7" Type="http://schemas.openxmlformats.org/officeDocument/2006/relationships/slide" Target="slide46.xml"/><Relationship Id="rId12" Type="http://schemas.openxmlformats.org/officeDocument/2006/relationships/slide" Target="slide1.xm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slide" Target="slide37.xml"/><Relationship Id="rId11" Type="http://schemas.openxmlformats.org/officeDocument/2006/relationships/image" Target="../media/image7.png"/><Relationship Id="rId5" Type="http://schemas.openxmlformats.org/officeDocument/2006/relationships/slide" Target="slide23.xml"/><Relationship Id="rId10" Type="http://schemas.openxmlformats.org/officeDocument/2006/relationships/image" Target="../media/image6.png"/><Relationship Id="rId4" Type="http://schemas.openxmlformats.org/officeDocument/2006/relationships/slide" Target="slide14.xml"/><Relationship Id="rId9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slide" Target="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slide" Target="slide1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slide" Target="slide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slide" Target="slide1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5" Type="http://schemas.openxmlformats.org/officeDocument/2006/relationships/slide" Target="slide15.xml"/><Relationship Id="rId4" Type="http://schemas.openxmlformats.org/officeDocument/2006/relationships/image" Target="../media/image16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7" Type="http://schemas.openxmlformats.org/officeDocument/2006/relationships/slide" Target="slide15.xml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slide" Target="slide15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slide" Target="slide15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5" Type="http://schemas.openxmlformats.org/officeDocument/2006/relationships/slide" Target="slide15.xml"/><Relationship Id="rId4" Type="http://schemas.openxmlformats.org/officeDocument/2006/relationships/image" Target="../media/image24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.xml"/><Relationship Id="rId5" Type="http://schemas.openxmlformats.org/officeDocument/2006/relationships/slide" Target="slide15.xml"/><Relationship Id="rId4" Type="http://schemas.openxmlformats.org/officeDocument/2006/relationships/image" Target="../media/image27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slide" Target="slide15.xml"/><Relationship Id="rId2" Type="http://schemas.openxmlformats.org/officeDocument/2006/relationships/image" Target="../media/image28.jpg"/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slide" Target="slide15.xml"/><Relationship Id="rId2" Type="http://schemas.openxmlformats.org/officeDocument/2006/relationships/image" Target="../media/image29.jpg"/><Relationship Id="rId1" Type="http://schemas.openxmlformats.org/officeDocument/2006/relationships/slideLayout" Target="../slideLayouts/slideLayout5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slide" Target="slide15.xml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5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slide" Target="slide15.xml"/><Relationship Id="rId2" Type="http://schemas.openxmlformats.org/officeDocument/2006/relationships/image" Target="../media/image31.jpg"/><Relationship Id="rId1" Type="http://schemas.openxmlformats.org/officeDocument/2006/relationships/slideLayout" Target="../slideLayouts/slideLayout5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slide" Target="slide15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7" Type="http://schemas.openxmlformats.org/officeDocument/2006/relationships/slide" Target="slide15.xml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.xml"/><Relationship Id="rId5" Type="http://schemas.openxmlformats.org/officeDocument/2006/relationships/slide" Target="slide15.xml"/><Relationship Id="rId4" Type="http://schemas.openxmlformats.org/officeDocument/2006/relationships/image" Target="../media/image39.png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5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5" Type="http://schemas.openxmlformats.org/officeDocument/2006/relationships/slide" Target="slide1.xml"/><Relationship Id="rId4" Type="http://schemas.openxmlformats.org/officeDocument/2006/relationships/image" Target="../media/image41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2" Type="http://schemas.openxmlformats.org/officeDocument/2006/relationships/image" Target="../media/image42.jpg"/><Relationship Id="rId1" Type="http://schemas.openxmlformats.org/officeDocument/2006/relationships/slideLayout" Target="../slideLayouts/slideLayout5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slide" Target="slide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2" Type="http://schemas.openxmlformats.org/officeDocument/2006/relationships/image" Target="../media/image43.jp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4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5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jp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49.png"/><Relationship Id="rId5" Type="http://schemas.openxmlformats.org/officeDocument/2006/relationships/image" Target="../media/image48.png"/><Relationship Id="rId4" Type="http://schemas.openxmlformats.org/officeDocument/2006/relationships/slide" Target="slide1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slide" Target="slide1.xml"/><Relationship Id="rId1" Type="http://schemas.openxmlformats.org/officeDocument/2006/relationships/slideLayout" Target="../slideLayouts/slideLayout5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slide" Target="slide1.xml"/><Relationship Id="rId1" Type="http://schemas.openxmlformats.org/officeDocument/2006/relationships/slideLayout" Target="../slideLayouts/slideLayout5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5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5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5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5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5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-4" y="793774"/>
            <a:ext cx="5760085" cy="2122805"/>
          </a:xfrm>
          <a:custGeom>
            <a:avLst/>
            <a:gdLst/>
            <a:ahLst/>
            <a:cxnLst/>
            <a:rect l="l" t="t" r="r" b="b"/>
            <a:pathLst>
              <a:path w="5760085" h="2122805">
                <a:moveTo>
                  <a:pt x="0" y="2122223"/>
                </a:moveTo>
                <a:lnTo>
                  <a:pt x="5760073" y="2122223"/>
                </a:lnTo>
                <a:lnTo>
                  <a:pt x="5760073" y="0"/>
                </a:lnTo>
                <a:lnTo>
                  <a:pt x="0" y="0"/>
                </a:lnTo>
                <a:lnTo>
                  <a:pt x="0" y="2122223"/>
                </a:lnTo>
                <a:close/>
              </a:path>
            </a:pathLst>
          </a:custGeom>
          <a:solidFill>
            <a:srgbClr val="13132C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" name="object 3"/>
          <p:cNvGrpSpPr/>
          <p:nvPr/>
        </p:nvGrpSpPr>
        <p:grpSpPr>
          <a:xfrm>
            <a:off x="-18143" y="-12079"/>
            <a:ext cx="5760085" cy="794385"/>
            <a:chOff x="-4" y="-19"/>
            <a:chExt cx="5760085" cy="794385"/>
          </a:xfrm>
        </p:grpSpPr>
        <p:sp>
          <p:nvSpPr>
            <p:cNvPr id="4" name="object 4"/>
            <p:cNvSpPr/>
            <p:nvPr/>
          </p:nvSpPr>
          <p:spPr>
            <a:xfrm>
              <a:off x="-4" y="-19"/>
              <a:ext cx="5760085" cy="713105"/>
            </a:xfrm>
            <a:custGeom>
              <a:avLst/>
              <a:gdLst/>
              <a:ahLst/>
              <a:cxnLst/>
              <a:rect l="l" t="t" r="r" b="b"/>
              <a:pathLst>
                <a:path w="5760085" h="713105">
                  <a:moveTo>
                    <a:pt x="0" y="712813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712813"/>
                  </a:lnTo>
                  <a:lnTo>
                    <a:pt x="0" y="712813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-4" y="712793"/>
              <a:ext cx="5760085" cy="81280"/>
            </a:xfrm>
            <a:custGeom>
              <a:avLst/>
              <a:gdLst/>
              <a:ahLst/>
              <a:cxnLst/>
              <a:rect l="l" t="t" r="r" b="b"/>
              <a:pathLst>
                <a:path w="5760085" h="81279">
                  <a:moveTo>
                    <a:pt x="0" y="80981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80981"/>
                  </a:lnTo>
                  <a:lnTo>
                    <a:pt x="0" y="80981"/>
                  </a:lnTo>
                  <a:close/>
                </a:path>
              </a:pathLst>
            </a:custGeom>
            <a:solidFill>
              <a:srgbClr val="71718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-4" y="2867399"/>
            <a:ext cx="5760085" cy="372745"/>
            <a:chOff x="-4" y="2867399"/>
            <a:chExt cx="5760085" cy="372745"/>
          </a:xfrm>
        </p:grpSpPr>
        <p:sp>
          <p:nvSpPr>
            <p:cNvPr id="7" name="object 7"/>
            <p:cNvSpPr/>
            <p:nvPr/>
          </p:nvSpPr>
          <p:spPr>
            <a:xfrm>
              <a:off x="-4" y="2915997"/>
              <a:ext cx="5760085" cy="324485"/>
            </a:xfrm>
            <a:custGeom>
              <a:avLst/>
              <a:gdLst/>
              <a:ahLst/>
              <a:cxnLst/>
              <a:rect l="l" t="t" r="r" b="b"/>
              <a:pathLst>
                <a:path w="5760085" h="324485">
                  <a:moveTo>
                    <a:pt x="0" y="324023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324023"/>
                  </a:lnTo>
                  <a:lnTo>
                    <a:pt x="0" y="324023"/>
                  </a:lnTo>
                  <a:close/>
                </a:path>
              </a:pathLst>
            </a:custGeom>
            <a:solidFill>
              <a:srgbClr val="66666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-4" y="2867399"/>
              <a:ext cx="5760085" cy="48895"/>
            </a:xfrm>
            <a:custGeom>
              <a:avLst/>
              <a:gdLst/>
              <a:ahLst/>
              <a:cxnLst/>
              <a:rect l="l" t="t" r="r" b="b"/>
              <a:pathLst>
                <a:path w="5760085" h="48894">
                  <a:moveTo>
                    <a:pt x="0" y="48598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48598"/>
                  </a:lnTo>
                  <a:lnTo>
                    <a:pt x="0" y="48598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9" name="object 9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82435" y="86437"/>
            <a:ext cx="539964" cy="539964"/>
          </a:xfrm>
          <a:prstGeom prst="rect">
            <a:avLst/>
          </a:prstGeom>
        </p:spPr>
      </p:pic>
      <p:pic>
        <p:nvPicPr>
          <p:cNvPr id="10" name="object 10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5009616" y="122453"/>
            <a:ext cx="467944" cy="467944"/>
          </a:xfrm>
          <a:prstGeom prst="rect">
            <a:avLst/>
          </a:prstGeom>
        </p:spPr>
      </p:pic>
      <p:sp>
        <p:nvSpPr>
          <p:cNvPr id="11" name="object 11"/>
          <p:cNvSpPr txBox="1"/>
          <p:nvPr/>
        </p:nvSpPr>
        <p:spPr>
          <a:xfrm>
            <a:off x="4896220" y="580936"/>
            <a:ext cx="720090" cy="11683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600" i="1" dirty="0">
                <a:solidFill>
                  <a:srgbClr val="FFFFFF"/>
                </a:solidFill>
                <a:latin typeface="Calibri"/>
                <a:cs typeface="Calibri"/>
              </a:rPr>
              <a:t>In</a:t>
            </a:r>
            <a:r>
              <a:rPr sz="600" i="1" spc="12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600" i="1" dirty="0">
                <a:solidFill>
                  <a:srgbClr val="FFFFFF"/>
                </a:solidFill>
                <a:latin typeface="Calibri"/>
                <a:cs typeface="Calibri"/>
              </a:rPr>
              <a:t>collaboration</a:t>
            </a:r>
            <a:r>
              <a:rPr sz="600" i="1" spc="12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600" i="1" spc="-20" dirty="0">
                <a:solidFill>
                  <a:srgbClr val="FFFFFF"/>
                </a:solidFill>
                <a:latin typeface="Calibri"/>
                <a:cs typeface="Calibri"/>
              </a:rPr>
              <a:t>with</a:t>
            </a:r>
            <a:endParaRPr sz="600" dirty="0">
              <a:latin typeface="Calibri"/>
              <a:cs typeface="Calibri"/>
            </a:endParaRPr>
          </a:p>
        </p:txBody>
      </p:sp>
      <p:sp>
        <p:nvSpPr>
          <p:cNvPr id="12" name="object 12" descr="$PPTXTitle"/>
          <p:cNvSpPr txBox="1">
            <a:spLocks noGrp="1"/>
          </p:cNvSpPr>
          <p:nvPr>
            <p:ph type="title"/>
          </p:nvPr>
        </p:nvSpPr>
        <p:spPr>
          <a:xfrm>
            <a:off x="1692363" y="937704"/>
            <a:ext cx="2373630" cy="54165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3350" spc="-180" dirty="0"/>
              <a:t>RANPilotAI</a:t>
            </a:r>
            <a:endParaRPr sz="3350" dirty="0"/>
          </a:p>
        </p:txBody>
      </p:sp>
      <p:sp>
        <p:nvSpPr>
          <p:cNvPr id="13" name="object 13"/>
          <p:cNvSpPr txBox="1"/>
          <p:nvPr/>
        </p:nvSpPr>
        <p:spPr>
          <a:xfrm>
            <a:off x="880452" y="1373451"/>
            <a:ext cx="3999229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400" i="1" spc="70" dirty="0">
                <a:solidFill>
                  <a:srgbClr val="E5E5EB"/>
                </a:solidFill>
                <a:latin typeface="Calibri"/>
                <a:cs typeface="Calibri"/>
              </a:rPr>
              <a:t>AI-</a:t>
            </a:r>
            <a:r>
              <a:rPr sz="1400" i="1" spc="-10" dirty="0">
                <a:solidFill>
                  <a:srgbClr val="E5E5EB"/>
                </a:solidFill>
                <a:latin typeface="Calibri"/>
                <a:cs typeface="Calibri"/>
              </a:rPr>
              <a:t>Powered</a:t>
            </a:r>
            <a:r>
              <a:rPr sz="1400" i="1" spc="150" dirty="0">
                <a:solidFill>
                  <a:srgbClr val="E5E5EB"/>
                </a:solidFill>
                <a:latin typeface="Calibri"/>
                <a:cs typeface="Calibri"/>
              </a:rPr>
              <a:t> </a:t>
            </a:r>
            <a:r>
              <a:rPr sz="1400" i="1" spc="105" dirty="0">
                <a:solidFill>
                  <a:srgbClr val="E5E5EB"/>
                </a:solidFill>
                <a:latin typeface="Calibri"/>
                <a:cs typeface="Calibri"/>
              </a:rPr>
              <a:t>RAN</a:t>
            </a:r>
            <a:r>
              <a:rPr sz="1400" i="1" spc="150" dirty="0">
                <a:solidFill>
                  <a:srgbClr val="E5E5EB"/>
                </a:solidFill>
                <a:latin typeface="Calibri"/>
                <a:cs typeface="Calibri"/>
              </a:rPr>
              <a:t> </a:t>
            </a:r>
            <a:r>
              <a:rPr sz="1400" i="1" dirty="0">
                <a:solidFill>
                  <a:srgbClr val="E5E5EB"/>
                </a:solidFill>
                <a:latin typeface="Calibri"/>
                <a:cs typeface="Calibri"/>
              </a:rPr>
              <a:t>Performance</a:t>
            </a:r>
            <a:r>
              <a:rPr sz="1400" i="1" spc="150" dirty="0">
                <a:solidFill>
                  <a:srgbClr val="E5E5EB"/>
                </a:solidFill>
                <a:latin typeface="Calibri"/>
                <a:cs typeface="Calibri"/>
              </a:rPr>
              <a:t> </a:t>
            </a:r>
            <a:r>
              <a:rPr sz="1400" i="1" dirty="0">
                <a:solidFill>
                  <a:srgbClr val="E5E5EB"/>
                </a:solidFill>
                <a:latin typeface="Calibri"/>
                <a:cs typeface="Calibri"/>
              </a:rPr>
              <a:t>Optimization</a:t>
            </a:r>
            <a:r>
              <a:rPr sz="1400" i="1" spc="150" dirty="0">
                <a:solidFill>
                  <a:srgbClr val="E5E5EB"/>
                </a:solidFill>
                <a:latin typeface="Calibri"/>
                <a:cs typeface="Calibri"/>
              </a:rPr>
              <a:t> </a:t>
            </a:r>
            <a:r>
              <a:rPr sz="1400" i="1" spc="-10" dirty="0">
                <a:solidFill>
                  <a:srgbClr val="E5E5EB"/>
                </a:solidFill>
                <a:latin typeface="Calibri"/>
                <a:cs typeface="Calibri"/>
              </a:rPr>
              <a:t>Platform</a:t>
            </a:r>
            <a:endParaRPr sz="1400">
              <a:latin typeface="Calibri"/>
              <a:cs typeface="Calibri"/>
            </a:endParaRPr>
          </a:p>
        </p:txBody>
      </p:sp>
      <p:sp>
        <p:nvSpPr>
          <p:cNvPr id="14" name="object 14"/>
          <p:cNvSpPr/>
          <p:nvPr/>
        </p:nvSpPr>
        <p:spPr>
          <a:xfrm>
            <a:off x="863970" y="1684815"/>
            <a:ext cx="4032250" cy="0"/>
          </a:xfrm>
          <a:custGeom>
            <a:avLst/>
            <a:gdLst/>
            <a:ahLst/>
            <a:cxnLst/>
            <a:rect l="l" t="t" r="r" b="b"/>
            <a:pathLst>
              <a:path w="4032250">
                <a:moveTo>
                  <a:pt x="0" y="0"/>
                </a:moveTo>
                <a:lnTo>
                  <a:pt x="4032122" y="0"/>
                </a:lnTo>
              </a:path>
            </a:pathLst>
          </a:custGeom>
          <a:ln w="10122">
            <a:solidFill>
              <a:srgbClr val="CA5A5A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/>
          <p:nvPr/>
        </p:nvSpPr>
        <p:spPr>
          <a:xfrm>
            <a:off x="1440013" y="2413795"/>
            <a:ext cx="2880360" cy="0"/>
          </a:xfrm>
          <a:custGeom>
            <a:avLst/>
            <a:gdLst/>
            <a:ahLst/>
            <a:cxnLst/>
            <a:rect l="l" t="t" r="r" b="b"/>
            <a:pathLst>
              <a:path w="2880360">
                <a:moveTo>
                  <a:pt x="0" y="0"/>
                </a:moveTo>
                <a:lnTo>
                  <a:pt x="2880037" y="0"/>
                </a:lnTo>
              </a:path>
            </a:pathLst>
          </a:custGeom>
          <a:ln w="5060">
            <a:solidFill>
              <a:srgbClr val="F7F7F8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 txBox="1"/>
          <p:nvPr/>
        </p:nvSpPr>
        <p:spPr>
          <a:xfrm>
            <a:off x="888276" y="1651616"/>
            <a:ext cx="3983990" cy="967105"/>
          </a:xfrm>
          <a:prstGeom prst="rect">
            <a:avLst/>
          </a:prstGeom>
        </p:spPr>
        <p:txBody>
          <a:bodyPr vert="horz" wrap="square" lIns="0" tIns="5778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455"/>
              </a:spcBef>
            </a:pPr>
            <a:r>
              <a:rPr sz="1100" i="1" dirty="0">
                <a:solidFill>
                  <a:srgbClr val="EBEBEF"/>
                </a:solidFill>
                <a:latin typeface="Calibri"/>
                <a:cs typeface="Calibri"/>
              </a:rPr>
              <a:t>Graduation</a:t>
            </a:r>
            <a:r>
              <a:rPr sz="1100" i="1" spc="130" dirty="0">
                <a:solidFill>
                  <a:srgbClr val="EBEBEF"/>
                </a:solidFill>
                <a:latin typeface="Calibri"/>
                <a:cs typeface="Calibri"/>
              </a:rPr>
              <a:t> </a:t>
            </a:r>
            <a:r>
              <a:rPr sz="1100" i="1" dirty="0">
                <a:solidFill>
                  <a:srgbClr val="EBEBEF"/>
                </a:solidFill>
                <a:latin typeface="Calibri"/>
                <a:cs typeface="Calibri"/>
              </a:rPr>
              <a:t>Project</a:t>
            </a:r>
            <a:r>
              <a:rPr sz="1100" i="1" spc="130" dirty="0">
                <a:solidFill>
                  <a:srgbClr val="EBEBEF"/>
                </a:solidFill>
                <a:latin typeface="Calibri"/>
                <a:cs typeface="Calibri"/>
              </a:rPr>
              <a:t> </a:t>
            </a:r>
            <a:r>
              <a:rPr sz="1100" i="1" spc="295" dirty="0">
                <a:solidFill>
                  <a:srgbClr val="EBEBEF"/>
                </a:solidFill>
                <a:latin typeface="Calibri"/>
                <a:cs typeface="Calibri"/>
              </a:rPr>
              <a:t>•</a:t>
            </a:r>
            <a:r>
              <a:rPr sz="1100" i="1" spc="135" dirty="0">
                <a:solidFill>
                  <a:srgbClr val="EBEBEF"/>
                </a:solidFill>
                <a:latin typeface="Calibri"/>
                <a:cs typeface="Calibri"/>
              </a:rPr>
              <a:t> </a:t>
            </a:r>
            <a:r>
              <a:rPr sz="1100" i="1" spc="-20" dirty="0">
                <a:solidFill>
                  <a:srgbClr val="EBEBEF"/>
                </a:solidFill>
                <a:latin typeface="Calibri"/>
                <a:cs typeface="Calibri"/>
              </a:rPr>
              <a:t>2026</a:t>
            </a:r>
            <a:endParaRPr sz="1100">
              <a:latin typeface="Calibri"/>
              <a:cs typeface="Calibri"/>
            </a:endParaRPr>
          </a:p>
          <a:p>
            <a:pPr marL="12065" marR="5080" algn="ctr">
              <a:lnSpc>
                <a:spcPct val="114399"/>
              </a:lnSpc>
              <a:spcBef>
                <a:spcPts val="185"/>
              </a:spcBef>
              <a:tabLst>
                <a:tab pos="1264920" algn="l"/>
                <a:tab pos="1353820" algn="l"/>
                <a:tab pos="2575560" algn="l"/>
              </a:tabLst>
            </a:pPr>
            <a:r>
              <a:rPr sz="1200" spc="-180" dirty="0">
                <a:solidFill>
                  <a:srgbClr val="FFFFFF"/>
                </a:solidFill>
                <a:latin typeface="Arial Black"/>
                <a:cs typeface="Arial Black"/>
              </a:rPr>
              <a:t>Tasneem</a:t>
            </a:r>
            <a:r>
              <a:rPr sz="1200" spc="8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200" spc="-10" dirty="0">
                <a:solidFill>
                  <a:srgbClr val="FFFFFF"/>
                </a:solidFill>
                <a:latin typeface="Arial Black"/>
                <a:cs typeface="Arial Black"/>
              </a:rPr>
              <a:t>Amein</a:t>
            </a:r>
            <a:r>
              <a:rPr sz="1200" dirty="0">
                <a:solidFill>
                  <a:srgbClr val="FFFFFF"/>
                </a:solidFill>
                <a:latin typeface="Arial Black"/>
                <a:cs typeface="Arial Black"/>
              </a:rPr>
              <a:t>	</a:t>
            </a:r>
            <a:r>
              <a:rPr sz="1200" spc="420" dirty="0">
                <a:solidFill>
                  <a:srgbClr val="FFFFFF"/>
                </a:solidFill>
                <a:latin typeface="Arial Black"/>
                <a:cs typeface="Arial Black"/>
              </a:rPr>
              <a:t>•</a:t>
            </a:r>
            <a:r>
              <a:rPr sz="1200" spc="28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200" spc="-140" dirty="0">
                <a:solidFill>
                  <a:srgbClr val="FFFFFF"/>
                </a:solidFill>
                <a:latin typeface="Arial Black"/>
                <a:cs typeface="Arial Black"/>
              </a:rPr>
              <a:t>Ibrahim</a:t>
            </a:r>
            <a:r>
              <a:rPr sz="1200" spc="55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200" spc="-20" dirty="0">
                <a:solidFill>
                  <a:srgbClr val="FFFFFF"/>
                </a:solidFill>
                <a:latin typeface="Arial Black"/>
                <a:cs typeface="Arial Black"/>
              </a:rPr>
              <a:t>Samy</a:t>
            </a:r>
            <a:r>
              <a:rPr sz="1200" dirty="0">
                <a:solidFill>
                  <a:srgbClr val="FFFFFF"/>
                </a:solidFill>
                <a:latin typeface="Arial Black"/>
                <a:cs typeface="Arial Black"/>
              </a:rPr>
              <a:t>	</a:t>
            </a:r>
            <a:r>
              <a:rPr sz="1200" spc="420" dirty="0">
                <a:solidFill>
                  <a:srgbClr val="FFFFFF"/>
                </a:solidFill>
                <a:latin typeface="Arial Black"/>
                <a:cs typeface="Arial Black"/>
              </a:rPr>
              <a:t>•</a:t>
            </a:r>
            <a:r>
              <a:rPr sz="1200" spc="26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200" spc="-140" dirty="0">
                <a:solidFill>
                  <a:srgbClr val="FFFFFF"/>
                </a:solidFill>
                <a:latin typeface="Arial Black"/>
                <a:cs typeface="Arial Black"/>
              </a:rPr>
              <a:t>Khaled</a:t>
            </a:r>
            <a:r>
              <a:rPr sz="1200" spc="4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200" spc="-130" dirty="0">
                <a:solidFill>
                  <a:srgbClr val="FFFFFF"/>
                </a:solidFill>
                <a:latin typeface="Arial Black"/>
                <a:cs typeface="Arial Black"/>
              </a:rPr>
              <a:t>Mogahed Mahmoud</a:t>
            </a:r>
            <a:r>
              <a:rPr sz="1200" spc="55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200" spc="-10" dirty="0">
                <a:solidFill>
                  <a:srgbClr val="FFFFFF"/>
                </a:solidFill>
                <a:latin typeface="Arial Black"/>
                <a:cs typeface="Arial Black"/>
              </a:rPr>
              <a:t>Ashraf</a:t>
            </a:r>
            <a:r>
              <a:rPr sz="1200" dirty="0">
                <a:solidFill>
                  <a:srgbClr val="FFFFFF"/>
                </a:solidFill>
                <a:latin typeface="Arial Black"/>
                <a:cs typeface="Arial Black"/>
              </a:rPr>
              <a:t>	</a:t>
            </a:r>
            <a:r>
              <a:rPr sz="1200" spc="420" dirty="0">
                <a:solidFill>
                  <a:srgbClr val="FFFFFF"/>
                </a:solidFill>
                <a:latin typeface="Arial Black"/>
                <a:cs typeface="Arial Black"/>
              </a:rPr>
              <a:t>•</a:t>
            </a:r>
            <a:r>
              <a:rPr sz="1200" spc="245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200" spc="-110" dirty="0">
                <a:solidFill>
                  <a:srgbClr val="FFFFFF"/>
                </a:solidFill>
                <a:latin typeface="Arial Black"/>
                <a:cs typeface="Arial Black"/>
              </a:rPr>
              <a:t>Mohab</a:t>
            </a:r>
            <a:r>
              <a:rPr sz="1200" spc="3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200" spc="-20" dirty="0">
                <a:solidFill>
                  <a:srgbClr val="FFFFFF"/>
                </a:solidFill>
                <a:latin typeface="Arial Black"/>
                <a:cs typeface="Arial Black"/>
              </a:rPr>
              <a:t>Tarek</a:t>
            </a:r>
            <a:endParaRPr sz="1200">
              <a:latin typeface="Arial Black"/>
              <a:cs typeface="Arial Black"/>
            </a:endParaRPr>
          </a:p>
          <a:p>
            <a:pPr algn="ctr">
              <a:lnSpc>
                <a:spcPct val="100000"/>
              </a:lnSpc>
              <a:spcBef>
                <a:spcPts val="940"/>
              </a:spcBef>
            </a:pPr>
            <a:r>
              <a:rPr sz="1100" spc="-40" dirty="0">
                <a:solidFill>
                  <a:srgbClr val="E5E5EB"/>
                </a:solidFill>
                <a:latin typeface="Tahoma"/>
                <a:cs typeface="Tahoma"/>
              </a:rPr>
              <a:t>Supervisor:</a:t>
            </a:r>
            <a:r>
              <a:rPr sz="1100" spc="20" dirty="0">
                <a:solidFill>
                  <a:srgbClr val="E5E5EB"/>
                </a:solidFill>
                <a:latin typeface="Tahoma"/>
                <a:cs typeface="Tahoma"/>
              </a:rPr>
              <a:t> </a:t>
            </a:r>
            <a:r>
              <a:rPr sz="1100" dirty="0">
                <a:solidFill>
                  <a:srgbClr val="E5E5EB"/>
                </a:solidFill>
                <a:latin typeface="Arial Black"/>
                <a:cs typeface="Arial Black"/>
              </a:rPr>
              <a:t>Dr.</a:t>
            </a:r>
            <a:r>
              <a:rPr sz="1100" spc="-20" dirty="0">
                <a:solidFill>
                  <a:srgbClr val="E5E5EB"/>
                </a:solidFill>
                <a:latin typeface="Arial Black"/>
                <a:cs typeface="Arial Black"/>
              </a:rPr>
              <a:t> </a:t>
            </a:r>
            <a:r>
              <a:rPr sz="1100" spc="-150" dirty="0">
                <a:solidFill>
                  <a:srgbClr val="E5E5EB"/>
                </a:solidFill>
                <a:latin typeface="Arial Black"/>
                <a:cs typeface="Arial Black"/>
              </a:rPr>
              <a:t>Salma</a:t>
            </a:r>
            <a:r>
              <a:rPr sz="1100" spc="30" dirty="0">
                <a:solidFill>
                  <a:srgbClr val="E5E5EB"/>
                </a:solidFill>
                <a:latin typeface="Arial Black"/>
                <a:cs typeface="Arial Black"/>
              </a:rPr>
              <a:t> </a:t>
            </a:r>
            <a:r>
              <a:rPr sz="1100" spc="-10" dirty="0">
                <a:solidFill>
                  <a:srgbClr val="E5E5EB"/>
                </a:solidFill>
                <a:latin typeface="Arial Black"/>
                <a:cs typeface="Arial Black"/>
              </a:rPr>
              <a:t>Sobhy</a:t>
            </a:r>
            <a:endParaRPr sz="1100">
              <a:latin typeface="Arial Black"/>
              <a:cs typeface="Arial Black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550087" y="2954907"/>
            <a:ext cx="86677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100" spc="-140" dirty="0">
                <a:solidFill>
                  <a:srgbClr val="FFFFFF"/>
                </a:solidFill>
                <a:latin typeface="Arial Black"/>
                <a:cs typeface="Arial Black"/>
              </a:rPr>
              <a:t>Intake</a:t>
            </a:r>
            <a:r>
              <a:rPr sz="1100" spc="3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100" dirty="0">
                <a:solidFill>
                  <a:srgbClr val="FFFFFF"/>
                </a:solidFill>
                <a:latin typeface="Arial Black"/>
                <a:cs typeface="Arial Black"/>
              </a:rPr>
              <a:t>46</a:t>
            </a:r>
            <a:r>
              <a:rPr sz="1100" spc="375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100" spc="325" dirty="0">
                <a:solidFill>
                  <a:srgbClr val="FFFFFF"/>
                </a:solidFill>
                <a:latin typeface="Arial Black"/>
                <a:cs typeface="Arial Black"/>
              </a:rPr>
              <a:t>•</a:t>
            </a:r>
            <a:endParaRPr sz="1100">
              <a:latin typeface="Arial Black"/>
              <a:cs typeface="Arial Black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1619548" y="2954907"/>
            <a:ext cx="359092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100" spc="-120" dirty="0">
                <a:solidFill>
                  <a:srgbClr val="FFFFFF"/>
                </a:solidFill>
                <a:latin typeface="Arial Black"/>
                <a:cs typeface="Arial Black"/>
              </a:rPr>
              <a:t>Telco-Cloud</a:t>
            </a:r>
            <a:r>
              <a:rPr sz="1100" spc="25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100" spc="-85" dirty="0">
                <a:solidFill>
                  <a:srgbClr val="FFFFFF"/>
                </a:solidFill>
                <a:latin typeface="Arial Black"/>
                <a:cs typeface="Arial Black"/>
              </a:rPr>
              <a:t>Track</a:t>
            </a:r>
            <a:r>
              <a:rPr sz="1100" spc="85" dirty="0">
                <a:solidFill>
                  <a:srgbClr val="FFFFFF"/>
                </a:solidFill>
                <a:latin typeface="Arial Black"/>
                <a:cs typeface="Arial Black"/>
              </a:rPr>
              <a:t>  </a:t>
            </a:r>
            <a:r>
              <a:rPr sz="1100" spc="375" dirty="0">
                <a:solidFill>
                  <a:srgbClr val="FFFFFF"/>
                </a:solidFill>
                <a:latin typeface="Arial Black"/>
                <a:cs typeface="Arial Black"/>
              </a:rPr>
              <a:t>•</a:t>
            </a:r>
            <a:r>
              <a:rPr sz="1100" spc="20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100" spc="-120" dirty="0">
                <a:solidFill>
                  <a:srgbClr val="FFFFFF"/>
                </a:solidFill>
                <a:latin typeface="Arial Black"/>
                <a:cs typeface="Arial Black"/>
              </a:rPr>
              <a:t>Information</a:t>
            </a:r>
            <a:r>
              <a:rPr sz="1100" spc="25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100" spc="-145" dirty="0">
                <a:solidFill>
                  <a:srgbClr val="FFFFFF"/>
                </a:solidFill>
                <a:latin typeface="Arial Black"/>
                <a:cs typeface="Arial Black"/>
              </a:rPr>
              <a:t>Technology</a:t>
            </a:r>
            <a:r>
              <a:rPr sz="1100" spc="3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100" spc="-85" dirty="0">
                <a:solidFill>
                  <a:srgbClr val="FFFFFF"/>
                </a:solidFill>
                <a:latin typeface="Arial Black"/>
                <a:cs typeface="Arial Black"/>
              </a:rPr>
              <a:t>Institute</a:t>
            </a:r>
            <a:endParaRPr sz="1100">
              <a:latin typeface="Arial Black"/>
              <a:cs typeface="Arial Black"/>
            </a:endParaRPr>
          </a:p>
        </p:txBody>
      </p:sp>
    </p:spTree>
  </p:cSld>
  <p:clrMapOvr>
    <a:masterClrMapping/>
  </p:clrMapOvr>
  <p:transition>
    <p:cut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pc="-140" dirty="0"/>
              <a:t>Agenda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4653" y="861132"/>
            <a:ext cx="175450" cy="175450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142786" y="868141"/>
            <a:ext cx="7937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spc="-50" dirty="0">
                <a:solidFill>
                  <a:srgbClr val="E7E7EA"/>
                </a:solidFill>
                <a:latin typeface="Tahoma"/>
                <a:cs typeface="Tahoma"/>
              </a:rPr>
              <a:t>1</a:t>
            </a:r>
            <a:endParaRPr sz="800">
              <a:latin typeface="Tahoma"/>
              <a:cs typeface="Tahoma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43636" y="819752"/>
            <a:ext cx="2886710" cy="1798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spc="-45" dirty="0">
                <a:solidFill>
                  <a:srgbClr val="13132C"/>
                </a:solidFill>
                <a:latin typeface="Tahoma"/>
                <a:cs typeface="Tahoma"/>
                <a:hlinkClick r:id="rId3" action="ppaction://hlinksldjump"/>
              </a:rPr>
              <a:t>Introduction,</a:t>
            </a:r>
            <a:r>
              <a:rPr sz="1200" spc="5" dirty="0">
                <a:solidFill>
                  <a:srgbClr val="13132C"/>
                </a:solidFill>
                <a:latin typeface="Tahoma"/>
                <a:cs typeface="Tahoma"/>
                <a:hlinkClick r:id="rId3" action="ppaction://hlinksldjump"/>
              </a:rPr>
              <a:t> </a:t>
            </a:r>
            <a:r>
              <a:rPr sz="1200" spc="-35" dirty="0">
                <a:solidFill>
                  <a:srgbClr val="13132C"/>
                </a:solidFill>
                <a:latin typeface="Tahoma"/>
                <a:cs typeface="Tahoma"/>
                <a:hlinkClick r:id="rId3" action="ppaction://hlinksldjump"/>
              </a:rPr>
              <a:t>Architecture</a:t>
            </a:r>
            <a:r>
              <a:rPr sz="1200" spc="10" dirty="0">
                <a:solidFill>
                  <a:srgbClr val="13132C"/>
                </a:solidFill>
                <a:latin typeface="Tahoma"/>
                <a:cs typeface="Tahoma"/>
                <a:hlinkClick r:id="rId3" action="ppaction://hlinksldjump"/>
              </a:rPr>
              <a:t> </a:t>
            </a:r>
            <a:r>
              <a:rPr sz="1200" spc="70" dirty="0">
                <a:solidFill>
                  <a:srgbClr val="13132C"/>
                </a:solidFill>
                <a:latin typeface="Tahoma"/>
                <a:cs typeface="Tahoma"/>
                <a:hlinkClick r:id="rId3" action="ppaction://hlinksldjump"/>
              </a:rPr>
              <a:t>&amp;</a:t>
            </a:r>
            <a:r>
              <a:rPr sz="1200" spc="10" dirty="0">
                <a:solidFill>
                  <a:srgbClr val="13132C"/>
                </a:solidFill>
                <a:latin typeface="Tahoma"/>
                <a:cs typeface="Tahoma"/>
                <a:hlinkClick r:id="rId3" action="ppaction://hlinksldjump"/>
              </a:rPr>
              <a:t> </a:t>
            </a:r>
            <a:r>
              <a:rPr sz="1200" dirty="0">
                <a:solidFill>
                  <a:srgbClr val="13132C"/>
                </a:solidFill>
                <a:latin typeface="Tahoma"/>
                <a:cs typeface="Tahoma"/>
                <a:hlinkClick r:id="rId3" action="ppaction://hlinksldjump"/>
              </a:rPr>
              <a:t>KPI</a:t>
            </a:r>
            <a:r>
              <a:rPr sz="1200" spc="5" dirty="0">
                <a:solidFill>
                  <a:srgbClr val="13132C"/>
                </a:solidFill>
                <a:latin typeface="Tahoma"/>
                <a:cs typeface="Tahoma"/>
                <a:hlinkClick r:id="rId3" action="ppaction://hlinksldjump"/>
              </a:rPr>
              <a:t> </a:t>
            </a:r>
            <a:r>
              <a:rPr sz="1200" spc="-40" dirty="0">
                <a:solidFill>
                  <a:srgbClr val="13132C"/>
                </a:solidFill>
                <a:latin typeface="Tahoma"/>
                <a:cs typeface="Tahoma"/>
                <a:hlinkClick r:id="rId3" action="ppaction://hlinksldjump"/>
              </a:rPr>
              <a:t>Degradation</a:t>
            </a:r>
            <a:endParaRPr sz="1200" dirty="0">
              <a:latin typeface="Tahoma"/>
              <a:cs typeface="Tahoma"/>
            </a:endParaRPr>
          </a:p>
          <a:p>
            <a:pPr marL="12700" marR="1035050">
              <a:lnSpc>
                <a:spcPct val="217400"/>
              </a:lnSpc>
            </a:pPr>
            <a:r>
              <a:rPr sz="1200" dirty="0">
                <a:solidFill>
                  <a:srgbClr val="13132C"/>
                </a:solidFill>
                <a:latin typeface="Tahoma"/>
                <a:cs typeface="Tahoma"/>
                <a:hlinkClick r:id="rId4" action="ppaction://hlinksldjump"/>
              </a:rPr>
              <a:t>KPI</a:t>
            </a:r>
            <a:r>
              <a:rPr sz="1200" spc="35" dirty="0">
                <a:solidFill>
                  <a:srgbClr val="13132C"/>
                </a:solidFill>
                <a:latin typeface="Tahoma"/>
                <a:cs typeface="Tahoma"/>
                <a:hlinkClick r:id="rId4" action="ppaction://hlinksldjump"/>
              </a:rPr>
              <a:t> </a:t>
            </a:r>
            <a:r>
              <a:rPr sz="1200" spc="-55" dirty="0">
                <a:solidFill>
                  <a:srgbClr val="13132C"/>
                </a:solidFill>
                <a:latin typeface="Tahoma"/>
                <a:cs typeface="Tahoma"/>
                <a:hlinkClick r:id="rId4" action="ppaction://hlinksldjump"/>
              </a:rPr>
              <a:t>Forecasting</a:t>
            </a:r>
            <a:r>
              <a:rPr sz="1200" spc="30" dirty="0">
                <a:solidFill>
                  <a:srgbClr val="13132C"/>
                </a:solidFill>
                <a:latin typeface="Tahoma"/>
                <a:cs typeface="Tahoma"/>
                <a:hlinkClick r:id="rId4" action="ppaction://hlinksldjump"/>
              </a:rPr>
              <a:t> </a:t>
            </a:r>
            <a:r>
              <a:rPr sz="1200" spc="-10" dirty="0">
                <a:solidFill>
                  <a:srgbClr val="13132C"/>
                </a:solidFill>
                <a:latin typeface="Tahoma"/>
                <a:cs typeface="Tahoma"/>
                <a:hlinkClick r:id="rId4" action="ppaction://hlinksldjump"/>
              </a:rPr>
              <a:t>Engine</a:t>
            </a:r>
            <a:r>
              <a:rPr sz="1200" spc="-10" dirty="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sz="1200" spc="-25" dirty="0">
                <a:solidFill>
                  <a:srgbClr val="13132C"/>
                </a:solidFill>
                <a:latin typeface="Tahoma"/>
                <a:cs typeface="Tahoma"/>
                <a:hlinkClick r:id="rId5" action="ppaction://hlinksldjump"/>
              </a:rPr>
              <a:t>Optimization</a:t>
            </a:r>
            <a:r>
              <a:rPr sz="1200" spc="-45" dirty="0">
                <a:solidFill>
                  <a:srgbClr val="13132C"/>
                </a:solidFill>
                <a:latin typeface="Tahoma"/>
                <a:cs typeface="Tahoma"/>
                <a:hlinkClick r:id="rId5" action="ppaction://hlinksldjump"/>
              </a:rPr>
              <a:t> </a:t>
            </a:r>
            <a:r>
              <a:rPr sz="1200" spc="-10" dirty="0">
                <a:solidFill>
                  <a:srgbClr val="13132C"/>
                </a:solidFill>
                <a:latin typeface="Tahoma"/>
                <a:cs typeface="Tahoma"/>
                <a:hlinkClick r:id="rId5" action="ppaction://hlinksldjump"/>
              </a:rPr>
              <a:t>Action</a:t>
            </a:r>
            <a:r>
              <a:rPr sz="1200" spc="-45" dirty="0">
                <a:solidFill>
                  <a:srgbClr val="13132C"/>
                </a:solidFill>
                <a:latin typeface="Tahoma"/>
                <a:cs typeface="Tahoma"/>
                <a:hlinkClick r:id="rId5" action="ppaction://hlinksldjump"/>
              </a:rPr>
              <a:t> </a:t>
            </a:r>
            <a:r>
              <a:rPr sz="1200" spc="-50" dirty="0">
                <a:solidFill>
                  <a:srgbClr val="13132C"/>
                </a:solidFill>
                <a:latin typeface="Tahoma"/>
                <a:cs typeface="Tahoma"/>
                <a:hlinkClick r:id="rId5" action="ppaction://hlinksldjump"/>
              </a:rPr>
              <a:t>Analyzer</a:t>
            </a:r>
            <a:r>
              <a:rPr sz="1200" spc="-50" dirty="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sz="1200" spc="-65" dirty="0">
                <a:solidFill>
                  <a:srgbClr val="13132C"/>
                </a:solidFill>
                <a:latin typeface="Tahoma"/>
                <a:cs typeface="Tahoma"/>
                <a:hlinkClick r:id="rId6" action="ppaction://hlinksldjump"/>
              </a:rPr>
              <a:t>Telecom</a:t>
            </a:r>
            <a:r>
              <a:rPr sz="1200" spc="5" dirty="0">
                <a:solidFill>
                  <a:srgbClr val="13132C"/>
                </a:solidFill>
                <a:latin typeface="Tahoma"/>
                <a:cs typeface="Tahoma"/>
                <a:hlinkClick r:id="rId6" action="ppaction://hlinksldjump"/>
              </a:rPr>
              <a:t> </a:t>
            </a:r>
            <a:r>
              <a:rPr sz="1200" dirty="0">
                <a:solidFill>
                  <a:srgbClr val="13132C"/>
                </a:solidFill>
                <a:latin typeface="Tahoma"/>
                <a:cs typeface="Tahoma"/>
                <a:hlinkClick r:id="rId6" action="ppaction://hlinksldjump"/>
              </a:rPr>
              <a:t>RAG</a:t>
            </a:r>
            <a:r>
              <a:rPr sz="1200" spc="5" dirty="0">
                <a:solidFill>
                  <a:srgbClr val="13132C"/>
                </a:solidFill>
                <a:latin typeface="Tahoma"/>
                <a:cs typeface="Tahoma"/>
                <a:hlinkClick r:id="rId6" action="ppaction://hlinksldjump"/>
              </a:rPr>
              <a:t> </a:t>
            </a:r>
            <a:r>
              <a:rPr sz="1200" spc="-10" dirty="0">
                <a:solidFill>
                  <a:srgbClr val="13132C"/>
                </a:solidFill>
                <a:latin typeface="Tahoma"/>
                <a:cs typeface="Tahoma"/>
                <a:hlinkClick r:id="rId6" action="ppaction://hlinksldjump"/>
              </a:rPr>
              <a:t>Assistant</a:t>
            </a:r>
            <a:endParaRPr sz="1200" dirty="0">
              <a:latin typeface="Tahoma"/>
              <a:cs typeface="Tahoma"/>
            </a:endParaRPr>
          </a:p>
          <a:p>
            <a:pPr>
              <a:lnSpc>
                <a:spcPct val="100000"/>
              </a:lnSpc>
              <a:spcBef>
                <a:spcPts val="240"/>
              </a:spcBef>
            </a:pPr>
            <a:endParaRPr sz="1200" dirty="0">
              <a:latin typeface="Tahoma"/>
              <a:cs typeface="Tahoma"/>
            </a:endParaRPr>
          </a:p>
          <a:p>
            <a:pPr marL="12700">
              <a:lnSpc>
                <a:spcPct val="100000"/>
              </a:lnSpc>
            </a:pPr>
            <a:r>
              <a:rPr sz="1200" spc="-70" dirty="0">
                <a:solidFill>
                  <a:srgbClr val="13132C"/>
                </a:solidFill>
                <a:latin typeface="Tahoma"/>
                <a:cs typeface="Tahoma"/>
                <a:hlinkClick r:id="rId7" action="ppaction://hlinksldjump"/>
              </a:rPr>
              <a:t>Software</a:t>
            </a:r>
            <a:r>
              <a:rPr sz="1200" spc="-5" dirty="0">
                <a:solidFill>
                  <a:srgbClr val="13132C"/>
                </a:solidFill>
                <a:latin typeface="Tahoma"/>
                <a:cs typeface="Tahoma"/>
                <a:hlinkClick r:id="rId7" action="ppaction://hlinksldjump"/>
              </a:rPr>
              <a:t> </a:t>
            </a:r>
            <a:r>
              <a:rPr sz="1200" spc="-45" dirty="0">
                <a:solidFill>
                  <a:srgbClr val="13132C"/>
                </a:solidFill>
                <a:latin typeface="Tahoma"/>
                <a:cs typeface="Tahoma"/>
                <a:hlinkClick r:id="rId7" action="ppaction://hlinksldjump"/>
              </a:rPr>
              <a:t>Testing</a:t>
            </a:r>
            <a:r>
              <a:rPr sz="1200" spc="-5" dirty="0">
                <a:solidFill>
                  <a:srgbClr val="13132C"/>
                </a:solidFill>
                <a:latin typeface="Tahoma"/>
                <a:cs typeface="Tahoma"/>
                <a:hlinkClick r:id="rId7" action="ppaction://hlinksldjump"/>
              </a:rPr>
              <a:t> </a:t>
            </a:r>
            <a:r>
              <a:rPr sz="1200" spc="70" dirty="0">
                <a:solidFill>
                  <a:srgbClr val="13132C"/>
                </a:solidFill>
                <a:latin typeface="Tahoma"/>
                <a:cs typeface="Tahoma"/>
                <a:hlinkClick r:id="rId7" action="ppaction://hlinksldjump"/>
              </a:rPr>
              <a:t>&amp;</a:t>
            </a:r>
            <a:r>
              <a:rPr sz="1200" spc="-10" dirty="0">
                <a:solidFill>
                  <a:srgbClr val="13132C"/>
                </a:solidFill>
                <a:latin typeface="Tahoma"/>
                <a:cs typeface="Tahoma"/>
                <a:hlinkClick r:id="rId7" action="ppaction://hlinksldjump"/>
              </a:rPr>
              <a:t> </a:t>
            </a:r>
            <a:r>
              <a:rPr sz="1200" spc="-45" dirty="0">
                <a:solidFill>
                  <a:srgbClr val="13132C"/>
                </a:solidFill>
                <a:latin typeface="Tahoma"/>
                <a:cs typeface="Tahoma"/>
                <a:hlinkClick r:id="rId7" action="ppaction://hlinksldjump"/>
              </a:rPr>
              <a:t>Experimental</a:t>
            </a:r>
            <a:r>
              <a:rPr sz="1200" dirty="0">
                <a:solidFill>
                  <a:srgbClr val="13132C"/>
                </a:solidFill>
                <a:latin typeface="Tahoma"/>
                <a:cs typeface="Tahoma"/>
                <a:hlinkClick r:id="rId7" action="ppaction://hlinksldjump"/>
              </a:rPr>
              <a:t> </a:t>
            </a:r>
            <a:r>
              <a:rPr sz="1200" spc="-10" dirty="0">
                <a:solidFill>
                  <a:srgbClr val="13132C"/>
                </a:solidFill>
                <a:latin typeface="Tahoma"/>
                <a:cs typeface="Tahoma"/>
                <a:hlinkClick r:id="rId7" action="ppaction://hlinksldjump"/>
              </a:rPr>
              <a:t>Results</a:t>
            </a:r>
            <a:endParaRPr sz="1200" dirty="0">
              <a:latin typeface="Tahoma"/>
              <a:cs typeface="Tahoma"/>
            </a:endParaRPr>
          </a:p>
        </p:txBody>
      </p:sp>
      <p:pic>
        <p:nvPicPr>
          <p:cNvPr id="6" name="object 6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94653" y="1182192"/>
            <a:ext cx="175450" cy="175450"/>
          </a:xfrm>
          <a:prstGeom prst="rect">
            <a:avLst/>
          </a:prstGeom>
        </p:spPr>
      </p:pic>
      <p:sp>
        <p:nvSpPr>
          <p:cNvPr id="7" name="object 7"/>
          <p:cNvSpPr txBox="1"/>
          <p:nvPr/>
        </p:nvSpPr>
        <p:spPr>
          <a:xfrm>
            <a:off x="142786" y="1189213"/>
            <a:ext cx="7937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spc="-50" dirty="0">
                <a:solidFill>
                  <a:srgbClr val="E7E7EA"/>
                </a:solidFill>
                <a:latin typeface="Tahoma"/>
                <a:cs typeface="Tahoma"/>
              </a:rPr>
              <a:t>2</a:t>
            </a:r>
            <a:endParaRPr sz="800">
              <a:latin typeface="Tahoma"/>
              <a:cs typeface="Tahoma"/>
            </a:endParaRPr>
          </a:p>
        </p:txBody>
      </p:sp>
      <p:pic>
        <p:nvPicPr>
          <p:cNvPr id="8" name="object 8"/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94653" y="1579765"/>
            <a:ext cx="175450" cy="175450"/>
          </a:xfrm>
          <a:prstGeom prst="rect">
            <a:avLst/>
          </a:prstGeom>
        </p:spPr>
      </p:pic>
      <p:sp>
        <p:nvSpPr>
          <p:cNvPr id="9" name="object 9"/>
          <p:cNvSpPr txBox="1"/>
          <p:nvPr/>
        </p:nvSpPr>
        <p:spPr>
          <a:xfrm>
            <a:off x="142786" y="1586787"/>
            <a:ext cx="7937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spc="-50" dirty="0">
                <a:solidFill>
                  <a:srgbClr val="E7E7EA"/>
                </a:solidFill>
                <a:latin typeface="Tahoma"/>
                <a:cs typeface="Tahoma"/>
              </a:rPr>
              <a:t>3</a:t>
            </a:r>
            <a:endParaRPr sz="800">
              <a:latin typeface="Tahoma"/>
              <a:cs typeface="Tahoma"/>
            </a:endParaRPr>
          </a:p>
        </p:txBody>
      </p:sp>
      <p:pic>
        <p:nvPicPr>
          <p:cNvPr id="10" name="object 10"/>
          <p:cNvPicPr/>
          <p:nvPr/>
        </p:nvPicPr>
        <p:blipFill>
          <a:blip r:embed="rId10" cstate="print"/>
          <a:stretch>
            <a:fillRect/>
          </a:stretch>
        </p:blipFill>
        <p:spPr>
          <a:xfrm>
            <a:off x="94653" y="1977339"/>
            <a:ext cx="175450" cy="175450"/>
          </a:xfrm>
          <a:prstGeom prst="rect">
            <a:avLst/>
          </a:prstGeom>
        </p:spPr>
      </p:pic>
      <p:sp>
        <p:nvSpPr>
          <p:cNvPr id="11" name="object 11"/>
          <p:cNvSpPr txBox="1"/>
          <p:nvPr/>
        </p:nvSpPr>
        <p:spPr>
          <a:xfrm>
            <a:off x="142786" y="1984361"/>
            <a:ext cx="7937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spc="-50" dirty="0">
                <a:solidFill>
                  <a:srgbClr val="E7E7EA"/>
                </a:solidFill>
                <a:latin typeface="Tahoma"/>
                <a:cs typeface="Tahoma"/>
              </a:rPr>
              <a:t>4</a:t>
            </a:r>
            <a:endParaRPr sz="800">
              <a:latin typeface="Tahoma"/>
              <a:cs typeface="Tahoma"/>
            </a:endParaRPr>
          </a:p>
        </p:txBody>
      </p:sp>
      <p:pic>
        <p:nvPicPr>
          <p:cNvPr id="12" name="object 12"/>
          <p:cNvPicPr/>
          <p:nvPr/>
        </p:nvPicPr>
        <p:blipFill>
          <a:blip r:embed="rId11" cstate="print"/>
          <a:stretch>
            <a:fillRect/>
          </a:stretch>
        </p:blipFill>
        <p:spPr>
          <a:xfrm>
            <a:off x="94653" y="2443076"/>
            <a:ext cx="175450" cy="175450"/>
          </a:xfrm>
          <a:prstGeom prst="rect">
            <a:avLst/>
          </a:prstGeom>
        </p:spPr>
      </p:pic>
      <p:sp>
        <p:nvSpPr>
          <p:cNvPr id="13" name="object 13"/>
          <p:cNvSpPr txBox="1"/>
          <p:nvPr/>
        </p:nvSpPr>
        <p:spPr>
          <a:xfrm>
            <a:off x="142786" y="2450098"/>
            <a:ext cx="7937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spc="-50" dirty="0">
                <a:solidFill>
                  <a:srgbClr val="E7E7EA"/>
                </a:solidFill>
                <a:latin typeface="Tahoma"/>
                <a:cs typeface="Tahoma"/>
              </a:rPr>
              <a:t>5</a:t>
            </a:r>
            <a:endParaRPr sz="800" dirty="0">
              <a:latin typeface="Tahoma"/>
              <a:cs typeface="Tahoma"/>
            </a:endParaRPr>
          </a:p>
        </p:txBody>
      </p:sp>
      <p:grpSp>
        <p:nvGrpSpPr>
          <p:cNvPr id="14" name="object 14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15" name="object 15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8" name="object 18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19" name="object 19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sz="600" spc="-10" dirty="0">
                <a:solidFill>
                  <a:srgbClr val="FFFFFF"/>
                </a:solidFill>
                <a:latin typeface="Tahoma"/>
                <a:cs typeface="Tahoma"/>
                <a:hlinkClick r:id="rId12" action="ppaction://hlinksldjump"/>
              </a:rPr>
              <a:t>RANPilotAI</a:t>
            </a:r>
            <a:endParaRPr sz="600" dirty="0">
              <a:latin typeface="Tahoma"/>
              <a:cs typeface="Tahoma"/>
            </a:endParaRPr>
          </a:p>
        </p:txBody>
      </p:sp>
      <p:sp>
        <p:nvSpPr>
          <p:cNvPr id="20" name="object 2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2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</p:spTree>
  </p:cSld>
  <p:clrMapOvr>
    <a:masterClrMapping/>
  </p:clrMapOvr>
  <p:transition>
    <p:cut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97827" y="874331"/>
            <a:ext cx="4523105" cy="494030"/>
            <a:chOff x="97827" y="874331"/>
            <a:chExt cx="4523105" cy="494030"/>
          </a:xfrm>
        </p:grpSpPr>
        <p:sp>
          <p:nvSpPr>
            <p:cNvPr id="3" name="object 3"/>
            <p:cNvSpPr/>
            <p:nvPr/>
          </p:nvSpPr>
          <p:spPr>
            <a:xfrm>
              <a:off x="97827" y="874331"/>
              <a:ext cx="4472305" cy="82550"/>
            </a:xfrm>
            <a:custGeom>
              <a:avLst/>
              <a:gdLst/>
              <a:ahLst/>
              <a:cxnLst/>
              <a:rect l="l" t="t" r="r" b="b"/>
              <a:pathLst>
                <a:path w="4472305" h="82550">
                  <a:moveTo>
                    <a:pt x="4421063" y="0"/>
                  </a:moveTo>
                  <a:lnTo>
                    <a:pt x="50800" y="0"/>
                  </a:lnTo>
                  <a:lnTo>
                    <a:pt x="31075" y="4008"/>
                  </a:lnTo>
                  <a:lnTo>
                    <a:pt x="14922" y="14922"/>
                  </a:lnTo>
                  <a:lnTo>
                    <a:pt x="4008" y="31075"/>
                  </a:lnTo>
                  <a:lnTo>
                    <a:pt x="0" y="50800"/>
                  </a:lnTo>
                  <a:lnTo>
                    <a:pt x="0" y="82384"/>
                  </a:lnTo>
                  <a:lnTo>
                    <a:pt x="4471864" y="82384"/>
                  </a:lnTo>
                  <a:lnTo>
                    <a:pt x="4471864" y="50800"/>
                  </a:lnTo>
                  <a:lnTo>
                    <a:pt x="4467855" y="31075"/>
                  </a:lnTo>
                  <a:lnTo>
                    <a:pt x="4456941" y="14922"/>
                  </a:lnTo>
                  <a:lnTo>
                    <a:pt x="4440788" y="4008"/>
                  </a:lnTo>
                  <a:lnTo>
                    <a:pt x="4421063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148628" y="937580"/>
              <a:ext cx="4472305" cy="431165"/>
            </a:xfrm>
            <a:custGeom>
              <a:avLst/>
              <a:gdLst/>
              <a:ahLst/>
              <a:cxnLst/>
              <a:rect l="l" t="t" r="r" b="b"/>
              <a:pathLst>
                <a:path w="4472305" h="431165">
                  <a:moveTo>
                    <a:pt x="4471864" y="0"/>
                  </a:moveTo>
                  <a:lnTo>
                    <a:pt x="0" y="0"/>
                  </a:lnTo>
                  <a:lnTo>
                    <a:pt x="0" y="430667"/>
                  </a:lnTo>
                  <a:lnTo>
                    <a:pt x="4471864" y="430667"/>
                  </a:lnTo>
                  <a:lnTo>
                    <a:pt x="4471864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97827" y="918743"/>
              <a:ext cx="4472305" cy="398780"/>
            </a:xfrm>
            <a:custGeom>
              <a:avLst/>
              <a:gdLst/>
              <a:ahLst/>
              <a:cxnLst/>
              <a:rect l="l" t="t" r="r" b="b"/>
              <a:pathLst>
                <a:path w="4472305" h="398780">
                  <a:moveTo>
                    <a:pt x="4471864" y="0"/>
                  </a:moveTo>
                  <a:lnTo>
                    <a:pt x="0" y="0"/>
                  </a:lnTo>
                  <a:lnTo>
                    <a:pt x="0" y="347903"/>
                  </a:lnTo>
                  <a:lnTo>
                    <a:pt x="4008" y="367627"/>
                  </a:lnTo>
                  <a:lnTo>
                    <a:pt x="14922" y="383780"/>
                  </a:lnTo>
                  <a:lnTo>
                    <a:pt x="31075" y="394695"/>
                  </a:lnTo>
                  <a:lnTo>
                    <a:pt x="50800" y="398703"/>
                  </a:lnTo>
                  <a:lnTo>
                    <a:pt x="4421063" y="398703"/>
                  </a:lnTo>
                  <a:lnTo>
                    <a:pt x="4440788" y="394695"/>
                  </a:lnTo>
                  <a:lnTo>
                    <a:pt x="4456941" y="383780"/>
                  </a:lnTo>
                  <a:lnTo>
                    <a:pt x="4467855" y="367627"/>
                  </a:lnTo>
                  <a:lnTo>
                    <a:pt x="4471864" y="347903"/>
                  </a:lnTo>
                  <a:lnTo>
                    <a:pt x="4471864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 descr="$PPTXTitle"/>
          <p:cNvSpPr txBox="1">
            <a:spLocks noGrp="1"/>
          </p:cNvSpPr>
          <p:nvPr>
            <p:ph type="title"/>
          </p:nvPr>
        </p:nvSpPr>
        <p:spPr>
          <a:xfrm>
            <a:off x="148628" y="937580"/>
            <a:ext cx="4472305" cy="431165"/>
          </a:xfrm>
          <a:prstGeom prst="rect">
            <a:avLst/>
          </a:prstGeom>
        </p:spPr>
        <p:txBody>
          <a:bodyPr vert="horz" wrap="square" lIns="0" tIns="56515" rIns="0" bIns="0" rtlCol="0">
            <a:spAutoFit/>
          </a:bodyPr>
          <a:lstStyle/>
          <a:p>
            <a:pPr marR="93980" algn="ctr">
              <a:lnSpc>
                <a:spcPct val="100000"/>
              </a:lnSpc>
              <a:spcBef>
                <a:spcPts val="445"/>
              </a:spcBef>
            </a:pPr>
            <a:r>
              <a:rPr spc="-190" dirty="0"/>
              <a:t>Tasneem</a:t>
            </a:r>
            <a:r>
              <a:rPr spc="105" dirty="0"/>
              <a:t> </a:t>
            </a:r>
            <a:r>
              <a:rPr spc="-20" dirty="0"/>
              <a:t>Amein</a:t>
            </a:r>
          </a:p>
        </p:txBody>
      </p:sp>
      <p:sp>
        <p:nvSpPr>
          <p:cNvPr id="7" name="object 7"/>
          <p:cNvSpPr/>
          <p:nvPr/>
        </p:nvSpPr>
        <p:spPr>
          <a:xfrm>
            <a:off x="97815" y="1499501"/>
            <a:ext cx="4472305" cy="584835"/>
          </a:xfrm>
          <a:custGeom>
            <a:avLst/>
            <a:gdLst/>
            <a:ahLst/>
            <a:cxnLst/>
            <a:rect l="l" t="t" r="r" b="b"/>
            <a:pathLst>
              <a:path w="4472305" h="584835">
                <a:moveTo>
                  <a:pt x="4471873" y="44424"/>
                </a:moveTo>
                <a:lnTo>
                  <a:pt x="4470565" y="44424"/>
                </a:lnTo>
                <a:lnTo>
                  <a:pt x="4467860" y="31076"/>
                </a:lnTo>
                <a:lnTo>
                  <a:pt x="4456950" y="14922"/>
                </a:lnTo>
                <a:lnTo>
                  <a:pt x="4440796" y="4013"/>
                </a:lnTo>
                <a:lnTo>
                  <a:pt x="4421073" y="0"/>
                </a:lnTo>
                <a:lnTo>
                  <a:pt x="50812" y="0"/>
                </a:lnTo>
                <a:lnTo>
                  <a:pt x="31076" y="4013"/>
                </a:lnTo>
                <a:lnTo>
                  <a:pt x="14922" y="14922"/>
                </a:lnTo>
                <a:lnTo>
                  <a:pt x="4013" y="31076"/>
                </a:lnTo>
                <a:lnTo>
                  <a:pt x="1295" y="44424"/>
                </a:lnTo>
                <a:lnTo>
                  <a:pt x="0" y="44424"/>
                </a:lnTo>
                <a:lnTo>
                  <a:pt x="0" y="50800"/>
                </a:lnTo>
                <a:lnTo>
                  <a:pt x="0" y="82384"/>
                </a:lnTo>
                <a:lnTo>
                  <a:pt x="0" y="533603"/>
                </a:lnTo>
                <a:lnTo>
                  <a:pt x="4013" y="553339"/>
                </a:lnTo>
                <a:lnTo>
                  <a:pt x="14922" y="569493"/>
                </a:lnTo>
                <a:lnTo>
                  <a:pt x="31076" y="580402"/>
                </a:lnTo>
                <a:lnTo>
                  <a:pt x="50812" y="584415"/>
                </a:lnTo>
                <a:lnTo>
                  <a:pt x="4421073" y="584415"/>
                </a:lnTo>
                <a:lnTo>
                  <a:pt x="4440796" y="580402"/>
                </a:lnTo>
                <a:lnTo>
                  <a:pt x="4456950" y="569493"/>
                </a:lnTo>
                <a:lnTo>
                  <a:pt x="4467860" y="553339"/>
                </a:lnTo>
                <a:lnTo>
                  <a:pt x="4471873" y="533603"/>
                </a:lnTo>
                <a:lnTo>
                  <a:pt x="4471873" y="82384"/>
                </a:lnTo>
                <a:lnTo>
                  <a:pt x="4471873" y="50800"/>
                </a:lnTo>
                <a:lnTo>
                  <a:pt x="4471873" y="44424"/>
                </a:lnTo>
                <a:close/>
              </a:path>
            </a:pathLst>
          </a:custGeom>
          <a:solidFill>
            <a:srgbClr val="E5E5E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234467" y="1586049"/>
            <a:ext cx="4199890" cy="3911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87780" marR="5080" indent="-1275715">
              <a:lnSpc>
                <a:spcPct val="100000"/>
              </a:lnSpc>
              <a:spcBef>
                <a:spcPts val="95"/>
              </a:spcBef>
            </a:pPr>
            <a:r>
              <a:rPr sz="1200" spc="-35" dirty="0">
                <a:solidFill>
                  <a:srgbClr val="13132C"/>
                </a:solidFill>
                <a:latin typeface="Tahoma"/>
                <a:cs typeface="Tahoma"/>
              </a:rPr>
              <a:t>Problem</a:t>
            </a:r>
            <a:r>
              <a:rPr sz="1200" spc="-25" dirty="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sz="1200" spc="-50" dirty="0">
                <a:solidFill>
                  <a:srgbClr val="13132C"/>
                </a:solidFill>
                <a:latin typeface="Tahoma"/>
                <a:cs typeface="Tahoma"/>
              </a:rPr>
              <a:t>Statement</a:t>
            </a:r>
            <a:r>
              <a:rPr sz="1200" spc="-20" dirty="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sz="1200" spc="355" dirty="0">
                <a:solidFill>
                  <a:srgbClr val="13132C"/>
                </a:solidFill>
                <a:latin typeface="Tahoma"/>
                <a:cs typeface="Tahoma"/>
              </a:rPr>
              <a:t>•</a:t>
            </a:r>
            <a:r>
              <a:rPr sz="1200" spc="-25" dirty="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sz="1200" spc="-45" dirty="0">
                <a:solidFill>
                  <a:srgbClr val="13132C"/>
                </a:solidFill>
                <a:latin typeface="Tahoma"/>
                <a:cs typeface="Tahoma"/>
              </a:rPr>
              <a:t>Proposed</a:t>
            </a:r>
            <a:r>
              <a:rPr sz="1200" spc="-20" dirty="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sz="1200" spc="-30" dirty="0">
                <a:solidFill>
                  <a:srgbClr val="13132C"/>
                </a:solidFill>
                <a:latin typeface="Tahoma"/>
                <a:cs typeface="Tahoma"/>
              </a:rPr>
              <a:t>Solution</a:t>
            </a:r>
            <a:r>
              <a:rPr sz="1200" spc="-20" dirty="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sz="1200" spc="355" dirty="0">
                <a:solidFill>
                  <a:srgbClr val="13132C"/>
                </a:solidFill>
                <a:latin typeface="Tahoma"/>
                <a:cs typeface="Tahoma"/>
              </a:rPr>
              <a:t>•</a:t>
            </a:r>
            <a:r>
              <a:rPr sz="1200" spc="-20" dirty="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sz="1200" spc="-35" dirty="0">
                <a:solidFill>
                  <a:srgbClr val="13132C"/>
                </a:solidFill>
                <a:latin typeface="Tahoma"/>
                <a:cs typeface="Tahoma"/>
              </a:rPr>
              <a:t>Overall</a:t>
            </a:r>
            <a:r>
              <a:rPr sz="1200" spc="-20" dirty="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sz="1200" spc="-35" dirty="0">
                <a:solidFill>
                  <a:srgbClr val="13132C"/>
                </a:solidFill>
                <a:latin typeface="Tahoma"/>
                <a:cs typeface="Tahoma"/>
              </a:rPr>
              <a:t>Architecture</a:t>
            </a:r>
            <a:r>
              <a:rPr sz="1200" spc="-20" dirty="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sz="1200" spc="305" dirty="0">
                <a:solidFill>
                  <a:srgbClr val="13132C"/>
                </a:solidFill>
                <a:latin typeface="Tahoma"/>
                <a:cs typeface="Tahoma"/>
              </a:rPr>
              <a:t>• </a:t>
            </a:r>
            <a:r>
              <a:rPr sz="1200" dirty="0">
                <a:solidFill>
                  <a:srgbClr val="13132C"/>
                </a:solidFill>
                <a:latin typeface="Tahoma"/>
                <a:cs typeface="Tahoma"/>
              </a:rPr>
              <a:t>KPI</a:t>
            </a:r>
            <a:r>
              <a:rPr sz="1200" spc="30" dirty="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sz="1200" spc="-45" dirty="0">
                <a:solidFill>
                  <a:srgbClr val="13132C"/>
                </a:solidFill>
                <a:latin typeface="Tahoma"/>
                <a:cs typeface="Tahoma"/>
              </a:rPr>
              <a:t>Degradation</a:t>
            </a:r>
            <a:r>
              <a:rPr sz="1200" spc="30" dirty="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sz="1200" spc="-10" dirty="0">
                <a:solidFill>
                  <a:srgbClr val="13132C"/>
                </a:solidFill>
                <a:latin typeface="Tahoma"/>
                <a:cs typeface="Tahoma"/>
              </a:rPr>
              <a:t>Analyzer</a:t>
            </a:r>
            <a:endParaRPr sz="1200">
              <a:latin typeface="Tahoma"/>
              <a:cs typeface="Tahoma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10" name="object 10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14" name="object 14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sz="600" spc="-10" dirty="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 dirty="0">
              <a:latin typeface="Tahoma"/>
              <a:cs typeface="Tahoma"/>
            </a:endParaRPr>
          </a:p>
        </p:txBody>
      </p:sp>
      <p:sp>
        <p:nvSpPr>
          <p:cNvPr id="15" name="object 1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3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</p:spTree>
  </p:cSld>
  <p:clrMapOvr>
    <a:masterClrMapping/>
  </p:clrMapOvr>
  <p:transition>
    <p:cut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5300" y="57337"/>
            <a:ext cx="1662430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400" spc="-130" dirty="0">
                <a:solidFill>
                  <a:srgbClr val="FFFFFF"/>
                </a:solidFill>
                <a:latin typeface="Arial Black"/>
                <a:cs typeface="Arial Black"/>
              </a:rPr>
              <a:t>Problem</a:t>
            </a:r>
            <a:r>
              <a:rPr sz="1400" spc="5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120" dirty="0">
                <a:solidFill>
                  <a:srgbClr val="FFFFFF"/>
                </a:solidFill>
                <a:latin typeface="Arial Black"/>
                <a:cs typeface="Arial Black"/>
              </a:rPr>
              <a:t>Statement</a:t>
            </a:r>
            <a:endParaRPr sz="1400">
              <a:latin typeface="Arial Black"/>
              <a:cs typeface="Arial Black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2030209" y="1519171"/>
            <a:ext cx="169989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[</a:t>
            </a:r>
            <a:r>
              <a:rPr sz="1200" i="1" spc="75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Fill</a:t>
            </a:r>
            <a:r>
              <a:rPr sz="1200" i="1" spc="85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in</a:t>
            </a:r>
            <a:r>
              <a:rPr sz="1200" i="1" spc="80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your</a:t>
            </a:r>
            <a:r>
              <a:rPr sz="1200" i="1" spc="75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content</a:t>
            </a:r>
            <a:r>
              <a:rPr sz="1200" i="1" spc="80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spc="-10" dirty="0">
                <a:solidFill>
                  <a:srgbClr val="ACACB5"/>
                </a:solidFill>
                <a:latin typeface="Calibri"/>
                <a:cs typeface="Calibri"/>
              </a:rPr>
              <a:t>here</a:t>
            </a:r>
            <a:r>
              <a:rPr sz="1200" i="1" spc="80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spc="-50" dirty="0">
                <a:solidFill>
                  <a:srgbClr val="ACACB5"/>
                </a:solidFill>
                <a:latin typeface="Calibri"/>
                <a:cs typeface="Calibri"/>
              </a:rPr>
              <a:t>]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5" name="object 5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9" name="object 9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sz="600" spc="-10" dirty="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 dirty="0">
              <a:latin typeface="Tahoma"/>
              <a:cs typeface="Tahoma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4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</p:spTree>
  </p:cSld>
  <p:clrMapOvr>
    <a:masterClrMapping/>
  </p:clrMapOvr>
  <p:transition>
    <p:cut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5300" y="57337"/>
            <a:ext cx="2752090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400" spc="-114" dirty="0">
                <a:solidFill>
                  <a:srgbClr val="FFFFFF"/>
                </a:solidFill>
                <a:latin typeface="Arial Black"/>
                <a:cs typeface="Arial Black"/>
              </a:rPr>
              <a:t>Project</a:t>
            </a:r>
            <a:r>
              <a:rPr sz="140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90" dirty="0">
                <a:solidFill>
                  <a:srgbClr val="FFFFFF"/>
                </a:solidFill>
                <a:latin typeface="Arial Black"/>
                <a:cs typeface="Arial Black"/>
              </a:rPr>
              <a:t>Motivation</a:t>
            </a:r>
            <a:r>
              <a:rPr sz="1400" dirty="0">
                <a:solidFill>
                  <a:srgbClr val="FFFFFF"/>
                </a:solidFill>
                <a:latin typeface="Arial Black"/>
                <a:cs typeface="Arial Black"/>
              </a:rPr>
              <a:t> &amp; </a:t>
            </a:r>
            <a:r>
              <a:rPr sz="1400" spc="-130" dirty="0">
                <a:solidFill>
                  <a:srgbClr val="FFFFFF"/>
                </a:solidFill>
                <a:latin typeface="Arial Black"/>
                <a:cs typeface="Arial Black"/>
              </a:rPr>
              <a:t>Objectives</a:t>
            </a:r>
            <a:endParaRPr sz="1400">
              <a:latin typeface="Arial Black"/>
              <a:cs typeface="Arial Black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2030209" y="1519171"/>
            <a:ext cx="169989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[</a:t>
            </a:r>
            <a:r>
              <a:rPr sz="1200" i="1" spc="75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Fill</a:t>
            </a:r>
            <a:r>
              <a:rPr sz="1200" i="1" spc="85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in</a:t>
            </a:r>
            <a:r>
              <a:rPr sz="1200" i="1" spc="80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your</a:t>
            </a:r>
            <a:r>
              <a:rPr sz="1200" i="1" spc="75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content</a:t>
            </a:r>
            <a:r>
              <a:rPr sz="1200" i="1" spc="80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spc="-10" dirty="0">
                <a:solidFill>
                  <a:srgbClr val="ACACB5"/>
                </a:solidFill>
                <a:latin typeface="Calibri"/>
                <a:cs typeface="Calibri"/>
              </a:rPr>
              <a:t>here</a:t>
            </a:r>
            <a:r>
              <a:rPr sz="1200" i="1" spc="80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spc="-50" dirty="0">
                <a:solidFill>
                  <a:srgbClr val="ACACB5"/>
                </a:solidFill>
                <a:latin typeface="Calibri"/>
                <a:cs typeface="Calibri"/>
              </a:rPr>
              <a:t>]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5" name="object 5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9" name="object 9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sz="600" spc="-10" dirty="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 dirty="0">
              <a:latin typeface="Tahoma"/>
              <a:cs typeface="Tahoma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5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</p:spTree>
  </p:cSld>
  <p:clrMapOvr>
    <a:masterClrMapping/>
  </p:clrMapOvr>
  <p:transition>
    <p:cut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5300" y="57337"/>
            <a:ext cx="2382520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400" spc="-135" dirty="0">
                <a:solidFill>
                  <a:srgbClr val="FFFFFF"/>
                </a:solidFill>
                <a:latin typeface="Arial Black"/>
                <a:cs typeface="Arial Black"/>
              </a:rPr>
              <a:t>Proposed</a:t>
            </a:r>
            <a:r>
              <a:rPr sz="1400" spc="4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114" dirty="0">
                <a:solidFill>
                  <a:srgbClr val="FFFFFF"/>
                </a:solidFill>
                <a:latin typeface="Arial Black"/>
                <a:cs typeface="Arial Black"/>
              </a:rPr>
              <a:t>Solution</a:t>
            </a:r>
            <a:r>
              <a:rPr sz="1400" spc="4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135" dirty="0">
                <a:solidFill>
                  <a:srgbClr val="FFFFFF"/>
                </a:solidFill>
                <a:latin typeface="Arial Black"/>
                <a:cs typeface="Arial Black"/>
              </a:rPr>
              <a:t>Overview</a:t>
            </a:r>
            <a:endParaRPr sz="1400">
              <a:latin typeface="Arial Black"/>
              <a:cs typeface="Arial Black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2030209" y="1519171"/>
            <a:ext cx="169989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[</a:t>
            </a:r>
            <a:r>
              <a:rPr sz="1200" i="1" spc="75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Fill</a:t>
            </a:r>
            <a:r>
              <a:rPr sz="1200" i="1" spc="85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in</a:t>
            </a:r>
            <a:r>
              <a:rPr sz="1200" i="1" spc="80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your</a:t>
            </a:r>
            <a:r>
              <a:rPr sz="1200" i="1" spc="75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content</a:t>
            </a:r>
            <a:r>
              <a:rPr sz="1200" i="1" spc="80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spc="-10" dirty="0">
                <a:solidFill>
                  <a:srgbClr val="ACACB5"/>
                </a:solidFill>
                <a:latin typeface="Calibri"/>
                <a:cs typeface="Calibri"/>
              </a:rPr>
              <a:t>here</a:t>
            </a:r>
            <a:r>
              <a:rPr sz="1200" i="1" spc="80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spc="-50" dirty="0">
                <a:solidFill>
                  <a:srgbClr val="ACACB5"/>
                </a:solidFill>
                <a:latin typeface="Calibri"/>
                <a:cs typeface="Calibri"/>
              </a:rPr>
              <a:t>]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5" name="object 5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9" name="object 9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sz="600" spc="-10" dirty="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 dirty="0">
              <a:latin typeface="Tahoma"/>
              <a:cs typeface="Tahoma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6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</p:spTree>
  </p:cSld>
  <p:clrMapOvr>
    <a:masterClrMapping/>
  </p:clrMapOvr>
  <p:transition>
    <p:cut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pc="-125" dirty="0"/>
              <a:t>Overall</a:t>
            </a:r>
            <a:r>
              <a:rPr spc="35" dirty="0"/>
              <a:t> </a:t>
            </a:r>
            <a:r>
              <a:rPr spc="-165" dirty="0"/>
              <a:t>System</a:t>
            </a:r>
            <a:r>
              <a:rPr spc="50" dirty="0"/>
              <a:t> </a:t>
            </a:r>
            <a:r>
              <a:rPr spc="-120" dirty="0"/>
              <a:t>Architecture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000199" y="1473960"/>
            <a:ext cx="1759585" cy="43878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90"/>
              </a:spcBef>
            </a:pPr>
            <a:r>
              <a:rPr sz="1100" i="1" dirty="0">
                <a:solidFill>
                  <a:srgbClr val="13132C"/>
                </a:solidFill>
                <a:latin typeface="Calibri"/>
                <a:cs typeface="Calibri"/>
              </a:rPr>
              <a:t>Screenshot</a:t>
            </a:r>
            <a:r>
              <a:rPr sz="1100" i="1" spc="120" dirty="0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sz="1100" i="1" dirty="0">
                <a:solidFill>
                  <a:srgbClr val="13132C"/>
                </a:solidFill>
                <a:latin typeface="Calibri"/>
                <a:cs typeface="Calibri"/>
              </a:rPr>
              <a:t>not</a:t>
            </a:r>
            <a:r>
              <a:rPr sz="1100" i="1" spc="120" dirty="0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sz="1100" i="1" dirty="0">
                <a:solidFill>
                  <a:srgbClr val="13132C"/>
                </a:solidFill>
                <a:latin typeface="Calibri"/>
                <a:cs typeface="Calibri"/>
              </a:rPr>
              <a:t>yet</a:t>
            </a:r>
            <a:r>
              <a:rPr sz="1100" i="1" spc="120" dirty="0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sz="1100" i="1" spc="-10" dirty="0">
                <a:solidFill>
                  <a:srgbClr val="13132C"/>
                </a:solidFill>
                <a:latin typeface="Calibri"/>
                <a:cs typeface="Calibri"/>
              </a:rPr>
              <a:t>added</a:t>
            </a:r>
            <a:endParaRPr sz="1100">
              <a:latin typeface="Calibri"/>
              <a:cs typeface="Calibri"/>
            </a:endParaRPr>
          </a:p>
          <a:p>
            <a:pPr algn="ctr">
              <a:lnSpc>
                <a:spcPct val="100000"/>
              </a:lnSpc>
              <a:spcBef>
                <a:spcPts val="1220"/>
              </a:spcBef>
            </a:pPr>
            <a:r>
              <a:rPr sz="600" spc="-10" dirty="0">
                <a:solidFill>
                  <a:srgbClr val="13132C"/>
                </a:solidFill>
                <a:latin typeface="Palatino Linotype"/>
                <a:cs typeface="Palatino Linotype"/>
              </a:rPr>
              <a:t>screenshots/tasneem/system_architecture.png</a:t>
            </a:r>
            <a:endParaRPr sz="600">
              <a:latin typeface="Palatino Linotype"/>
              <a:cs typeface="Palatino Linotype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378764" y="473087"/>
            <a:ext cx="5002530" cy="2484755"/>
            <a:chOff x="378764" y="473087"/>
            <a:chExt cx="5002530" cy="2484755"/>
          </a:xfrm>
        </p:grpSpPr>
        <p:sp>
          <p:nvSpPr>
            <p:cNvPr id="5" name="object 5"/>
            <p:cNvSpPr/>
            <p:nvPr/>
          </p:nvSpPr>
          <p:spPr>
            <a:xfrm>
              <a:off x="378764" y="475614"/>
              <a:ext cx="5002530" cy="0"/>
            </a:xfrm>
            <a:custGeom>
              <a:avLst/>
              <a:gdLst/>
              <a:ahLst/>
              <a:cxnLst/>
              <a:rect l="l" t="t" r="r" b="b"/>
              <a:pathLst>
                <a:path w="5002530">
                  <a:moveTo>
                    <a:pt x="0" y="0"/>
                  </a:moveTo>
                  <a:lnTo>
                    <a:pt x="5002466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381292" y="475614"/>
              <a:ext cx="0" cy="2479675"/>
            </a:xfrm>
            <a:custGeom>
              <a:avLst/>
              <a:gdLst/>
              <a:ahLst/>
              <a:cxnLst/>
              <a:rect l="l" t="t" r="r" b="b"/>
              <a:pathLst>
                <a:path h="2479675">
                  <a:moveTo>
                    <a:pt x="0" y="2479217"/>
                  </a:moveTo>
                  <a:lnTo>
                    <a:pt x="0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5378704" y="475614"/>
              <a:ext cx="0" cy="2479675"/>
            </a:xfrm>
            <a:custGeom>
              <a:avLst/>
              <a:gdLst/>
              <a:ahLst/>
              <a:cxnLst/>
              <a:rect l="l" t="t" r="r" b="b"/>
              <a:pathLst>
                <a:path h="2479675">
                  <a:moveTo>
                    <a:pt x="0" y="2479217"/>
                  </a:moveTo>
                  <a:lnTo>
                    <a:pt x="0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378764" y="2954832"/>
              <a:ext cx="5002530" cy="0"/>
            </a:xfrm>
            <a:custGeom>
              <a:avLst/>
              <a:gdLst/>
              <a:ahLst/>
              <a:cxnLst/>
              <a:rect l="l" t="t" r="r" b="b"/>
              <a:pathLst>
                <a:path w="5002530">
                  <a:moveTo>
                    <a:pt x="0" y="0"/>
                  </a:moveTo>
                  <a:lnTo>
                    <a:pt x="5002466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10" name="object 10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14" name="object 14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sz="600" spc="-10" dirty="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 dirty="0">
              <a:latin typeface="Tahoma"/>
              <a:cs typeface="Tahoma"/>
            </a:endParaRPr>
          </a:p>
        </p:txBody>
      </p:sp>
      <p:sp>
        <p:nvSpPr>
          <p:cNvPr id="15" name="object 1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7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</p:spTree>
  </p:cSld>
  <p:clrMapOvr>
    <a:masterClrMapping/>
  </p:clrMapOvr>
  <p:transition>
    <p:cut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5300" y="57337"/>
            <a:ext cx="2606040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400" spc="-170" dirty="0">
                <a:solidFill>
                  <a:srgbClr val="FFFFFF"/>
                </a:solidFill>
                <a:latin typeface="Arial Black"/>
                <a:cs typeface="Arial Black"/>
              </a:rPr>
              <a:t>Telecom</a:t>
            </a:r>
            <a:r>
              <a:rPr sz="1400" spc="5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75" dirty="0">
                <a:solidFill>
                  <a:srgbClr val="FFFFFF"/>
                </a:solidFill>
                <a:latin typeface="Arial Black"/>
                <a:cs typeface="Arial Black"/>
              </a:rPr>
              <a:t>Hub</a:t>
            </a:r>
            <a:r>
              <a:rPr sz="1400" spc="3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165" dirty="0">
                <a:solidFill>
                  <a:srgbClr val="FFFFFF"/>
                </a:solidFill>
                <a:latin typeface="Arial Black"/>
                <a:cs typeface="Arial Black"/>
              </a:rPr>
              <a:t>—</a:t>
            </a:r>
            <a:r>
              <a:rPr sz="1400" spc="4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140" dirty="0">
                <a:solidFill>
                  <a:srgbClr val="FFFFFF"/>
                </a:solidFill>
                <a:latin typeface="Arial Black"/>
                <a:cs typeface="Arial Black"/>
              </a:rPr>
              <a:t>Landing</a:t>
            </a:r>
            <a:r>
              <a:rPr sz="1400" spc="4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105" dirty="0">
                <a:solidFill>
                  <a:srgbClr val="FFFFFF"/>
                </a:solidFill>
                <a:latin typeface="Arial Black"/>
                <a:cs typeface="Arial Black"/>
              </a:rPr>
              <a:t>Page</a:t>
            </a:r>
            <a:endParaRPr sz="1400">
              <a:latin typeface="Arial Black"/>
              <a:cs typeface="Arial Black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2133015" y="1473960"/>
            <a:ext cx="1494155" cy="43878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100" i="1" dirty="0">
                <a:solidFill>
                  <a:srgbClr val="13132C"/>
                </a:solidFill>
                <a:latin typeface="Calibri"/>
                <a:cs typeface="Calibri"/>
              </a:rPr>
              <a:t>Screenshot</a:t>
            </a:r>
            <a:r>
              <a:rPr sz="1100" i="1" spc="120" dirty="0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sz="1100" i="1" dirty="0">
                <a:solidFill>
                  <a:srgbClr val="13132C"/>
                </a:solidFill>
                <a:latin typeface="Calibri"/>
                <a:cs typeface="Calibri"/>
              </a:rPr>
              <a:t>not</a:t>
            </a:r>
            <a:r>
              <a:rPr sz="1100" i="1" spc="120" dirty="0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sz="1100" i="1" dirty="0">
                <a:solidFill>
                  <a:srgbClr val="13132C"/>
                </a:solidFill>
                <a:latin typeface="Calibri"/>
                <a:cs typeface="Calibri"/>
              </a:rPr>
              <a:t>yet</a:t>
            </a:r>
            <a:r>
              <a:rPr sz="1100" i="1" spc="120" dirty="0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sz="1100" i="1" spc="-10" dirty="0">
                <a:solidFill>
                  <a:srgbClr val="13132C"/>
                </a:solidFill>
                <a:latin typeface="Calibri"/>
                <a:cs typeface="Calibri"/>
              </a:rPr>
              <a:t>added</a:t>
            </a:r>
            <a:endParaRPr sz="1100">
              <a:latin typeface="Calibri"/>
              <a:cs typeface="Calibri"/>
            </a:endParaRPr>
          </a:p>
          <a:p>
            <a:pPr marL="40640">
              <a:lnSpc>
                <a:spcPct val="100000"/>
              </a:lnSpc>
              <a:spcBef>
                <a:spcPts val="1220"/>
              </a:spcBef>
            </a:pPr>
            <a:r>
              <a:rPr sz="600" spc="-10" dirty="0">
                <a:solidFill>
                  <a:srgbClr val="13132C"/>
                </a:solidFill>
                <a:latin typeface="Palatino Linotype"/>
                <a:cs typeface="Palatino Linotype"/>
              </a:rPr>
              <a:t>screenshots/tasneem/hub_landing.png</a:t>
            </a:r>
            <a:endParaRPr sz="600">
              <a:latin typeface="Palatino Linotype"/>
              <a:cs typeface="Palatino Linotype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378764" y="473087"/>
            <a:ext cx="5002530" cy="2484755"/>
            <a:chOff x="378764" y="473087"/>
            <a:chExt cx="5002530" cy="2484755"/>
          </a:xfrm>
        </p:grpSpPr>
        <p:sp>
          <p:nvSpPr>
            <p:cNvPr id="5" name="object 5"/>
            <p:cNvSpPr/>
            <p:nvPr/>
          </p:nvSpPr>
          <p:spPr>
            <a:xfrm>
              <a:off x="378764" y="475614"/>
              <a:ext cx="5002530" cy="0"/>
            </a:xfrm>
            <a:custGeom>
              <a:avLst/>
              <a:gdLst/>
              <a:ahLst/>
              <a:cxnLst/>
              <a:rect l="l" t="t" r="r" b="b"/>
              <a:pathLst>
                <a:path w="5002530">
                  <a:moveTo>
                    <a:pt x="0" y="0"/>
                  </a:moveTo>
                  <a:lnTo>
                    <a:pt x="5002466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381292" y="475614"/>
              <a:ext cx="0" cy="2479675"/>
            </a:xfrm>
            <a:custGeom>
              <a:avLst/>
              <a:gdLst/>
              <a:ahLst/>
              <a:cxnLst/>
              <a:rect l="l" t="t" r="r" b="b"/>
              <a:pathLst>
                <a:path h="2479675">
                  <a:moveTo>
                    <a:pt x="0" y="2479217"/>
                  </a:moveTo>
                  <a:lnTo>
                    <a:pt x="0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5378704" y="475614"/>
              <a:ext cx="0" cy="2479675"/>
            </a:xfrm>
            <a:custGeom>
              <a:avLst/>
              <a:gdLst/>
              <a:ahLst/>
              <a:cxnLst/>
              <a:rect l="l" t="t" r="r" b="b"/>
              <a:pathLst>
                <a:path h="2479675">
                  <a:moveTo>
                    <a:pt x="0" y="2479217"/>
                  </a:moveTo>
                  <a:lnTo>
                    <a:pt x="0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378764" y="2954832"/>
              <a:ext cx="5002530" cy="0"/>
            </a:xfrm>
            <a:custGeom>
              <a:avLst/>
              <a:gdLst/>
              <a:ahLst/>
              <a:cxnLst/>
              <a:rect l="l" t="t" r="r" b="b"/>
              <a:pathLst>
                <a:path w="5002530">
                  <a:moveTo>
                    <a:pt x="0" y="0"/>
                  </a:moveTo>
                  <a:lnTo>
                    <a:pt x="5002466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10" name="object 10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14" name="object 14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sz="600" spc="-10" dirty="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 dirty="0">
              <a:latin typeface="Tahoma"/>
              <a:cs typeface="Tahoma"/>
            </a:endParaRPr>
          </a:p>
        </p:txBody>
      </p:sp>
      <p:sp>
        <p:nvSpPr>
          <p:cNvPr id="15" name="object 1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8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</p:spTree>
  </p:cSld>
  <p:clrMapOvr>
    <a:masterClrMapping/>
  </p:clrMapOvr>
  <p:transition>
    <p:cut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5300" y="57337"/>
            <a:ext cx="4018279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400" spc="-10" dirty="0">
                <a:solidFill>
                  <a:srgbClr val="FFFFFF"/>
                </a:solidFill>
                <a:latin typeface="Arial Black"/>
                <a:cs typeface="Arial Black"/>
              </a:rPr>
              <a:t>KPI</a:t>
            </a:r>
            <a:r>
              <a:rPr sz="1400" spc="25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130" dirty="0">
                <a:solidFill>
                  <a:srgbClr val="FFFFFF"/>
                </a:solidFill>
                <a:latin typeface="Arial Black"/>
                <a:cs typeface="Arial Black"/>
              </a:rPr>
              <a:t>Degradation</a:t>
            </a:r>
            <a:r>
              <a:rPr sz="1400" spc="25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125" dirty="0">
                <a:solidFill>
                  <a:srgbClr val="FFFFFF"/>
                </a:solidFill>
                <a:latin typeface="Arial Black"/>
                <a:cs typeface="Arial Black"/>
              </a:rPr>
              <a:t>Analyzer</a:t>
            </a:r>
            <a:r>
              <a:rPr sz="1400" spc="25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165" dirty="0">
                <a:solidFill>
                  <a:srgbClr val="FFFFFF"/>
                </a:solidFill>
                <a:latin typeface="Arial Black"/>
                <a:cs typeface="Arial Black"/>
              </a:rPr>
              <a:t>—</a:t>
            </a:r>
            <a:r>
              <a:rPr sz="1400" spc="25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100" dirty="0">
                <a:solidFill>
                  <a:srgbClr val="FFFFFF"/>
                </a:solidFill>
                <a:latin typeface="Arial Black"/>
                <a:cs typeface="Arial Black"/>
              </a:rPr>
              <a:t>Module</a:t>
            </a:r>
            <a:r>
              <a:rPr sz="1400" spc="25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114" dirty="0">
                <a:solidFill>
                  <a:srgbClr val="FFFFFF"/>
                </a:solidFill>
                <a:latin typeface="Arial Black"/>
                <a:cs typeface="Arial Black"/>
              </a:rPr>
              <a:t>Overview</a:t>
            </a:r>
            <a:endParaRPr sz="1400">
              <a:latin typeface="Arial Black"/>
              <a:cs typeface="Arial Black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2030209" y="1519171"/>
            <a:ext cx="169989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[</a:t>
            </a:r>
            <a:r>
              <a:rPr sz="1200" i="1" spc="75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Fill</a:t>
            </a:r>
            <a:r>
              <a:rPr sz="1200" i="1" spc="85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in</a:t>
            </a:r>
            <a:r>
              <a:rPr sz="1200" i="1" spc="80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your</a:t>
            </a:r>
            <a:r>
              <a:rPr sz="1200" i="1" spc="75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content</a:t>
            </a:r>
            <a:r>
              <a:rPr sz="1200" i="1" spc="80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spc="-10" dirty="0">
                <a:solidFill>
                  <a:srgbClr val="ACACB5"/>
                </a:solidFill>
                <a:latin typeface="Calibri"/>
                <a:cs typeface="Calibri"/>
              </a:rPr>
              <a:t>here</a:t>
            </a:r>
            <a:r>
              <a:rPr sz="1200" i="1" spc="80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spc="-50" dirty="0">
                <a:solidFill>
                  <a:srgbClr val="ACACB5"/>
                </a:solidFill>
                <a:latin typeface="Calibri"/>
                <a:cs typeface="Calibri"/>
              </a:rPr>
              <a:t>]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5" name="object 5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9" name="object 9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sz="600" spc="-10" dirty="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 dirty="0">
              <a:latin typeface="Tahoma"/>
              <a:cs typeface="Tahoma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9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</p:spTree>
  </p:cSld>
  <p:clrMapOvr>
    <a:masterClrMapping/>
  </p:clrMapOvr>
  <p:transition>
    <p:cut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5300" y="57337"/>
            <a:ext cx="2214880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400" spc="-10" dirty="0">
                <a:solidFill>
                  <a:srgbClr val="FFFFFF"/>
                </a:solidFill>
                <a:latin typeface="Arial Black"/>
                <a:cs typeface="Arial Black"/>
              </a:rPr>
              <a:t>KPI</a:t>
            </a:r>
            <a:r>
              <a:rPr sz="1400" spc="-2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160" dirty="0">
                <a:solidFill>
                  <a:srgbClr val="FFFFFF"/>
                </a:solidFill>
                <a:latin typeface="Arial Black"/>
                <a:cs typeface="Arial Black"/>
              </a:rPr>
              <a:t>Categories</a:t>
            </a:r>
            <a:r>
              <a:rPr sz="1400" spc="45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100" dirty="0">
                <a:solidFill>
                  <a:srgbClr val="FFFFFF"/>
                </a:solidFill>
                <a:latin typeface="Arial Black"/>
                <a:cs typeface="Arial Black"/>
              </a:rPr>
              <a:t>Monitored</a:t>
            </a:r>
            <a:endParaRPr sz="1400">
              <a:latin typeface="Arial Black"/>
              <a:cs typeface="Arial Black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2030209" y="1519171"/>
            <a:ext cx="169989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[</a:t>
            </a:r>
            <a:r>
              <a:rPr sz="1200" i="1" spc="75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Fill</a:t>
            </a:r>
            <a:r>
              <a:rPr sz="1200" i="1" spc="85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in</a:t>
            </a:r>
            <a:r>
              <a:rPr sz="1200" i="1" spc="80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your</a:t>
            </a:r>
            <a:r>
              <a:rPr sz="1200" i="1" spc="75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content</a:t>
            </a:r>
            <a:r>
              <a:rPr sz="1200" i="1" spc="80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spc="-10" dirty="0">
                <a:solidFill>
                  <a:srgbClr val="ACACB5"/>
                </a:solidFill>
                <a:latin typeface="Calibri"/>
                <a:cs typeface="Calibri"/>
              </a:rPr>
              <a:t>here</a:t>
            </a:r>
            <a:r>
              <a:rPr sz="1200" i="1" spc="80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spc="-50" dirty="0">
                <a:solidFill>
                  <a:srgbClr val="ACACB5"/>
                </a:solidFill>
                <a:latin typeface="Calibri"/>
                <a:cs typeface="Calibri"/>
              </a:rPr>
              <a:t>]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5" name="object 5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9" name="object 9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sz="600" spc="-10" dirty="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 dirty="0">
              <a:latin typeface="Tahoma"/>
              <a:cs typeface="Tahoma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10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</p:spTree>
  </p:cSld>
  <p:clrMapOvr>
    <a:masterClrMapping/>
  </p:clrMapOvr>
  <p:transition>
    <p:cut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5300" y="57337"/>
            <a:ext cx="3564890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400" spc="-125" dirty="0">
                <a:solidFill>
                  <a:srgbClr val="FFFFFF"/>
                </a:solidFill>
                <a:latin typeface="Arial Black"/>
                <a:cs typeface="Arial Black"/>
              </a:rPr>
              <a:t>Detection</a:t>
            </a:r>
            <a:r>
              <a:rPr sz="1400" spc="5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114" dirty="0">
                <a:solidFill>
                  <a:srgbClr val="FFFFFF"/>
                </a:solidFill>
                <a:latin typeface="Arial Black"/>
                <a:cs typeface="Arial Black"/>
              </a:rPr>
              <a:t>Pipeline</a:t>
            </a:r>
            <a:r>
              <a:rPr sz="1400" spc="25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dirty="0">
                <a:solidFill>
                  <a:srgbClr val="FFFFFF"/>
                </a:solidFill>
                <a:latin typeface="Arial Black"/>
                <a:cs typeface="Arial Black"/>
              </a:rPr>
              <a:t>&amp;</a:t>
            </a:r>
            <a:r>
              <a:rPr sz="1400" spc="3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80" dirty="0">
                <a:solidFill>
                  <a:srgbClr val="FFFFFF"/>
                </a:solidFill>
                <a:latin typeface="Arial Black"/>
                <a:cs typeface="Arial Black"/>
              </a:rPr>
              <a:t>Root</a:t>
            </a:r>
            <a:r>
              <a:rPr sz="1400" spc="25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180" dirty="0">
                <a:solidFill>
                  <a:srgbClr val="FFFFFF"/>
                </a:solidFill>
                <a:latin typeface="Arial Black"/>
                <a:cs typeface="Arial Black"/>
              </a:rPr>
              <a:t>Cause</a:t>
            </a:r>
            <a:r>
              <a:rPr sz="1400" spc="55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125" dirty="0">
                <a:solidFill>
                  <a:srgbClr val="FFFFFF"/>
                </a:solidFill>
                <a:latin typeface="Arial Black"/>
                <a:cs typeface="Arial Black"/>
              </a:rPr>
              <a:t>Analysis</a:t>
            </a:r>
            <a:endParaRPr sz="1400">
              <a:latin typeface="Arial Black"/>
              <a:cs typeface="Arial Black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2030209" y="1519171"/>
            <a:ext cx="169989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[</a:t>
            </a:r>
            <a:r>
              <a:rPr sz="1200" i="1" spc="75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Fill</a:t>
            </a:r>
            <a:r>
              <a:rPr sz="1200" i="1" spc="85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in</a:t>
            </a:r>
            <a:r>
              <a:rPr sz="1200" i="1" spc="80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your</a:t>
            </a:r>
            <a:r>
              <a:rPr sz="1200" i="1" spc="75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content</a:t>
            </a:r>
            <a:r>
              <a:rPr sz="1200" i="1" spc="80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spc="-10" dirty="0">
                <a:solidFill>
                  <a:srgbClr val="ACACB5"/>
                </a:solidFill>
                <a:latin typeface="Calibri"/>
                <a:cs typeface="Calibri"/>
              </a:rPr>
              <a:t>here</a:t>
            </a:r>
            <a:r>
              <a:rPr sz="1200" i="1" spc="80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spc="-50" dirty="0">
                <a:solidFill>
                  <a:srgbClr val="ACACB5"/>
                </a:solidFill>
                <a:latin typeface="Calibri"/>
                <a:cs typeface="Calibri"/>
              </a:rPr>
              <a:t>]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5" name="object 5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9" name="object 9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sz="600" spc="-10" dirty="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 dirty="0">
              <a:latin typeface="Tahoma"/>
              <a:cs typeface="Tahoma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11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</p:spTree>
  </p:cSld>
  <p:clrMapOvr>
    <a:masterClrMapping/>
  </p:clrMapOvr>
  <p:transition>
    <p:cut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pc="-10" dirty="0"/>
              <a:t>KPI</a:t>
            </a:r>
            <a:r>
              <a:rPr spc="25" dirty="0"/>
              <a:t> </a:t>
            </a:r>
            <a:r>
              <a:rPr spc="-130" dirty="0"/>
              <a:t>Degradation</a:t>
            </a:r>
            <a:r>
              <a:rPr spc="30" dirty="0"/>
              <a:t> </a:t>
            </a:r>
            <a:r>
              <a:rPr spc="-125" dirty="0"/>
              <a:t>Analyzer</a:t>
            </a:r>
            <a:r>
              <a:rPr spc="25" dirty="0"/>
              <a:t> </a:t>
            </a:r>
            <a:r>
              <a:rPr spc="165" dirty="0"/>
              <a:t>—</a:t>
            </a:r>
            <a:r>
              <a:rPr spc="30" dirty="0"/>
              <a:t> </a:t>
            </a:r>
            <a:r>
              <a:rPr spc="-120" dirty="0"/>
              <a:t>Interface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020366" y="1473960"/>
            <a:ext cx="1719580" cy="43878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90"/>
              </a:spcBef>
            </a:pPr>
            <a:r>
              <a:rPr sz="1100" i="1" dirty="0">
                <a:solidFill>
                  <a:srgbClr val="13132C"/>
                </a:solidFill>
                <a:latin typeface="Calibri"/>
                <a:cs typeface="Calibri"/>
              </a:rPr>
              <a:t>Screenshot</a:t>
            </a:r>
            <a:r>
              <a:rPr sz="1100" i="1" spc="120" dirty="0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sz="1100" i="1" dirty="0">
                <a:solidFill>
                  <a:srgbClr val="13132C"/>
                </a:solidFill>
                <a:latin typeface="Calibri"/>
                <a:cs typeface="Calibri"/>
              </a:rPr>
              <a:t>not</a:t>
            </a:r>
            <a:r>
              <a:rPr sz="1100" i="1" spc="120" dirty="0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sz="1100" i="1" dirty="0">
                <a:solidFill>
                  <a:srgbClr val="13132C"/>
                </a:solidFill>
                <a:latin typeface="Calibri"/>
                <a:cs typeface="Calibri"/>
              </a:rPr>
              <a:t>yet</a:t>
            </a:r>
            <a:r>
              <a:rPr sz="1100" i="1" spc="120" dirty="0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sz="1100" i="1" spc="-10" dirty="0">
                <a:solidFill>
                  <a:srgbClr val="13132C"/>
                </a:solidFill>
                <a:latin typeface="Calibri"/>
                <a:cs typeface="Calibri"/>
              </a:rPr>
              <a:t>added</a:t>
            </a:r>
            <a:endParaRPr sz="1100">
              <a:latin typeface="Calibri"/>
              <a:cs typeface="Calibri"/>
            </a:endParaRPr>
          </a:p>
          <a:p>
            <a:pPr algn="ctr">
              <a:lnSpc>
                <a:spcPct val="100000"/>
              </a:lnSpc>
              <a:spcBef>
                <a:spcPts val="1220"/>
              </a:spcBef>
            </a:pPr>
            <a:r>
              <a:rPr sz="600" spc="-10" dirty="0">
                <a:solidFill>
                  <a:srgbClr val="13132C"/>
                </a:solidFill>
                <a:latin typeface="Palatino Linotype"/>
                <a:cs typeface="Palatino Linotype"/>
              </a:rPr>
              <a:t>screenshots/tasneem/kpi_degradation_ui.png</a:t>
            </a:r>
            <a:endParaRPr sz="600">
              <a:latin typeface="Palatino Linotype"/>
              <a:cs typeface="Palatino Linotype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378764" y="473087"/>
            <a:ext cx="5002530" cy="2484755"/>
            <a:chOff x="378764" y="473087"/>
            <a:chExt cx="5002530" cy="2484755"/>
          </a:xfrm>
        </p:grpSpPr>
        <p:sp>
          <p:nvSpPr>
            <p:cNvPr id="5" name="object 5"/>
            <p:cNvSpPr/>
            <p:nvPr/>
          </p:nvSpPr>
          <p:spPr>
            <a:xfrm>
              <a:off x="378764" y="475614"/>
              <a:ext cx="5002530" cy="0"/>
            </a:xfrm>
            <a:custGeom>
              <a:avLst/>
              <a:gdLst/>
              <a:ahLst/>
              <a:cxnLst/>
              <a:rect l="l" t="t" r="r" b="b"/>
              <a:pathLst>
                <a:path w="5002530">
                  <a:moveTo>
                    <a:pt x="0" y="0"/>
                  </a:moveTo>
                  <a:lnTo>
                    <a:pt x="5002466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381292" y="475614"/>
              <a:ext cx="0" cy="2479675"/>
            </a:xfrm>
            <a:custGeom>
              <a:avLst/>
              <a:gdLst/>
              <a:ahLst/>
              <a:cxnLst/>
              <a:rect l="l" t="t" r="r" b="b"/>
              <a:pathLst>
                <a:path h="2479675">
                  <a:moveTo>
                    <a:pt x="0" y="2479217"/>
                  </a:moveTo>
                  <a:lnTo>
                    <a:pt x="0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5378704" y="475614"/>
              <a:ext cx="0" cy="2479675"/>
            </a:xfrm>
            <a:custGeom>
              <a:avLst/>
              <a:gdLst/>
              <a:ahLst/>
              <a:cxnLst/>
              <a:rect l="l" t="t" r="r" b="b"/>
              <a:pathLst>
                <a:path h="2479675">
                  <a:moveTo>
                    <a:pt x="0" y="2479217"/>
                  </a:moveTo>
                  <a:lnTo>
                    <a:pt x="0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378764" y="2954832"/>
              <a:ext cx="5002530" cy="0"/>
            </a:xfrm>
            <a:custGeom>
              <a:avLst/>
              <a:gdLst/>
              <a:ahLst/>
              <a:cxnLst/>
              <a:rect l="l" t="t" r="r" b="b"/>
              <a:pathLst>
                <a:path w="5002530">
                  <a:moveTo>
                    <a:pt x="0" y="0"/>
                  </a:moveTo>
                  <a:lnTo>
                    <a:pt x="5002466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10" name="object 10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14" name="object 14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sz="600" spc="-10" dirty="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 dirty="0">
              <a:latin typeface="Tahoma"/>
              <a:cs typeface="Tahoma"/>
            </a:endParaRPr>
          </a:p>
        </p:txBody>
      </p:sp>
      <p:sp>
        <p:nvSpPr>
          <p:cNvPr id="15" name="object 1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12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</p:spTree>
  </p:cSld>
  <p:clrMapOvr>
    <a:masterClrMapping/>
  </p:clrMapOvr>
  <p:transition>
    <p:cut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95300" y="57337"/>
            <a:ext cx="3046730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pc="-10" dirty="0"/>
              <a:t>KPI</a:t>
            </a:r>
            <a:r>
              <a:rPr spc="10" dirty="0"/>
              <a:t> </a:t>
            </a:r>
            <a:r>
              <a:rPr spc="-130" dirty="0"/>
              <a:t>Degradation</a:t>
            </a:r>
            <a:r>
              <a:rPr spc="25" dirty="0"/>
              <a:t> </a:t>
            </a:r>
            <a:r>
              <a:rPr spc="165" dirty="0"/>
              <a:t>—</a:t>
            </a:r>
            <a:r>
              <a:rPr spc="25" dirty="0"/>
              <a:t> </a:t>
            </a:r>
            <a:r>
              <a:rPr spc="-150" dirty="0"/>
              <a:t>Sample</a:t>
            </a:r>
            <a:r>
              <a:rPr spc="35" dirty="0"/>
              <a:t> </a:t>
            </a:r>
            <a:r>
              <a:rPr spc="-125" dirty="0"/>
              <a:t>Results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919541" y="1473960"/>
            <a:ext cx="1921510" cy="43878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90"/>
              </a:spcBef>
            </a:pPr>
            <a:r>
              <a:rPr sz="1100" i="1" dirty="0">
                <a:solidFill>
                  <a:srgbClr val="13132C"/>
                </a:solidFill>
                <a:latin typeface="Calibri"/>
                <a:cs typeface="Calibri"/>
              </a:rPr>
              <a:t>Screenshot</a:t>
            </a:r>
            <a:r>
              <a:rPr sz="1100" i="1" spc="120" dirty="0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sz="1100" i="1" dirty="0">
                <a:solidFill>
                  <a:srgbClr val="13132C"/>
                </a:solidFill>
                <a:latin typeface="Calibri"/>
                <a:cs typeface="Calibri"/>
              </a:rPr>
              <a:t>not</a:t>
            </a:r>
            <a:r>
              <a:rPr sz="1100" i="1" spc="120" dirty="0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sz="1100" i="1" dirty="0">
                <a:solidFill>
                  <a:srgbClr val="13132C"/>
                </a:solidFill>
                <a:latin typeface="Calibri"/>
                <a:cs typeface="Calibri"/>
              </a:rPr>
              <a:t>yet</a:t>
            </a:r>
            <a:r>
              <a:rPr sz="1100" i="1" spc="120" dirty="0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sz="1100" i="1" spc="-10" dirty="0">
                <a:solidFill>
                  <a:srgbClr val="13132C"/>
                </a:solidFill>
                <a:latin typeface="Calibri"/>
                <a:cs typeface="Calibri"/>
              </a:rPr>
              <a:t>added</a:t>
            </a:r>
            <a:endParaRPr sz="1100">
              <a:latin typeface="Calibri"/>
              <a:cs typeface="Calibri"/>
            </a:endParaRPr>
          </a:p>
          <a:p>
            <a:pPr algn="ctr">
              <a:lnSpc>
                <a:spcPct val="100000"/>
              </a:lnSpc>
              <a:spcBef>
                <a:spcPts val="1220"/>
              </a:spcBef>
            </a:pPr>
            <a:r>
              <a:rPr sz="600" spc="-10" dirty="0">
                <a:solidFill>
                  <a:srgbClr val="13132C"/>
                </a:solidFill>
                <a:latin typeface="Palatino Linotype"/>
                <a:cs typeface="Palatino Linotype"/>
              </a:rPr>
              <a:t>screenshots/tasneem/kpi_degradation_results.png</a:t>
            </a:r>
            <a:endParaRPr sz="600">
              <a:latin typeface="Palatino Linotype"/>
              <a:cs typeface="Palatino Linotype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378764" y="473087"/>
            <a:ext cx="5002530" cy="2484755"/>
            <a:chOff x="378764" y="473087"/>
            <a:chExt cx="5002530" cy="2484755"/>
          </a:xfrm>
        </p:grpSpPr>
        <p:sp>
          <p:nvSpPr>
            <p:cNvPr id="5" name="object 5"/>
            <p:cNvSpPr/>
            <p:nvPr/>
          </p:nvSpPr>
          <p:spPr>
            <a:xfrm>
              <a:off x="378764" y="475614"/>
              <a:ext cx="5002530" cy="0"/>
            </a:xfrm>
            <a:custGeom>
              <a:avLst/>
              <a:gdLst/>
              <a:ahLst/>
              <a:cxnLst/>
              <a:rect l="l" t="t" r="r" b="b"/>
              <a:pathLst>
                <a:path w="5002530">
                  <a:moveTo>
                    <a:pt x="0" y="0"/>
                  </a:moveTo>
                  <a:lnTo>
                    <a:pt x="5002466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381292" y="475614"/>
              <a:ext cx="0" cy="2479675"/>
            </a:xfrm>
            <a:custGeom>
              <a:avLst/>
              <a:gdLst/>
              <a:ahLst/>
              <a:cxnLst/>
              <a:rect l="l" t="t" r="r" b="b"/>
              <a:pathLst>
                <a:path h="2479675">
                  <a:moveTo>
                    <a:pt x="0" y="2479217"/>
                  </a:moveTo>
                  <a:lnTo>
                    <a:pt x="0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5378704" y="475614"/>
              <a:ext cx="0" cy="2479675"/>
            </a:xfrm>
            <a:custGeom>
              <a:avLst/>
              <a:gdLst/>
              <a:ahLst/>
              <a:cxnLst/>
              <a:rect l="l" t="t" r="r" b="b"/>
              <a:pathLst>
                <a:path h="2479675">
                  <a:moveTo>
                    <a:pt x="0" y="2479217"/>
                  </a:moveTo>
                  <a:lnTo>
                    <a:pt x="0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378764" y="2954832"/>
              <a:ext cx="5002530" cy="0"/>
            </a:xfrm>
            <a:custGeom>
              <a:avLst/>
              <a:gdLst/>
              <a:ahLst/>
              <a:cxnLst/>
              <a:rect l="l" t="t" r="r" b="b"/>
              <a:pathLst>
                <a:path w="5002530">
                  <a:moveTo>
                    <a:pt x="0" y="0"/>
                  </a:moveTo>
                  <a:lnTo>
                    <a:pt x="5002466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10" name="object 10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14" name="object 14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sz="600" spc="-10" dirty="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 dirty="0">
              <a:latin typeface="Tahoma"/>
              <a:cs typeface="Tahoma"/>
            </a:endParaRPr>
          </a:p>
        </p:txBody>
      </p:sp>
      <p:sp>
        <p:nvSpPr>
          <p:cNvPr id="15" name="object 1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13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</p:spTree>
  </p:cSld>
  <p:clrMapOvr>
    <a:masterClrMapping/>
  </p:clrMapOvr>
  <p:transition>
    <p:cut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97827" y="860157"/>
            <a:ext cx="4523105" cy="529590"/>
            <a:chOff x="97827" y="860157"/>
            <a:chExt cx="4523105" cy="529590"/>
          </a:xfrm>
        </p:grpSpPr>
        <p:sp>
          <p:nvSpPr>
            <p:cNvPr id="3" name="object 3"/>
            <p:cNvSpPr/>
            <p:nvPr/>
          </p:nvSpPr>
          <p:spPr>
            <a:xfrm>
              <a:off x="97827" y="860157"/>
              <a:ext cx="4472305" cy="82550"/>
            </a:xfrm>
            <a:custGeom>
              <a:avLst/>
              <a:gdLst/>
              <a:ahLst/>
              <a:cxnLst/>
              <a:rect l="l" t="t" r="r" b="b"/>
              <a:pathLst>
                <a:path w="4472305" h="82550">
                  <a:moveTo>
                    <a:pt x="4421063" y="0"/>
                  </a:moveTo>
                  <a:lnTo>
                    <a:pt x="50800" y="0"/>
                  </a:lnTo>
                  <a:lnTo>
                    <a:pt x="31075" y="4008"/>
                  </a:lnTo>
                  <a:lnTo>
                    <a:pt x="14922" y="14922"/>
                  </a:lnTo>
                  <a:lnTo>
                    <a:pt x="4008" y="31075"/>
                  </a:lnTo>
                  <a:lnTo>
                    <a:pt x="0" y="50800"/>
                  </a:lnTo>
                  <a:lnTo>
                    <a:pt x="0" y="82384"/>
                  </a:lnTo>
                  <a:lnTo>
                    <a:pt x="4471864" y="82384"/>
                  </a:lnTo>
                  <a:lnTo>
                    <a:pt x="4471864" y="50800"/>
                  </a:lnTo>
                  <a:lnTo>
                    <a:pt x="4467855" y="31075"/>
                  </a:lnTo>
                  <a:lnTo>
                    <a:pt x="4456941" y="14922"/>
                  </a:lnTo>
                  <a:lnTo>
                    <a:pt x="4440788" y="4008"/>
                  </a:lnTo>
                  <a:lnTo>
                    <a:pt x="4421063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148628" y="923413"/>
              <a:ext cx="4472305" cy="466090"/>
            </a:xfrm>
            <a:custGeom>
              <a:avLst/>
              <a:gdLst/>
              <a:ahLst/>
              <a:cxnLst/>
              <a:rect l="l" t="t" r="r" b="b"/>
              <a:pathLst>
                <a:path w="4472305" h="466090">
                  <a:moveTo>
                    <a:pt x="4471864" y="0"/>
                  </a:moveTo>
                  <a:lnTo>
                    <a:pt x="0" y="0"/>
                  </a:lnTo>
                  <a:lnTo>
                    <a:pt x="0" y="466094"/>
                  </a:lnTo>
                  <a:lnTo>
                    <a:pt x="4471864" y="466094"/>
                  </a:lnTo>
                  <a:lnTo>
                    <a:pt x="4471864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97827" y="904576"/>
              <a:ext cx="4472305" cy="434340"/>
            </a:xfrm>
            <a:custGeom>
              <a:avLst/>
              <a:gdLst/>
              <a:ahLst/>
              <a:cxnLst/>
              <a:rect l="l" t="t" r="r" b="b"/>
              <a:pathLst>
                <a:path w="4472305" h="434340">
                  <a:moveTo>
                    <a:pt x="4471864" y="0"/>
                  </a:moveTo>
                  <a:lnTo>
                    <a:pt x="0" y="0"/>
                  </a:lnTo>
                  <a:lnTo>
                    <a:pt x="0" y="383330"/>
                  </a:lnTo>
                  <a:lnTo>
                    <a:pt x="4008" y="403055"/>
                  </a:lnTo>
                  <a:lnTo>
                    <a:pt x="14922" y="419208"/>
                  </a:lnTo>
                  <a:lnTo>
                    <a:pt x="31075" y="430122"/>
                  </a:lnTo>
                  <a:lnTo>
                    <a:pt x="50800" y="434130"/>
                  </a:lnTo>
                  <a:lnTo>
                    <a:pt x="4421063" y="434130"/>
                  </a:lnTo>
                  <a:lnTo>
                    <a:pt x="4440788" y="430122"/>
                  </a:lnTo>
                  <a:lnTo>
                    <a:pt x="4456941" y="419208"/>
                  </a:lnTo>
                  <a:lnTo>
                    <a:pt x="4467855" y="403055"/>
                  </a:lnTo>
                  <a:lnTo>
                    <a:pt x="4471864" y="383330"/>
                  </a:lnTo>
                  <a:lnTo>
                    <a:pt x="4471864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148628" y="923413"/>
            <a:ext cx="4472305" cy="466090"/>
          </a:xfrm>
          <a:prstGeom prst="rect">
            <a:avLst/>
          </a:prstGeom>
        </p:spPr>
        <p:txBody>
          <a:bodyPr vert="horz" wrap="square" lIns="0" tIns="56515" rIns="0" bIns="0" rtlCol="0">
            <a:spAutoFit/>
          </a:bodyPr>
          <a:lstStyle/>
          <a:p>
            <a:pPr marR="93980" algn="ctr">
              <a:lnSpc>
                <a:spcPct val="100000"/>
              </a:lnSpc>
              <a:spcBef>
                <a:spcPts val="445"/>
              </a:spcBef>
            </a:pPr>
            <a:r>
              <a:rPr sz="1400" spc="-140" dirty="0">
                <a:solidFill>
                  <a:srgbClr val="FFFFFF"/>
                </a:solidFill>
                <a:latin typeface="Arial Black"/>
                <a:cs typeface="Arial Black"/>
              </a:rPr>
              <a:t>Ibrahim</a:t>
            </a:r>
            <a:r>
              <a:rPr sz="1400" spc="6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20" dirty="0">
                <a:solidFill>
                  <a:srgbClr val="FFFFFF"/>
                </a:solidFill>
                <a:latin typeface="Arial Black"/>
                <a:cs typeface="Arial Black"/>
              </a:rPr>
              <a:t>Samy</a:t>
            </a:r>
            <a:endParaRPr sz="1400">
              <a:latin typeface="Arial Black"/>
              <a:cs typeface="Arial Black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97815" y="1520761"/>
            <a:ext cx="4472305" cy="584835"/>
          </a:xfrm>
          <a:custGeom>
            <a:avLst/>
            <a:gdLst/>
            <a:ahLst/>
            <a:cxnLst/>
            <a:rect l="l" t="t" r="r" b="b"/>
            <a:pathLst>
              <a:path w="4472305" h="584835">
                <a:moveTo>
                  <a:pt x="4471873" y="44424"/>
                </a:moveTo>
                <a:lnTo>
                  <a:pt x="4470565" y="44424"/>
                </a:lnTo>
                <a:lnTo>
                  <a:pt x="4467860" y="31076"/>
                </a:lnTo>
                <a:lnTo>
                  <a:pt x="4456950" y="14922"/>
                </a:lnTo>
                <a:lnTo>
                  <a:pt x="4440796" y="4013"/>
                </a:lnTo>
                <a:lnTo>
                  <a:pt x="4421073" y="0"/>
                </a:lnTo>
                <a:lnTo>
                  <a:pt x="50812" y="0"/>
                </a:lnTo>
                <a:lnTo>
                  <a:pt x="31076" y="4013"/>
                </a:lnTo>
                <a:lnTo>
                  <a:pt x="14922" y="14922"/>
                </a:lnTo>
                <a:lnTo>
                  <a:pt x="4013" y="31076"/>
                </a:lnTo>
                <a:lnTo>
                  <a:pt x="1295" y="44424"/>
                </a:lnTo>
                <a:lnTo>
                  <a:pt x="0" y="44424"/>
                </a:lnTo>
                <a:lnTo>
                  <a:pt x="0" y="50800"/>
                </a:lnTo>
                <a:lnTo>
                  <a:pt x="0" y="82384"/>
                </a:lnTo>
                <a:lnTo>
                  <a:pt x="0" y="533603"/>
                </a:lnTo>
                <a:lnTo>
                  <a:pt x="4013" y="553339"/>
                </a:lnTo>
                <a:lnTo>
                  <a:pt x="14922" y="569493"/>
                </a:lnTo>
                <a:lnTo>
                  <a:pt x="31076" y="580402"/>
                </a:lnTo>
                <a:lnTo>
                  <a:pt x="50812" y="584415"/>
                </a:lnTo>
                <a:lnTo>
                  <a:pt x="4421073" y="584415"/>
                </a:lnTo>
                <a:lnTo>
                  <a:pt x="4440796" y="580402"/>
                </a:lnTo>
                <a:lnTo>
                  <a:pt x="4456950" y="569493"/>
                </a:lnTo>
                <a:lnTo>
                  <a:pt x="4467860" y="553339"/>
                </a:lnTo>
                <a:lnTo>
                  <a:pt x="4471873" y="533603"/>
                </a:lnTo>
                <a:lnTo>
                  <a:pt x="4471873" y="82384"/>
                </a:lnTo>
                <a:lnTo>
                  <a:pt x="4471873" y="50800"/>
                </a:lnTo>
                <a:lnTo>
                  <a:pt x="4471873" y="44424"/>
                </a:lnTo>
                <a:close/>
              </a:path>
            </a:pathLst>
          </a:custGeom>
          <a:solidFill>
            <a:srgbClr val="E5E5E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459930" y="1607309"/>
            <a:ext cx="3747770" cy="3911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68095" marR="5080" indent="-1256030">
              <a:lnSpc>
                <a:spcPct val="100000"/>
              </a:lnSpc>
              <a:spcBef>
                <a:spcPts val="95"/>
              </a:spcBef>
            </a:pPr>
            <a:r>
              <a:rPr sz="1200" dirty="0">
                <a:solidFill>
                  <a:srgbClr val="13132C"/>
                </a:solidFill>
                <a:latin typeface="Tahoma"/>
                <a:cs typeface="Tahoma"/>
              </a:rPr>
              <a:t>KPI</a:t>
            </a:r>
            <a:r>
              <a:rPr sz="1200" spc="-5" dirty="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sz="1200" spc="-55" dirty="0">
                <a:solidFill>
                  <a:srgbClr val="13132C"/>
                </a:solidFill>
                <a:latin typeface="Tahoma"/>
                <a:cs typeface="Tahoma"/>
              </a:rPr>
              <a:t>Forecasting</a:t>
            </a:r>
            <a:r>
              <a:rPr sz="1200" spc="-10" dirty="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sz="1200" spc="-45" dirty="0">
                <a:solidFill>
                  <a:srgbClr val="13132C"/>
                </a:solidFill>
                <a:latin typeface="Tahoma"/>
                <a:cs typeface="Tahoma"/>
              </a:rPr>
              <a:t>Engine</a:t>
            </a:r>
            <a:r>
              <a:rPr sz="1200" spc="-5" dirty="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sz="1200" spc="355" dirty="0">
                <a:solidFill>
                  <a:srgbClr val="13132C"/>
                </a:solidFill>
                <a:latin typeface="Tahoma"/>
                <a:cs typeface="Tahoma"/>
              </a:rPr>
              <a:t>•</a:t>
            </a:r>
            <a:r>
              <a:rPr sz="1200" spc="-10" dirty="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sz="1200" spc="-30" dirty="0">
                <a:solidFill>
                  <a:srgbClr val="13132C"/>
                </a:solidFill>
                <a:latin typeface="Tahoma"/>
                <a:cs typeface="Tahoma"/>
              </a:rPr>
              <a:t>Models</a:t>
            </a:r>
            <a:r>
              <a:rPr sz="1200" spc="-5" dirty="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sz="1200" spc="355" dirty="0">
                <a:solidFill>
                  <a:srgbClr val="13132C"/>
                </a:solidFill>
                <a:latin typeface="Tahoma"/>
                <a:cs typeface="Tahoma"/>
              </a:rPr>
              <a:t>•</a:t>
            </a:r>
            <a:r>
              <a:rPr sz="1200" spc="-10" dirty="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sz="1200" spc="-50" dirty="0">
                <a:solidFill>
                  <a:srgbClr val="13132C"/>
                </a:solidFill>
                <a:latin typeface="Tahoma"/>
                <a:cs typeface="Tahoma"/>
              </a:rPr>
              <a:t>Feature</a:t>
            </a:r>
            <a:r>
              <a:rPr sz="1200" spc="-5" dirty="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sz="1200" spc="-55" dirty="0">
                <a:solidFill>
                  <a:srgbClr val="13132C"/>
                </a:solidFill>
                <a:latin typeface="Tahoma"/>
                <a:cs typeface="Tahoma"/>
              </a:rPr>
              <a:t>Engineering</a:t>
            </a:r>
            <a:r>
              <a:rPr sz="1200" spc="-5" dirty="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sz="1200" spc="305" dirty="0">
                <a:solidFill>
                  <a:srgbClr val="13132C"/>
                </a:solidFill>
                <a:latin typeface="Tahoma"/>
                <a:cs typeface="Tahoma"/>
              </a:rPr>
              <a:t>• </a:t>
            </a:r>
            <a:r>
              <a:rPr sz="1200" spc="-40" dirty="0">
                <a:solidFill>
                  <a:srgbClr val="13132C"/>
                </a:solidFill>
                <a:latin typeface="Tahoma"/>
                <a:cs typeface="Tahoma"/>
              </a:rPr>
              <a:t>Accuracy</a:t>
            </a:r>
            <a:r>
              <a:rPr sz="1200" spc="-20" dirty="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sz="1200" spc="70" dirty="0">
                <a:solidFill>
                  <a:srgbClr val="13132C"/>
                </a:solidFill>
                <a:latin typeface="Tahoma"/>
                <a:cs typeface="Tahoma"/>
              </a:rPr>
              <a:t>&amp;</a:t>
            </a:r>
            <a:r>
              <a:rPr sz="1200" spc="-15" dirty="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sz="1200" spc="-10" dirty="0">
                <a:solidFill>
                  <a:srgbClr val="13132C"/>
                </a:solidFill>
                <a:latin typeface="Tahoma"/>
                <a:cs typeface="Tahoma"/>
              </a:rPr>
              <a:t>Results</a:t>
            </a:r>
            <a:endParaRPr sz="1200">
              <a:latin typeface="Tahoma"/>
              <a:cs typeface="Tahoma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10" name="object 10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14" name="object 14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sz="600" spc="-10" dirty="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 dirty="0">
              <a:latin typeface="Tahoma"/>
              <a:cs typeface="Tahoma"/>
            </a:endParaRPr>
          </a:p>
        </p:txBody>
      </p:sp>
      <p:sp>
        <p:nvSpPr>
          <p:cNvPr id="15" name="object 1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14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</p:spTree>
  </p:cSld>
  <p:clrMapOvr>
    <a:masterClrMapping/>
  </p:clrMapOvr>
  <p:transition>
    <p:cut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5300" y="57337"/>
            <a:ext cx="3689985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400" spc="-165" dirty="0">
                <a:solidFill>
                  <a:srgbClr val="FFFFFF"/>
                </a:solidFill>
                <a:latin typeface="Arial Black"/>
                <a:cs typeface="Arial Black"/>
              </a:rPr>
              <a:t>Forecasting</a:t>
            </a:r>
            <a:r>
              <a:rPr sz="1400" spc="45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100" dirty="0">
                <a:solidFill>
                  <a:srgbClr val="FFFFFF"/>
                </a:solidFill>
                <a:latin typeface="Arial Black"/>
                <a:cs typeface="Arial Black"/>
              </a:rPr>
              <a:t>Module</a:t>
            </a:r>
            <a:r>
              <a:rPr sz="1400" spc="5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145" dirty="0">
                <a:solidFill>
                  <a:srgbClr val="FFFFFF"/>
                </a:solidFill>
                <a:latin typeface="Arial Black"/>
                <a:cs typeface="Arial Black"/>
              </a:rPr>
              <a:t>Overview</a:t>
            </a:r>
            <a:r>
              <a:rPr sz="1400" spc="45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dirty="0">
                <a:solidFill>
                  <a:srgbClr val="FFFFFF"/>
                </a:solidFill>
                <a:latin typeface="Arial Black"/>
                <a:cs typeface="Arial Black"/>
              </a:rPr>
              <a:t>&amp;</a:t>
            </a:r>
            <a:r>
              <a:rPr sz="1400" spc="5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80" dirty="0">
                <a:solidFill>
                  <a:srgbClr val="FFFFFF"/>
                </a:solidFill>
                <a:latin typeface="Arial Black"/>
                <a:cs typeface="Arial Black"/>
              </a:rPr>
              <a:t>Motivation</a:t>
            </a:r>
            <a:endParaRPr sz="1400">
              <a:latin typeface="Arial Black"/>
              <a:cs typeface="Arial Black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5" name="object 5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9" name="object 9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sz="600" spc="-10" dirty="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 dirty="0">
              <a:latin typeface="Tahoma"/>
              <a:cs typeface="Tahoma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15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829AA27-868C-E1CC-0B29-F674CF5022F3}"/>
              </a:ext>
            </a:extLst>
          </p:cNvPr>
          <p:cNvSpPr txBox="1"/>
          <p:nvPr/>
        </p:nvSpPr>
        <p:spPr>
          <a:xfrm>
            <a:off x="215900" y="403225"/>
            <a:ext cx="387936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Predict Network Problems Before They Become Outages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725B314-B832-A7D5-F1F6-BDEB76783902}"/>
              </a:ext>
            </a:extLst>
          </p:cNvPr>
          <p:cNvSpPr txBox="1"/>
          <p:nvPr/>
        </p:nvSpPr>
        <p:spPr>
          <a:xfrm>
            <a:off x="-1745" y="1317625"/>
            <a:ext cx="5767545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• Reactive maintenance = incident → ticket → emergency truck roll </a:t>
            </a:r>
          </a:p>
          <a:p>
            <a:endParaRPr lang="en-US" sz="1400" dirty="0"/>
          </a:p>
          <a:p>
            <a:r>
              <a:rPr lang="en-US" sz="1400" dirty="0"/>
              <a:t>• We forecast 12 LTE KPIs per cell, 7 days ahead, from a standard 30-day CSV export</a:t>
            </a:r>
          </a:p>
        </p:txBody>
      </p:sp>
    </p:spTree>
  </p:cSld>
  <p:clrMapOvr>
    <a:masterClrMapping/>
  </p:clrMapOvr>
  <p:transition>
    <p:cut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5300" y="57337"/>
            <a:ext cx="4277360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400" spc="-165" dirty="0">
                <a:solidFill>
                  <a:srgbClr val="FFFFFF"/>
                </a:solidFill>
                <a:latin typeface="Arial Black"/>
                <a:cs typeface="Arial Black"/>
              </a:rPr>
              <a:t>Forecasting</a:t>
            </a:r>
            <a:r>
              <a:rPr sz="1400" spc="6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150" dirty="0">
                <a:solidFill>
                  <a:srgbClr val="FFFFFF"/>
                </a:solidFill>
                <a:latin typeface="Arial Black"/>
                <a:cs typeface="Arial Black"/>
              </a:rPr>
              <a:t>Approach</a:t>
            </a:r>
            <a:r>
              <a:rPr sz="1400" spc="6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165" dirty="0">
                <a:solidFill>
                  <a:srgbClr val="FFFFFF"/>
                </a:solidFill>
                <a:latin typeface="Arial Black"/>
                <a:cs typeface="Arial Black"/>
              </a:rPr>
              <a:t>—</a:t>
            </a:r>
            <a:r>
              <a:rPr sz="1400" spc="6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114" dirty="0">
                <a:solidFill>
                  <a:srgbClr val="FFFFFF"/>
                </a:solidFill>
                <a:latin typeface="Arial Black"/>
                <a:cs typeface="Arial Black"/>
              </a:rPr>
              <a:t>XGBoost</a:t>
            </a:r>
            <a:r>
              <a:rPr sz="1400" spc="6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dirty="0">
                <a:solidFill>
                  <a:srgbClr val="FFFFFF"/>
                </a:solidFill>
                <a:latin typeface="Arial Black"/>
                <a:cs typeface="Arial Black"/>
              </a:rPr>
              <a:t>&amp;</a:t>
            </a:r>
            <a:r>
              <a:rPr sz="1400" spc="6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95" dirty="0">
                <a:solidFill>
                  <a:srgbClr val="FFFFFF"/>
                </a:solidFill>
                <a:latin typeface="Arial Black"/>
                <a:cs typeface="Arial Black"/>
              </a:rPr>
              <a:t>Holt-</a:t>
            </a:r>
            <a:r>
              <a:rPr sz="1400" spc="-40" dirty="0">
                <a:solidFill>
                  <a:srgbClr val="FFFFFF"/>
                </a:solidFill>
                <a:latin typeface="Arial Black"/>
                <a:cs typeface="Arial Black"/>
              </a:rPr>
              <a:t>Winters</a:t>
            </a:r>
            <a:endParaRPr sz="1400">
              <a:latin typeface="Arial Black"/>
              <a:cs typeface="Arial Black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255765" y="1009732"/>
            <a:ext cx="5254270" cy="136896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200" dirty="0"/>
              <a:t>• Naive baseline — sanity check: is this cell even predictable? </a:t>
            </a:r>
          </a:p>
          <a:p>
            <a:pPr marL="12700">
              <a:lnSpc>
                <a:spcPct val="100000"/>
              </a:lnSpc>
              <a:spcBef>
                <a:spcPts val="95"/>
              </a:spcBef>
            </a:pPr>
            <a:endParaRPr lang="en-US" sz="1200" dirty="0"/>
          </a:p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200" dirty="0"/>
              <a:t>• Holt-Winters — catches weekly traffic rhythms (strong on seasonal KPIs) </a:t>
            </a:r>
          </a:p>
          <a:p>
            <a:pPr marL="12700">
              <a:lnSpc>
                <a:spcPct val="100000"/>
              </a:lnSpc>
              <a:spcBef>
                <a:spcPts val="95"/>
              </a:spcBef>
            </a:pPr>
            <a:endParaRPr lang="en-US" sz="1200" dirty="0"/>
          </a:p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200" dirty="0"/>
              <a:t>• </a:t>
            </a:r>
            <a:r>
              <a:rPr lang="en-US" sz="1200" dirty="0" err="1"/>
              <a:t>XGBoost</a:t>
            </a:r>
            <a:r>
              <a:rPr lang="en-US" sz="1200" dirty="0"/>
              <a:t> — learns cross-KPI relationships (e.g., handover quality → throughput) </a:t>
            </a:r>
          </a:p>
          <a:p>
            <a:pPr marL="12700">
              <a:lnSpc>
                <a:spcPct val="100000"/>
              </a:lnSpc>
              <a:spcBef>
                <a:spcPts val="95"/>
              </a:spcBef>
            </a:pPr>
            <a:endParaRPr sz="1200" dirty="0">
              <a:latin typeface="Calibri"/>
              <a:cs typeface="Calibri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5" name="object 5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9" name="object 9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sz="600" spc="-10" dirty="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 dirty="0">
              <a:latin typeface="Tahoma"/>
              <a:cs typeface="Tahoma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16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</p:spTree>
  </p:cSld>
  <p:clrMapOvr>
    <a:masterClrMapping/>
  </p:clrMapOvr>
  <p:transition>
    <p:cut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5300" y="57337"/>
            <a:ext cx="4213860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400" spc="-145" dirty="0">
                <a:solidFill>
                  <a:srgbClr val="FFFFFF"/>
                </a:solidFill>
                <a:latin typeface="Arial Black"/>
                <a:cs typeface="Arial Black"/>
              </a:rPr>
              <a:t>Feature</a:t>
            </a:r>
            <a:r>
              <a:rPr sz="1400" spc="6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145" dirty="0">
                <a:solidFill>
                  <a:srgbClr val="FFFFFF"/>
                </a:solidFill>
                <a:latin typeface="Arial Black"/>
                <a:cs typeface="Arial Black"/>
              </a:rPr>
              <a:t>Engineering</a:t>
            </a:r>
            <a:r>
              <a:rPr sz="1400" spc="6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dirty="0">
                <a:solidFill>
                  <a:srgbClr val="FFFFFF"/>
                </a:solidFill>
                <a:latin typeface="Arial Black"/>
                <a:cs typeface="Arial Black"/>
              </a:rPr>
              <a:t>&amp;</a:t>
            </a:r>
            <a:r>
              <a:rPr sz="1400" spc="6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160" dirty="0">
                <a:solidFill>
                  <a:srgbClr val="FFFFFF"/>
                </a:solidFill>
                <a:latin typeface="Arial Black"/>
                <a:cs typeface="Arial Black"/>
              </a:rPr>
              <a:t>Seasonality</a:t>
            </a:r>
            <a:r>
              <a:rPr sz="1400" spc="65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114" dirty="0">
                <a:solidFill>
                  <a:srgbClr val="FFFFFF"/>
                </a:solidFill>
                <a:latin typeface="Arial Black"/>
                <a:cs typeface="Arial Black"/>
              </a:rPr>
              <a:t>Decomposition</a:t>
            </a:r>
            <a:endParaRPr sz="1400">
              <a:latin typeface="Arial Black"/>
              <a:cs typeface="Arial Black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169283" y="784225"/>
            <a:ext cx="4999617" cy="1935786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200" dirty="0"/>
              <a:t>• Every cell is scored by weekly seasonality strength — engineers see which forecasts to trust first </a:t>
            </a:r>
          </a:p>
          <a:p>
            <a:pPr marL="12700">
              <a:lnSpc>
                <a:spcPct val="100000"/>
              </a:lnSpc>
              <a:spcBef>
                <a:spcPts val="95"/>
              </a:spcBef>
            </a:pPr>
            <a:endParaRPr lang="en-US" sz="1200" dirty="0"/>
          </a:p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200" dirty="0"/>
              <a:t>• All features are leakage-safe: built strictly from past observations only </a:t>
            </a:r>
          </a:p>
          <a:p>
            <a:pPr marL="12700">
              <a:lnSpc>
                <a:spcPct val="100000"/>
              </a:lnSpc>
              <a:spcBef>
                <a:spcPts val="95"/>
              </a:spcBef>
            </a:pPr>
            <a:endParaRPr lang="en-US" sz="1200" dirty="0"/>
          </a:p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200" dirty="0"/>
              <a:t>• Cross-KPI lags let throughput learn from handover success, PRB utilization, and drop rate — relationships a human might miss </a:t>
            </a:r>
          </a:p>
          <a:p>
            <a:pPr marL="12700">
              <a:lnSpc>
                <a:spcPct val="100000"/>
              </a:lnSpc>
              <a:spcBef>
                <a:spcPts val="95"/>
              </a:spcBef>
            </a:pPr>
            <a:endParaRPr lang="en-US" sz="1200" dirty="0"/>
          </a:p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200" dirty="0"/>
              <a:t>• 40+ features auto-generated per KPI; zero manual feature engineering required</a:t>
            </a:r>
            <a:endParaRPr sz="1200" dirty="0">
              <a:latin typeface="Calibri"/>
              <a:cs typeface="Calibri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5" name="object 5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9" name="object 9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sz="600" spc="-10" dirty="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 dirty="0">
              <a:latin typeface="Tahoma"/>
              <a:cs typeface="Tahoma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17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</p:spTree>
  </p:cSld>
  <p:clrMapOvr>
    <a:masterClrMapping/>
  </p:clrMapOvr>
  <p:transition>
    <p:cut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pc="-165" dirty="0"/>
              <a:t>Forecasting</a:t>
            </a:r>
            <a:r>
              <a:rPr spc="60" dirty="0"/>
              <a:t> </a:t>
            </a:r>
            <a:r>
              <a:rPr spc="-100" dirty="0"/>
              <a:t>Module</a:t>
            </a:r>
            <a:r>
              <a:rPr spc="60" dirty="0"/>
              <a:t> </a:t>
            </a:r>
            <a:r>
              <a:rPr spc="165" dirty="0"/>
              <a:t>—</a:t>
            </a:r>
            <a:r>
              <a:rPr spc="65" dirty="0"/>
              <a:t> </a:t>
            </a:r>
            <a:r>
              <a:rPr spc="-120" dirty="0"/>
              <a:t>Interface</a:t>
            </a:r>
          </a:p>
        </p:txBody>
      </p:sp>
      <p:grpSp>
        <p:nvGrpSpPr>
          <p:cNvPr id="4" name="object 4"/>
          <p:cNvGrpSpPr/>
          <p:nvPr/>
        </p:nvGrpSpPr>
        <p:grpSpPr>
          <a:xfrm>
            <a:off x="378764" y="473087"/>
            <a:ext cx="5002530" cy="2484755"/>
            <a:chOff x="378764" y="473087"/>
            <a:chExt cx="5002530" cy="2484755"/>
          </a:xfrm>
        </p:grpSpPr>
        <p:sp>
          <p:nvSpPr>
            <p:cNvPr id="5" name="object 5"/>
            <p:cNvSpPr/>
            <p:nvPr/>
          </p:nvSpPr>
          <p:spPr>
            <a:xfrm>
              <a:off x="378764" y="475614"/>
              <a:ext cx="5002530" cy="0"/>
            </a:xfrm>
            <a:custGeom>
              <a:avLst/>
              <a:gdLst/>
              <a:ahLst/>
              <a:cxnLst/>
              <a:rect l="l" t="t" r="r" b="b"/>
              <a:pathLst>
                <a:path w="5002530">
                  <a:moveTo>
                    <a:pt x="0" y="0"/>
                  </a:moveTo>
                  <a:lnTo>
                    <a:pt x="5002466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381292" y="475614"/>
              <a:ext cx="0" cy="2479675"/>
            </a:xfrm>
            <a:custGeom>
              <a:avLst/>
              <a:gdLst/>
              <a:ahLst/>
              <a:cxnLst/>
              <a:rect l="l" t="t" r="r" b="b"/>
              <a:pathLst>
                <a:path h="2479675">
                  <a:moveTo>
                    <a:pt x="0" y="2479217"/>
                  </a:moveTo>
                  <a:lnTo>
                    <a:pt x="0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5378704" y="475614"/>
              <a:ext cx="0" cy="2479675"/>
            </a:xfrm>
            <a:custGeom>
              <a:avLst/>
              <a:gdLst/>
              <a:ahLst/>
              <a:cxnLst/>
              <a:rect l="l" t="t" r="r" b="b"/>
              <a:pathLst>
                <a:path h="2479675">
                  <a:moveTo>
                    <a:pt x="0" y="2479217"/>
                  </a:moveTo>
                  <a:lnTo>
                    <a:pt x="0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378764" y="2954832"/>
              <a:ext cx="5002530" cy="0"/>
            </a:xfrm>
            <a:custGeom>
              <a:avLst/>
              <a:gdLst/>
              <a:ahLst/>
              <a:cxnLst/>
              <a:rect l="l" t="t" r="r" b="b"/>
              <a:pathLst>
                <a:path w="5002530">
                  <a:moveTo>
                    <a:pt x="0" y="0"/>
                  </a:moveTo>
                  <a:lnTo>
                    <a:pt x="5002466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10" name="object 10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14" name="object 14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sz="600" spc="-10" dirty="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 dirty="0">
              <a:latin typeface="Tahoma"/>
              <a:cs typeface="Tahoma"/>
            </a:endParaRPr>
          </a:p>
        </p:txBody>
      </p:sp>
      <p:sp>
        <p:nvSpPr>
          <p:cNvPr id="15" name="object 1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18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EE4E8A35-ABDC-C0B7-11ED-D11A99EAF9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6786" y="301812"/>
            <a:ext cx="1069652" cy="2943038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DA2EB379-88DE-E0D3-437C-4996493CCD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2884" y="327025"/>
            <a:ext cx="4866442" cy="2917825"/>
          </a:xfrm>
          <a:prstGeom prst="rect">
            <a:avLst/>
          </a:prstGeom>
        </p:spPr>
      </p:pic>
    </p:spTree>
  </p:cSld>
  <p:clrMapOvr>
    <a:masterClrMapping/>
  </p:clrMapOvr>
  <p:transition>
    <p:cut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pc="-85" dirty="0"/>
              <a:t>Model</a:t>
            </a:r>
            <a:r>
              <a:rPr spc="10" dirty="0"/>
              <a:t> </a:t>
            </a:r>
            <a:r>
              <a:rPr spc="-130" dirty="0"/>
              <a:t>Evaluation</a:t>
            </a:r>
            <a:r>
              <a:rPr spc="35" dirty="0"/>
              <a:t> </a:t>
            </a:r>
            <a:r>
              <a:rPr dirty="0"/>
              <a:t>&amp;</a:t>
            </a:r>
            <a:r>
              <a:rPr spc="35" dirty="0"/>
              <a:t> </a:t>
            </a:r>
            <a:r>
              <a:rPr spc="-180" dirty="0"/>
              <a:t>Accuracy</a:t>
            </a:r>
            <a:r>
              <a:rPr spc="55" dirty="0"/>
              <a:t> </a:t>
            </a:r>
            <a:r>
              <a:rPr spc="-95" dirty="0"/>
              <a:t>Metrics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060701" y="1473960"/>
            <a:ext cx="1638935" cy="43878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90"/>
              </a:spcBef>
            </a:pPr>
            <a:r>
              <a:rPr sz="1100" i="1" dirty="0">
                <a:solidFill>
                  <a:srgbClr val="13132C"/>
                </a:solidFill>
                <a:latin typeface="Calibri"/>
                <a:cs typeface="Calibri"/>
              </a:rPr>
              <a:t>Screenshot</a:t>
            </a:r>
            <a:r>
              <a:rPr sz="1100" i="1" spc="120" dirty="0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sz="1100" i="1" dirty="0">
                <a:solidFill>
                  <a:srgbClr val="13132C"/>
                </a:solidFill>
                <a:latin typeface="Calibri"/>
                <a:cs typeface="Calibri"/>
              </a:rPr>
              <a:t>not</a:t>
            </a:r>
            <a:r>
              <a:rPr sz="1100" i="1" spc="120" dirty="0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sz="1100" i="1" dirty="0">
                <a:solidFill>
                  <a:srgbClr val="13132C"/>
                </a:solidFill>
                <a:latin typeface="Calibri"/>
                <a:cs typeface="Calibri"/>
              </a:rPr>
              <a:t>yet</a:t>
            </a:r>
            <a:r>
              <a:rPr sz="1100" i="1" spc="120" dirty="0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sz="1100" i="1" spc="-10" dirty="0">
                <a:solidFill>
                  <a:srgbClr val="13132C"/>
                </a:solidFill>
                <a:latin typeface="Calibri"/>
                <a:cs typeface="Calibri"/>
              </a:rPr>
              <a:t>added</a:t>
            </a:r>
            <a:endParaRPr sz="1100">
              <a:latin typeface="Calibri"/>
              <a:cs typeface="Calibri"/>
            </a:endParaRPr>
          </a:p>
          <a:p>
            <a:pPr algn="ctr">
              <a:lnSpc>
                <a:spcPct val="100000"/>
              </a:lnSpc>
              <a:spcBef>
                <a:spcPts val="1220"/>
              </a:spcBef>
            </a:pPr>
            <a:r>
              <a:rPr sz="600" spc="-10" dirty="0">
                <a:solidFill>
                  <a:srgbClr val="13132C"/>
                </a:solidFill>
                <a:latin typeface="Palatino Linotype"/>
                <a:cs typeface="Palatino Linotype"/>
              </a:rPr>
              <a:t>screenshots/ibrahim/accuracy_metrics.png</a:t>
            </a:r>
            <a:endParaRPr sz="600">
              <a:latin typeface="Palatino Linotype"/>
              <a:cs typeface="Palatino Linotype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378764" y="473087"/>
            <a:ext cx="5002530" cy="2484755"/>
            <a:chOff x="378764" y="473087"/>
            <a:chExt cx="5002530" cy="2484755"/>
          </a:xfrm>
        </p:grpSpPr>
        <p:sp>
          <p:nvSpPr>
            <p:cNvPr id="5" name="object 5"/>
            <p:cNvSpPr/>
            <p:nvPr/>
          </p:nvSpPr>
          <p:spPr>
            <a:xfrm>
              <a:off x="378764" y="475614"/>
              <a:ext cx="5002530" cy="0"/>
            </a:xfrm>
            <a:custGeom>
              <a:avLst/>
              <a:gdLst/>
              <a:ahLst/>
              <a:cxnLst/>
              <a:rect l="l" t="t" r="r" b="b"/>
              <a:pathLst>
                <a:path w="5002530">
                  <a:moveTo>
                    <a:pt x="0" y="0"/>
                  </a:moveTo>
                  <a:lnTo>
                    <a:pt x="5002466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381292" y="475614"/>
              <a:ext cx="0" cy="2479675"/>
            </a:xfrm>
            <a:custGeom>
              <a:avLst/>
              <a:gdLst/>
              <a:ahLst/>
              <a:cxnLst/>
              <a:rect l="l" t="t" r="r" b="b"/>
              <a:pathLst>
                <a:path h="2479675">
                  <a:moveTo>
                    <a:pt x="0" y="2479217"/>
                  </a:moveTo>
                  <a:lnTo>
                    <a:pt x="0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5378704" y="475614"/>
              <a:ext cx="0" cy="2479675"/>
            </a:xfrm>
            <a:custGeom>
              <a:avLst/>
              <a:gdLst/>
              <a:ahLst/>
              <a:cxnLst/>
              <a:rect l="l" t="t" r="r" b="b"/>
              <a:pathLst>
                <a:path h="2479675">
                  <a:moveTo>
                    <a:pt x="0" y="2479217"/>
                  </a:moveTo>
                  <a:lnTo>
                    <a:pt x="0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378764" y="2954832"/>
              <a:ext cx="5002530" cy="0"/>
            </a:xfrm>
            <a:custGeom>
              <a:avLst/>
              <a:gdLst/>
              <a:ahLst/>
              <a:cxnLst/>
              <a:rect l="l" t="t" r="r" b="b"/>
              <a:pathLst>
                <a:path w="5002530">
                  <a:moveTo>
                    <a:pt x="0" y="0"/>
                  </a:moveTo>
                  <a:lnTo>
                    <a:pt x="5002466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10" name="object 10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14" name="object 14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sz="600" spc="-10" dirty="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 dirty="0">
              <a:latin typeface="Tahoma"/>
              <a:cs typeface="Tahoma"/>
            </a:endParaRPr>
          </a:p>
        </p:txBody>
      </p:sp>
      <p:sp>
        <p:nvSpPr>
          <p:cNvPr id="15" name="object 1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19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B39F4223-A9A9-AA0B-8E57-1FC230E946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258" y="840209"/>
            <a:ext cx="5765800" cy="2282176"/>
          </a:xfrm>
          <a:prstGeom prst="rect">
            <a:avLst/>
          </a:prstGeom>
        </p:spPr>
      </p:pic>
    </p:spTree>
  </p:cSld>
  <p:clrMapOvr>
    <a:masterClrMapping/>
  </p:clrMapOvr>
  <p:transition>
    <p:cut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FDAA08-51F1-E090-CAE1-DA76C70A2A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300" y="57337"/>
            <a:ext cx="3531870" cy="215444"/>
          </a:xfrm>
        </p:spPr>
        <p:txBody>
          <a:bodyPr/>
          <a:lstStyle/>
          <a:p>
            <a:r>
              <a:rPr lang="en-US" dirty="0"/>
              <a:t>Cell prediction accuracy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B0CF530-C280-C064-525F-75307B961C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42963"/>
            <a:ext cx="5765800" cy="17589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16498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95300" y="57337"/>
            <a:ext cx="2609215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pc="-55" dirty="0"/>
              <a:t>7-</a:t>
            </a:r>
            <a:r>
              <a:rPr spc="-85" dirty="0"/>
              <a:t>Day</a:t>
            </a:r>
            <a:r>
              <a:rPr spc="-35" dirty="0"/>
              <a:t> </a:t>
            </a:r>
            <a:r>
              <a:rPr spc="-10" dirty="0"/>
              <a:t>KPI</a:t>
            </a:r>
            <a:r>
              <a:rPr spc="15" dirty="0"/>
              <a:t> </a:t>
            </a:r>
            <a:r>
              <a:rPr spc="-170" dirty="0"/>
              <a:t>Forecast</a:t>
            </a:r>
            <a:r>
              <a:rPr spc="50" dirty="0"/>
              <a:t> </a:t>
            </a:r>
            <a:r>
              <a:rPr spc="165" dirty="0"/>
              <a:t>—</a:t>
            </a:r>
            <a:r>
              <a:rPr spc="15" dirty="0"/>
              <a:t> </a:t>
            </a:r>
            <a:r>
              <a:rPr spc="-60" dirty="0"/>
              <a:t>Output</a:t>
            </a:r>
          </a:p>
        </p:txBody>
      </p:sp>
      <p:grpSp>
        <p:nvGrpSpPr>
          <p:cNvPr id="9" name="object 9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10" name="object 10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14" name="object 14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sz="600" spc="-10" dirty="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 dirty="0">
              <a:latin typeface="Tahoma"/>
              <a:cs typeface="Tahoma"/>
            </a:endParaRPr>
          </a:p>
        </p:txBody>
      </p:sp>
      <p:sp>
        <p:nvSpPr>
          <p:cNvPr id="15" name="object 1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21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4B3CD544-C091-151D-C527-EFE436CEE35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370" r="1098" b="6250"/>
          <a:stretch/>
        </p:blipFill>
        <p:spPr>
          <a:xfrm>
            <a:off x="-5258" y="321143"/>
            <a:ext cx="5765800" cy="2801241"/>
          </a:xfrm>
          <a:prstGeom prst="rect">
            <a:avLst/>
          </a:prstGeom>
        </p:spPr>
      </p:pic>
    </p:spTree>
  </p:cSld>
  <p:clrMapOvr>
    <a:masterClrMapping/>
  </p:clrMapOvr>
  <p:transition>
    <p:cut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pc="-114" dirty="0"/>
              <a:t>XGBoost</a:t>
            </a:r>
            <a:r>
              <a:rPr spc="45" dirty="0"/>
              <a:t> </a:t>
            </a:r>
            <a:r>
              <a:rPr spc="-145" dirty="0"/>
              <a:t>Feature</a:t>
            </a:r>
            <a:r>
              <a:rPr spc="45" dirty="0"/>
              <a:t> </a:t>
            </a:r>
            <a:r>
              <a:rPr spc="-130" dirty="0"/>
              <a:t>Importance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020366" y="1473960"/>
            <a:ext cx="1719580" cy="43878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90"/>
              </a:spcBef>
            </a:pPr>
            <a:r>
              <a:rPr sz="1100" i="1" dirty="0">
                <a:solidFill>
                  <a:srgbClr val="13132C"/>
                </a:solidFill>
                <a:latin typeface="Calibri"/>
                <a:cs typeface="Calibri"/>
              </a:rPr>
              <a:t>Screenshot</a:t>
            </a:r>
            <a:r>
              <a:rPr sz="1100" i="1" spc="120" dirty="0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sz="1100" i="1" dirty="0">
                <a:solidFill>
                  <a:srgbClr val="13132C"/>
                </a:solidFill>
                <a:latin typeface="Calibri"/>
                <a:cs typeface="Calibri"/>
              </a:rPr>
              <a:t>not</a:t>
            </a:r>
            <a:r>
              <a:rPr sz="1100" i="1" spc="120" dirty="0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sz="1100" i="1" dirty="0">
                <a:solidFill>
                  <a:srgbClr val="13132C"/>
                </a:solidFill>
                <a:latin typeface="Calibri"/>
                <a:cs typeface="Calibri"/>
              </a:rPr>
              <a:t>yet</a:t>
            </a:r>
            <a:r>
              <a:rPr sz="1100" i="1" spc="120" dirty="0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sz="1100" i="1" spc="-10" dirty="0">
                <a:solidFill>
                  <a:srgbClr val="13132C"/>
                </a:solidFill>
                <a:latin typeface="Calibri"/>
                <a:cs typeface="Calibri"/>
              </a:rPr>
              <a:t>added</a:t>
            </a:r>
            <a:endParaRPr sz="1100" dirty="0">
              <a:latin typeface="Calibri"/>
              <a:cs typeface="Calibri"/>
            </a:endParaRPr>
          </a:p>
          <a:p>
            <a:pPr algn="ctr">
              <a:lnSpc>
                <a:spcPct val="100000"/>
              </a:lnSpc>
              <a:spcBef>
                <a:spcPts val="1220"/>
              </a:spcBef>
            </a:pPr>
            <a:r>
              <a:rPr sz="600" spc="-10" dirty="0">
                <a:solidFill>
                  <a:srgbClr val="13132C"/>
                </a:solidFill>
                <a:latin typeface="Palatino Linotype"/>
                <a:cs typeface="Palatino Linotype"/>
              </a:rPr>
              <a:t>screenshots/ibrahim/feature_importance.png</a:t>
            </a:r>
            <a:endParaRPr sz="600" dirty="0">
              <a:latin typeface="Palatino Linotype"/>
              <a:cs typeface="Palatino Linotype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378764" y="473087"/>
            <a:ext cx="5002530" cy="2484755"/>
            <a:chOff x="378764" y="473087"/>
            <a:chExt cx="5002530" cy="2484755"/>
          </a:xfrm>
        </p:grpSpPr>
        <p:sp>
          <p:nvSpPr>
            <p:cNvPr id="5" name="object 5"/>
            <p:cNvSpPr/>
            <p:nvPr/>
          </p:nvSpPr>
          <p:spPr>
            <a:xfrm>
              <a:off x="378764" y="475614"/>
              <a:ext cx="5002530" cy="0"/>
            </a:xfrm>
            <a:custGeom>
              <a:avLst/>
              <a:gdLst/>
              <a:ahLst/>
              <a:cxnLst/>
              <a:rect l="l" t="t" r="r" b="b"/>
              <a:pathLst>
                <a:path w="5002530">
                  <a:moveTo>
                    <a:pt x="0" y="0"/>
                  </a:moveTo>
                  <a:lnTo>
                    <a:pt x="5002466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381292" y="475614"/>
              <a:ext cx="0" cy="2479675"/>
            </a:xfrm>
            <a:custGeom>
              <a:avLst/>
              <a:gdLst/>
              <a:ahLst/>
              <a:cxnLst/>
              <a:rect l="l" t="t" r="r" b="b"/>
              <a:pathLst>
                <a:path h="2479675">
                  <a:moveTo>
                    <a:pt x="0" y="2479217"/>
                  </a:moveTo>
                  <a:lnTo>
                    <a:pt x="0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5378704" y="475614"/>
              <a:ext cx="0" cy="2479675"/>
            </a:xfrm>
            <a:custGeom>
              <a:avLst/>
              <a:gdLst/>
              <a:ahLst/>
              <a:cxnLst/>
              <a:rect l="l" t="t" r="r" b="b"/>
              <a:pathLst>
                <a:path h="2479675">
                  <a:moveTo>
                    <a:pt x="0" y="2479217"/>
                  </a:moveTo>
                  <a:lnTo>
                    <a:pt x="0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378764" y="2954832"/>
              <a:ext cx="5002530" cy="0"/>
            </a:xfrm>
            <a:custGeom>
              <a:avLst/>
              <a:gdLst/>
              <a:ahLst/>
              <a:cxnLst/>
              <a:rect l="l" t="t" r="r" b="b"/>
              <a:pathLst>
                <a:path w="5002530">
                  <a:moveTo>
                    <a:pt x="0" y="0"/>
                  </a:moveTo>
                  <a:lnTo>
                    <a:pt x="5002466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10" name="object 10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14" name="object 14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sz="600" spc="-10" dirty="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 dirty="0">
              <a:latin typeface="Tahoma"/>
              <a:cs typeface="Tahoma"/>
            </a:endParaRPr>
          </a:p>
        </p:txBody>
      </p:sp>
      <p:sp>
        <p:nvSpPr>
          <p:cNvPr id="15" name="object 1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22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2BD4813E-8763-FFF6-6F67-6845C44265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17822"/>
            <a:ext cx="5765800" cy="2514317"/>
          </a:xfrm>
          <a:prstGeom prst="rect">
            <a:avLst/>
          </a:prstGeom>
        </p:spPr>
      </p:pic>
    </p:spTree>
  </p:cSld>
  <p:clrMapOvr>
    <a:masterClrMapping/>
  </p:clrMapOvr>
  <p:transition>
    <p:cut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97827" y="864374"/>
            <a:ext cx="4523105" cy="529590"/>
            <a:chOff x="97827" y="864374"/>
            <a:chExt cx="4523105" cy="529590"/>
          </a:xfrm>
        </p:grpSpPr>
        <p:sp>
          <p:nvSpPr>
            <p:cNvPr id="3" name="object 3"/>
            <p:cNvSpPr/>
            <p:nvPr/>
          </p:nvSpPr>
          <p:spPr>
            <a:xfrm>
              <a:off x="97827" y="864374"/>
              <a:ext cx="4472305" cy="82550"/>
            </a:xfrm>
            <a:custGeom>
              <a:avLst/>
              <a:gdLst/>
              <a:ahLst/>
              <a:cxnLst/>
              <a:rect l="l" t="t" r="r" b="b"/>
              <a:pathLst>
                <a:path w="4472305" h="82550">
                  <a:moveTo>
                    <a:pt x="4421063" y="0"/>
                  </a:moveTo>
                  <a:lnTo>
                    <a:pt x="50800" y="0"/>
                  </a:lnTo>
                  <a:lnTo>
                    <a:pt x="31075" y="4008"/>
                  </a:lnTo>
                  <a:lnTo>
                    <a:pt x="14922" y="14922"/>
                  </a:lnTo>
                  <a:lnTo>
                    <a:pt x="4008" y="31075"/>
                  </a:lnTo>
                  <a:lnTo>
                    <a:pt x="0" y="50800"/>
                  </a:lnTo>
                  <a:lnTo>
                    <a:pt x="0" y="82384"/>
                  </a:lnTo>
                  <a:lnTo>
                    <a:pt x="4471864" y="82384"/>
                  </a:lnTo>
                  <a:lnTo>
                    <a:pt x="4471864" y="50800"/>
                  </a:lnTo>
                  <a:lnTo>
                    <a:pt x="4467855" y="31075"/>
                  </a:lnTo>
                  <a:lnTo>
                    <a:pt x="4456941" y="14922"/>
                  </a:lnTo>
                  <a:lnTo>
                    <a:pt x="4440788" y="4008"/>
                  </a:lnTo>
                  <a:lnTo>
                    <a:pt x="4421063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148628" y="927629"/>
              <a:ext cx="4472305" cy="466090"/>
            </a:xfrm>
            <a:custGeom>
              <a:avLst/>
              <a:gdLst/>
              <a:ahLst/>
              <a:cxnLst/>
              <a:rect l="l" t="t" r="r" b="b"/>
              <a:pathLst>
                <a:path w="4472305" h="466090">
                  <a:moveTo>
                    <a:pt x="4471864" y="0"/>
                  </a:moveTo>
                  <a:lnTo>
                    <a:pt x="0" y="0"/>
                  </a:lnTo>
                  <a:lnTo>
                    <a:pt x="0" y="466094"/>
                  </a:lnTo>
                  <a:lnTo>
                    <a:pt x="4471864" y="466094"/>
                  </a:lnTo>
                  <a:lnTo>
                    <a:pt x="4471864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97827" y="908792"/>
              <a:ext cx="4472305" cy="434340"/>
            </a:xfrm>
            <a:custGeom>
              <a:avLst/>
              <a:gdLst/>
              <a:ahLst/>
              <a:cxnLst/>
              <a:rect l="l" t="t" r="r" b="b"/>
              <a:pathLst>
                <a:path w="4472305" h="434340">
                  <a:moveTo>
                    <a:pt x="4471864" y="0"/>
                  </a:moveTo>
                  <a:lnTo>
                    <a:pt x="0" y="0"/>
                  </a:lnTo>
                  <a:lnTo>
                    <a:pt x="0" y="383330"/>
                  </a:lnTo>
                  <a:lnTo>
                    <a:pt x="4008" y="403055"/>
                  </a:lnTo>
                  <a:lnTo>
                    <a:pt x="14922" y="419208"/>
                  </a:lnTo>
                  <a:lnTo>
                    <a:pt x="31075" y="430122"/>
                  </a:lnTo>
                  <a:lnTo>
                    <a:pt x="50800" y="434130"/>
                  </a:lnTo>
                  <a:lnTo>
                    <a:pt x="4421063" y="434130"/>
                  </a:lnTo>
                  <a:lnTo>
                    <a:pt x="4440788" y="430122"/>
                  </a:lnTo>
                  <a:lnTo>
                    <a:pt x="4456941" y="419208"/>
                  </a:lnTo>
                  <a:lnTo>
                    <a:pt x="4467855" y="403055"/>
                  </a:lnTo>
                  <a:lnTo>
                    <a:pt x="4471864" y="383330"/>
                  </a:lnTo>
                  <a:lnTo>
                    <a:pt x="4471864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 descr="$PPTXTitle"/>
          <p:cNvSpPr txBox="1">
            <a:spLocks noGrp="1"/>
          </p:cNvSpPr>
          <p:nvPr>
            <p:ph type="title"/>
          </p:nvPr>
        </p:nvSpPr>
        <p:spPr>
          <a:xfrm>
            <a:off x="148628" y="927629"/>
            <a:ext cx="4472305" cy="466090"/>
          </a:xfrm>
          <a:prstGeom prst="rect">
            <a:avLst/>
          </a:prstGeom>
        </p:spPr>
        <p:txBody>
          <a:bodyPr vert="horz" wrap="square" lIns="0" tIns="56515" rIns="0" bIns="0" rtlCol="0">
            <a:spAutoFit/>
          </a:bodyPr>
          <a:lstStyle/>
          <a:p>
            <a:pPr marR="93345" algn="ctr">
              <a:lnSpc>
                <a:spcPct val="100000"/>
              </a:lnSpc>
              <a:spcBef>
                <a:spcPts val="445"/>
              </a:spcBef>
            </a:pPr>
            <a:r>
              <a:rPr spc="-140" dirty="0"/>
              <a:t>Khaled</a:t>
            </a:r>
            <a:r>
              <a:rPr spc="35" dirty="0"/>
              <a:t> </a:t>
            </a:r>
            <a:r>
              <a:rPr spc="-10" dirty="0"/>
              <a:t>Mogahed</a:t>
            </a:r>
          </a:p>
        </p:txBody>
      </p:sp>
      <p:sp>
        <p:nvSpPr>
          <p:cNvPr id="7" name="object 7"/>
          <p:cNvSpPr/>
          <p:nvPr/>
        </p:nvSpPr>
        <p:spPr>
          <a:xfrm>
            <a:off x="97815" y="1524977"/>
            <a:ext cx="4472305" cy="574040"/>
          </a:xfrm>
          <a:custGeom>
            <a:avLst/>
            <a:gdLst/>
            <a:ahLst/>
            <a:cxnLst/>
            <a:rect l="l" t="t" r="r" b="b"/>
            <a:pathLst>
              <a:path w="4472305" h="574039">
                <a:moveTo>
                  <a:pt x="4471873" y="44424"/>
                </a:moveTo>
                <a:lnTo>
                  <a:pt x="4470565" y="44424"/>
                </a:lnTo>
                <a:lnTo>
                  <a:pt x="4467860" y="31076"/>
                </a:lnTo>
                <a:lnTo>
                  <a:pt x="4456950" y="14922"/>
                </a:lnTo>
                <a:lnTo>
                  <a:pt x="4440796" y="4013"/>
                </a:lnTo>
                <a:lnTo>
                  <a:pt x="4421073" y="0"/>
                </a:lnTo>
                <a:lnTo>
                  <a:pt x="50812" y="0"/>
                </a:lnTo>
                <a:lnTo>
                  <a:pt x="31076" y="4013"/>
                </a:lnTo>
                <a:lnTo>
                  <a:pt x="14922" y="14922"/>
                </a:lnTo>
                <a:lnTo>
                  <a:pt x="4013" y="31076"/>
                </a:lnTo>
                <a:lnTo>
                  <a:pt x="1295" y="44424"/>
                </a:lnTo>
                <a:lnTo>
                  <a:pt x="0" y="44424"/>
                </a:lnTo>
                <a:lnTo>
                  <a:pt x="0" y="50812"/>
                </a:lnTo>
                <a:lnTo>
                  <a:pt x="0" y="82384"/>
                </a:lnTo>
                <a:lnTo>
                  <a:pt x="0" y="523074"/>
                </a:lnTo>
                <a:lnTo>
                  <a:pt x="4013" y="542798"/>
                </a:lnTo>
                <a:lnTo>
                  <a:pt x="14922" y="558952"/>
                </a:lnTo>
                <a:lnTo>
                  <a:pt x="31076" y="569861"/>
                </a:lnTo>
                <a:lnTo>
                  <a:pt x="50812" y="573874"/>
                </a:lnTo>
                <a:lnTo>
                  <a:pt x="4421073" y="573874"/>
                </a:lnTo>
                <a:lnTo>
                  <a:pt x="4440796" y="569861"/>
                </a:lnTo>
                <a:lnTo>
                  <a:pt x="4456950" y="558952"/>
                </a:lnTo>
                <a:lnTo>
                  <a:pt x="4467860" y="542798"/>
                </a:lnTo>
                <a:lnTo>
                  <a:pt x="4471873" y="523074"/>
                </a:lnTo>
                <a:lnTo>
                  <a:pt x="4471873" y="82384"/>
                </a:lnTo>
                <a:lnTo>
                  <a:pt x="4471873" y="50812"/>
                </a:lnTo>
                <a:lnTo>
                  <a:pt x="4471873" y="44424"/>
                </a:lnTo>
                <a:close/>
              </a:path>
            </a:pathLst>
          </a:custGeom>
          <a:solidFill>
            <a:srgbClr val="E5E5E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268236" y="1611525"/>
            <a:ext cx="4131945" cy="45076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R="93345" algn="ctr">
              <a:lnSpc>
                <a:spcPct val="100000"/>
              </a:lnSpc>
              <a:spcBef>
                <a:spcPts val="445"/>
              </a:spcBef>
            </a:pPr>
            <a:r>
              <a:rPr lang="en-US" sz="1400" spc="-10" dirty="0">
                <a:solidFill>
                  <a:schemeClr val="tx1"/>
                </a:solidFill>
                <a:latin typeface="Tahoma"/>
                <a:cs typeface="Tahoma"/>
              </a:rPr>
              <a:t>Optimization</a:t>
            </a:r>
            <a:r>
              <a:rPr lang="en-US" sz="1400" spc="-50" dirty="0">
                <a:solidFill>
                  <a:schemeClr val="tx1"/>
                </a:solidFill>
                <a:latin typeface="Tahoma"/>
                <a:cs typeface="Tahoma"/>
              </a:rPr>
              <a:t> </a:t>
            </a:r>
            <a:r>
              <a:rPr lang="en-US" sz="1400" dirty="0">
                <a:solidFill>
                  <a:schemeClr val="tx1"/>
                </a:solidFill>
                <a:latin typeface="Tahoma"/>
                <a:cs typeface="Tahoma"/>
              </a:rPr>
              <a:t>Action</a:t>
            </a:r>
            <a:r>
              <a:rPr lang="en-US" sz="1400" spc="-45" dirty="0">
                <a:solidFill>
                  <a:schemeClr val="tx1"/>
                </a:solidFill>
                <a:latin typeface="Tahoma"/>
                <a:cs typeface="Tahoma"/>
              </a:rPr>
              <a:t> </a:t>
            </a:r>
            <a:r>
              <a:rPr lang="en-US" sz="1400" spc="-10" dirty="0">
                <a:solidFill>
                  <a:schemeClr val="tx1"/>
                </a:solidFill>
                <a:latin typeface="Tahoma"/>
                <a:cs typeface="Tahoma"/>
              </a:rPr>
              <a:t>Analyzer</a:t>
            </a:r>
            <a:endParaRPr lang="en-US" sz="1400" dirty="0">
              <a:solidFill>
                <a:schemeClr val="tx1"/>
              </a:solidFill>
              <a:latin typeface="Tahoma"/>
              <a:cs typeface="Tahoma"/>
            </a:endParaRPr>
          </a:p>
          <a:p>
            <a:pPr marR="93980" algn="ctr">
              <a:lnSpc>
                <a:spcPct val="100000"/>
              </a:lnSpc>
              <a:spcBef>
                <a:spcPts val="325"/>
              </a:spcBef>
            </a:pPr>
            <a:r>
              <a:rPr lang="en-US" sz="1100" spc="-35" dirty="0">
                <a:solidFill>
                  <a:schemeClr val="tx1"/>
                </a:solidFill>
                <a:latin typeface="Tahoma"/>
                <a:cs typeface="Tahoma"/>
              </a:rPr>
              <a:t>Version-</a:t>
            </a:r>
            <a:r>
              <a:rPr lang="en-US" sz="1100" spc="-30" dirty="0">
                <a:solidFill>
                  <a:schemeClr val="tx1"/>
                </a:solidFill>
                <a:latin typeface="Tahoma"/>
                <a:cs typeface="Tahoma"/>
              </a:rPr>
              <a:t>Controlled</a:t>
            </a:r>
            <a:r>
              <a:rPr lang="en-US" sz="1100" spc="15" dirty="0">
                <a:solidFill>
                  <a:schemeClr val="tx1"/>
                </a:solidFill>
                <a:latin typeface="Tahoma"/>
                <a:cs typeface="Tahoma"/>
              </a:rPr>
              <a:t> </a:t>
            </a:r>
            <a:r>
              <a:rPr lang="en-US" sz="1100" spc="-40" dirty="0">
                <a:solidFill>
                  <a:schemeClr val="tx1"/>
                </a:solidFill>
                <a:latin typeface="Tahoma"/>
                <a:cs typeface="Tahoma"/>
              </a:rPr>
              <a:t>Telecom</a:t>
            </a:r>
            <a:r>
              <a:rPr lang="en-US" sz="1100" spc="15" dirty="0">
                <a:solidFill>
                  <a:schemeClr val="tx1"/>
                </a:solidFill>
                <a:latin typeface="Tahoma"/>
                <a:cs typeface="Tahoma"/>
              </a:rPr>
              <a:t> </a:t>
            </a:r>
            <a:r>
              <a:rPr lang="en-US" sz="1100" dirty="0">
                <a:solidFill>
                  <a:schemeClr val="tx1"/>
                </a:solidFill>
                <a:latin typeface="Tahoma"/>
                <a:cs typeface="Tahoma"/>
              </a:rPr>
              <a:t>KPI</a:t>
            </a:r>
            <a:r>
              <a:rPr lang="en-US" sz="1100" spc="15" dirty="0">
                <a:solidFill>
                  <a:schemeClr val="tx1"/>
                </a:solidFill>
                <a:latin typeface="Tahoma"/>
                <a:cs typeface="Tahoma"/>
              </a:rPr>
              <a:t> </a:t>
            </a:r>
            <a:r>
              <a:rPr lang="en-US" sz="1100" spc="-35" dirty="0">
                <a:solidFill>
                  <a:schemeClr val="tx1"/>
                </a:solidFill>
                <a:latin typeface="Tahoma"/>
                <a:cs typeface="Tahoma"/>
              </a:rPr>
              <a:t>Impact</a:t>
            </a:r>
            <a:r>
              <a:rPr lang="en-US" sz="1100" spc="15" dirty="0">
                <a:solidFill>
                  <a:schemeClr val="tx1"/>
                </a:solidFill>
                <a:latin typeface="Tahoma"/>
                <a:cs typeface="Tahoma"/>
              </a:rPr>
              <a:t> </a:t>
            </a:r>
            <a:r>
              <a:rPr lang="en-US" sz="1100" spc="-10" dirty="0">
                <a:solidFill>
                  <a:schemeClr val="tx1"/>
                </a:solidFill>
                <a:latin typeface="Tahoma"/>
                <a:cs typeface="Tahoma"/>
              </a:rPr>
              <a:t>Analysis</a:t>
            </a:r>
            <a:endParaRPr lang="en-US" sz="1100" dirty="0">
              <a:solidFill>
                <a:schemeClr val="tx1"/>
              </a:solidFill>
              <a:latin typeface="Tahoma"/>
              <a:cs typeface="Tahoma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10" name="object 10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14" name="object 14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sz="600" spc="-10" dirty="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 dirty="0">
              <a:latin typeface="Tahoma"/>
              <a:cs typeface="Tahoma"/>
            </a:endParaRPr>
          </a:p>
        </p:txBody>
      </p:sp>
      <p:sp>
        <p:nvSpPr>
          <p:cNvPr id="15" name="object 1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23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</p:spTree>
  </p:cSld>
  <p:clrMapOvr>
    <a:masterClrMapping/>
  </p:clrMapOvr>
  <p:transition>
    <p:cut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/>
              <a:t>The</a:t>
            </a:r>
            <a:r>
              <a:rPr spc="-20" dirty="0"/>
              <a:t> </a:t>
            </a:r>
            <a:r>
              <a:rPr spc="-25" dirty="0"/>
              <a:t>Problem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02932" y="930273"/>
            <a:ext cx="5180330" cy="130048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100" i="1" dirty="0">
                <a:latin typeface="Calibri"/>
                <a:cs typeface="Calibri"/>
              </a:rPr>
              <a:t>“Did</a:t>
            </a:r>
            <a:r>
              <a:rPr sz="1100" i="1" spc="80" dirty="0">
                <a:latin typeface="Calibri"/>
                <a:cs typeface="Calibri"/>
              </a:rPr>
              <a:t> </a:t>
            </a:r>
            <a:r>
              <a:rPr sz="1100" i="1" dirty="0">
                <a:latin typeface="Calibri"/>
                <a:cs typeface="Calibri"/>
              </a:rPr>
              <a:t>the</a:t>
            </a:r>
            <a:r>
              <a:rPr sz="1100" i="1" spc="80" dirty="0">
                <a:latin typeface="Calibri"/>
                <a:cs typeface="Calibri"/>
              </a:rPr>
              <a:t> </a:t>
            </a:r>
            <a:r>
              <a:rPr sz="1100" i="1" dirty="0">
                <a:latin typeface="Calibri"/>
                <a:cs typeface="Calibri"/>
              </a:rPr>
              <a:t>change</a:t>
            </a:r>
            <a:r>
              <a:rPr sz="1100" i="1" spc="85" dirty="0">
                <a:latin typeface="Calibri"/>
                <a:cs typeface="Calibri"/>
              </a:rPr>
              <a:t> </a:t>
            </a:r>
            <a:r>
              <a:rPr sz="1100" i="1" dirty="0">
                <a:latin typeface="Calibri"/>
                <a:cs typeface="Calibri"/>
              </a:rPr>
              <a:t>we</a:t>
            </a:r>
            <a:r>
              <a:rPr sz="1100" i="1" spc="80" dirty="0">
                <a:latin typeface="Calibri"/>
                <a:cs typeface="Calibri"/>
              </a:rPr>
              <a:t> </a:t>
            </a:r>
            <a:r>
              <a:rPr sz="1100" i="1" dirty="0">
                <a:latin typeface="Calibri"/>
                <a:cs typeface="Calibri"/>
              </a:rPr>
              <a:t>just</a:t>
            </a:r>
            <a:r>
              <a:rPr sz="1100" i="1" spc="80" dirty="0">
                <a:latin typeface="Calibri"/>
                <a:cs typeface="Calibri"/>
              </a:rPr>
              <a:t> </a:t>
            </a:r>
            <a:r>
              <a:rPr sz="1100" i="1" dirty="0">
                <a:latin typeface="Calibri"/>
                <a:cs typeface="Calibri"/>
              </a:rPr>
              <a:t>made</a:t>
            </a:r>
            <a:r>
              <a:rPr sz="1100" i="1" spc="80" dirty="0">
                <a:latin typeface="Calibri"/>
                <a:cs typeface="Calibri"/>
              </a:rPr>
              <a:t> </a:t>
            </a:r>
            <a:r>
              <a:rPr sz="1100" i="1" dirty="0">
                <a:latin typeface="Calibri"/>
                <a:cs typeface="Calibri"/>
              </a:rPr>
              <a:t>actually</a:t>
            </a:r>
            <a:r>
              <a:rPr sz="1100" i="1" spc="80" dirty="0">
                <a:latin typeface="Calibri"/>
                <a:cs typeface="Calibri"/>
              </a:rPr>
              <a:t> </a:t>
            </a:r>
            <a:r>
              <a:rPr sz="1100" i="1" dirty="0">
                <a:latin typeface="Calibri"/>
                <a:cs typeface="Calibri"/>
              </a:rPr>
              <a:t>improve</a:t>
            </a:r>
            <a:r>
              <a:rPr sz="1100" i="1" spc="85" dirty="0">
                <a:latin typeface="Calibri"/>
                <a:cs typeface="Calibri"/>
              </a:rPr>
              <a:t> </a:t>
            </a:r>
            <a:r>
              <a:rPr sz="1100" i="1" dirty="0">
                <a:latin typeface="Calibri"/>
                <a:cs typeface="Calibri"/>
              </a:rPr>
              <a:t>the</a:t>
            </a:r>
            <a:r>
              <a:rPr sz="1100" i="1" spc="80" dirty="0">
                <a:latin typeface="Calibri"/>
                <a:cs typeface="Calibri"/>
              </a:rPr>
              <a:t> </a:t>
            </a:r>
            <a:r>
              <a:rPr sz="1100" i="1" spc="-10" dirty="0">
                <a:latin typeface="Calibri"/>
                <a:cs typeface="Calibri"/>
              </a:rPr>
              <a:t>network,</a:t>
            </a:r>
            <a:r>
              <a:rPr sz="1100" i="1" spc="85" dirty="0">
                <a:latin typeface="Calibri"/>
                <a:cs typeface="Calibri"/>
              </a:rPr>
              <a:t> </a:t>
            </a:r>
            <a:r>
              <a:rPr sz="1100" i="1" dirty="0">
                <a:latin typeface="Calibri"/>
                <a:cs typeface="Calibri"/>
              </a:rPr>
              <a:t>and</a:t>
            </a:r>
            <a:r>
              <a:rPr sz="1100" i="1" spc="80" dirty="0">
                <a:latin typeface="Calibri"/>
                <a:cs typeface="Calibri"/>
              </a:rPr>
              <a:t> </a:t>
            </a:r>
            <a:r>
              <a:rPr sz="1100" i="1" dirty="0">
                <a:latin typeface="Calibri"/>
                <a:cs typeface="Calibri"/>
              </a:rPr>
              <a:t>by</a:t>
            </a:r>
            <a:r>
              <a:rPr sz="1100" i="1" spc="80" dirty="0">
                <a:latin typeface="Calibri"/>
                <a:cs typeface="Calibri"/>
              </a:rPr>
              <a:t> </a:t>
            </a:r>
            <a:r>
              <a:rPr sz="1100" i="1" dirty="0">
                <a:latin typeface="Calibri"/>
                <a:cs typeface="Calibri"/>
              </a:rPr>
              <a:t>how</a:t>
            </a:r>
            <a:r>
              <a:rPr sz="1100" i="1" spc="80" dirty="0">
                <a:latin typeface="Calibri"/>
                <a:cs typeface="Calibri"/>
              </a:rPr>
              <a:t> </a:t>
            </a:r>
            <a:r>
              <a:rPr sz="1100" i="1" spc="-10" dirty="0">
                <a:latin typeface="Calibri"/>
                <a:cs typeface="Calibri"/>
              </a:rPr>
              <a:t>much?”</a:t>
            </a:r>
            <a:endParaRPr sz="110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10"/>
              </a:spcBef>
            </a:pPr>
            <a:endParaRPr sz="1100">
              <a:latin typeface="Calibri"/>
              <a:cs typeface="Calibri"/>
            </a:endParaRPr>
          </a:p>
          <a:p>
            <a:pPr marL="12700" marR="5080">
              <a:lnSpc>
                <a:spcPct val="102600"/>
              </a:lnSpc>
              <a:spcBef>
                <a:spcPts val="5"/>
              </a:spcBef>
            </a:pPr>
            <a:r>
              <a:rPr sz="1100" dirty="0">
                <a:latin typeface="Tahoma"/>
                <a:cs typeface="Tahoma"/>
              </a:rPr>
              <a:t>RAN</a:t>
            </a:r>
            <a:r>
              <a:rPr sz="1100" spc="20" dirty="0"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optimization</a:t>
            </a:r>
            <a:r>
              <a:rPr sz="1100" spc="25" dirty="0">
                <a:latin typeface="Tahoma"/>
                <a:cs typeface="Tahoma"/>
              </a:rPr>
              <a:t> </a:t>
            </a:r>
            <a:r>
              <a:rPr sz="1100" spc="-50" dirty="0">
                <a:latin typeface="Tahoma"/>
                <a:cs typeface="Tahoma"/>
              </a:rPr>
              <a:t>teams</a:t>
            </a:r>
            <a:r>
              <a:rPr sz="1100" spc="20" dirty="0">
                <a:latin typeface="Tahoma"/>
                <a:cs typeface="Tahoma"/>
              </a:rPr>
              <a:t> </a:t>
            </a:r>
            <a:r>
              <a:rPr sz="1100" spc="-50" dirty="0">
                <a:latin typeface="Tahoma"/>
                <a:cs typeface="Tahoma"/>
              </a:rPr>
              <a:t>push</a:t>
            </a:r>
            <a:r>
              <a:rPr sz="1100" spc="25" dirty="0">
                <a:latin typeface="Tahoma"/>
                <a:cs typeface="Tahoma"/>
              </a:rPr>
              <a:t> </a:t>
            </a:r>
            <a:r>
              <a:rPr sz="1100" spc="-35" dirty="0">
                <a:latin typeface="Tahoma"/>
                <a:cs typeface="Tahoma"/>
              </a:rPr>
              <a:t>configuration</a:t>
            </a:r>
            <a:r>
              <a:rPr sz="1100" spc="25" dirty="0">
                <a:latin typeface="Tahoma"/>
                <a:cs typeface="Tahoma"/>
              </a:rPr>
              <a:t> </a:t>
            </a:r>
            <a:r>
              <a:rPr sz="1100" spc="-65" dirty="0">
                <a:latin typeface="Tahoma"/>
                <a:cs typeface="Tahoma"/>
              </a:rPr>
              <a:t>changes</a:t>
            </a:r>
            <a:r>
              <a:rPr sz="1100" spc="20" dirty="0"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constantly</a:t>
            </a:r>
            <a:r>
              <a:rPr sz="1100" spc="20" dirty="0">
                <a:latin typeface="Tahoma"/>
                <a:cs typeface="Tahoma"/>
              </a:rPr>
              <a:t> </a:t>
            </a:r>
            <a:r>
              <a:rPr sz="1100" spc="-40" dirty="0">
                <a:latin typeface="Tahoma"/>
                <a:cs typeface="Tahoma"/>
              </a:rPr>
              <a:t>(antenna</a:t>
            </a:r>
            <a:r>
              <a:rPr sz="1100" spc="2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tilt,</a:t>
            </a:r>
            <a:r>
              <a:rPr sz="1100" spc="25" dirty="0">
                <a:latin typeface="Tahoma"/>
                <a:cs typeface="Tahoma"/>
              </a:rPr>
              <a:t> </a:t>
            </a:r>
            <a:r>
              <a:rPr sz="1100" spc="95" dirty="0">
                <a:latin typeface="Tahoma"/>
                <a:cs typeface="Tahoma"/>
              </a:rPr>
              <a:t>TX</a:t>
            </a:r>
            <a:r>
              <a:rPr sz="1100" spc="25" dirty="0">
                <a:latin typeface="Tahoma"/>
                <a:cs typeface="Tahoma"/>
              </a:rPr>
              <a:t> </a:t>
            </a:r>
            <a:r>
              <a:rPr sz="1100" spc="-35" dirty="0">
                <a:latin typeface="Tahoma"/>
                <a:cs typeface="Tahoma"/>
              </a:rPr>
              <a:t>power, </a:t>
            </a:r>
            <a:r>
              <a:rPr sz="1100" spc="-50" dirty="0">
                <a:latin typeface="Tahoma"/>
                <a:cs typeface="Tahoma"/>
              </a:rPr>
              <a:t>handover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spc="-50" dirty="0">
                <a:latin typeface="Tahoma"/>
                <a:cs typeface="Tahoma"/>
              </a:rPr>
              <a:t>parameters,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spc="-35" dirty="0">
                <a:latin typeface="Tahoma"/>
                <a:cs typeface="Tahoma"/>
              </a:rPr>
              <a:t>carrier</a:t>
            </a:r>
            <a:r>
              <a:rPr sz="1100" spc="-5" dirty="0">
                <a:latin typeface="Tahoma"/>
                <a:cs typeface="Tahoma"/>
              </a:rPr>
              <a:t> </a:t>
            </a:r>
            <a:r>
              <a:rPr sz="1100" spc="-45" dirty="0">
                <a:latin typeface="Tahoma"/>
                <a:cs typeface="Tahoma"/>
              </a:rPr>
              <a:t>aggregation,</a:t>
            </a:r>
            <a:r>
              <a:rPr sz="1100" spc="-10" dirty="0">
                <a:latin typeface="Tahoma"/>
                <a:cs typeface="Tahoma"/>
              </a:rPr>
              <a:t> </a:t>
            </a:r>
            <a:r>
              <a:rPr sz="1100" spc="-45" dirty="0">
                <a:latin typeface="Tahoma"/>
                <a:cs typeface="Tahoma"/>
              </a:rPr>
              <a:t>.</a:t>
            </a:r>
            <a:r>
              <a:rPr sz="1100" spc="-165" dirty="0">
                <a:latin typeface="Tahoma"/>
                <a:cs typeface="Tahoma"/>
              </a:rPr>
              <a:t> </a:t>
            </a:r>
            <a:r>
              <a:rPr sz="1100" spc="-45" dirty="0">
                <a:latin typeface="Tahoma"/>
                <a:cs typeface="Tahoma"/>
              </a:rPr>
              <a:t>.</a:t>
            </a:r>
            <a:r>
              <a:rPr sz="1100" spc="-165" dirty="0">
                <a:latin typeface="Tahoma"/>
                <a:cs typeface="Tahoma"/>
              </a:rPr>
              <a:t> </a:t>
            </a:r>
            <a:r>
              <a:rPr sz="1100" spc="-45" dirty="0">
                <a:latin typeface="Tahoma"/>
                <a:cs typeface="Tahoma"/>
              </a:rPr>
              <a:t>.</a:t>
            </a:r>
            <a:r>
              <a:rPr sz="1100" spc="-165" dirty="0">
                <a:latin typeface="Tahoma"/>
                <a:cs typeface="Tahoma"/>
              </a:rPr>
              <a:t> </a:t>
            </a:r>
            <a:r>
              <a:rPr sz="1100" spc="-50" dirty="0">
                <a:latin typeface="Tahoma"/>
                <a:cs typeface="Tahoma"/>
              </a:rPr>
              <a:t>)</a:t>
            </a:r>
            <a:endParaRPr sz="1100">
              <a:latin typeface="Tahoma"/>
              <a:cs typeface="Tahoma"/>
            </a:endParaRPr>
          </a:p>
          <a:p>
            <a:pPr marL="12700" marR="19050">
              <a:lnSpc>
                <a:spcPct val="102699"/>
              </a:lnSpc>
              <a:spcBef>
                <a:spcPts val="295"/>
              </a:spcBef>
            </a:pPr>
            <a:r>
              <a:rPr sz="1100" spc="-35" dirty="0">
                <a:latin typeface="Tahoma"/>
                <a:cs typeface="Tahoma"/>
              </a:rPr>
              <a:t>Impact</a:t>
            </a:r>
            <a:r>
              <a:rPr sz="1100" spc="-45" dirty="0">
                <a:latin typeface="Tahoma"/>
                <a:cs typeface="Tahoma"/>
              </a:rPr>
              <a:t> </a:t>
            </a:r>
            <a:r>
              <a:rPr sz="1100" spc="-60" dirty="0">
                <a:latin typeface="Tahoma"/>
                <a:cs typeface="Tahoma"/>
              </a:rPr>
              <a:t>assessment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50" dirty="0">
                <a:latin typeface="Tahoma"/>
                <a:cs typeface="Tahoma"/>
              </a:rPr>
              <a:t>requires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spc="-40" dirty="0">
                <a:latin typeface="Tahoma"/>
                <a:cs typeface="Tahoma"/>
              </a:rPr>
              <a:t>knowing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b="1" dirty="0">
                <a:latin typeface="Arial"/>
                <a:cs typeface="Arial"/>
              </a:rPr>
              <a:t>what</a:t>
            </a:r>
            <a:r>
              <a:rPr sz="1100" b="1" spc="5" dirty="0">
                <a:latin typeface="Arial"/>
                <a:cs typeface="Arial"/>
              </a:rPr>
              <a:t> </a:t>
            </a:r>
            <a:r>
              <a:rPr sz="1100" spc="-50" dirty="0">
                <a:latin typeface="Tahoma"/>
                <a:cs typeface="Tahoma"/>
              </a:rPr>
              <a:t>changed,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b="1" spc="-40" dirty="0">
                <a:latin typeface="Arial"/>
                <a:cs typeface="Arial"/>
              </a:rPr>
              <a:t>when</a:t>
            </a:r>
            <a:r>
              <a:rPr sz="1100" spc="-40" dirty="0">
                <a:latin typeface="Tahoma"/>
                <a:cs typeface="Tahoma"/>
              </a:rPr>
              <a:t>,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35" dirty="0">
                <a:latin typeface="Tahoma"/>
                <a:cs typeface="Tahoma"/>
              </a:rPr>
              <a:t>and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45" dirty="0">
                <a:latin typeface="Tahoma"/>
                <a:cs typeface="Tahoma"/>
              </a:rPr>
              <a:t>comparing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spc="-30" dirty="0">
                <a:latin typeface="Tahoma"/>
                <a:cs typeface="Tahoma"/>
              </a:rPr>
              <a:t>against </a:t>
            </a:r>
            <a:r>
              <a:rPr sz="1100" dirty="0">
                <a:latin typeface="Tahoma"/>
                <a:cs typeface="Tahoma"/>
              </a:rPr>
              <a:t>a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b="1" spc="-20" dirty="0">
                <a:latin typeface="Arial"/>
                <a:cs typeface="Arial"/>
              </a:rPr>
              <a:t>fair </a:t>
            </a:r>
            <a:r>
              <a:rPr sz="1100" b="1" spc="-10" dirty="0">
                <a:latin typeface="Arial"/>
                <a:cs typeface="Arial"/>
              </a:rPr>
              <a:t>baseline</a:t>
            </a:r>
            <a:endParaRPr sz="11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335"/>
              </a:spcBef>
            </a:pPr>
            <a:r>
              <a:rPr sz="1100" spc="-20" dirty="0">
                <a:latin typeface="Tahoma"/>
                <a:cs typeface="Tahoma"/>
              </a:rPr>
              <a:t>Traditionally</a:t>
            </a:r>
            <a:r>
              <a:rPr sz="1100" spc="-5" dirty="0">
                <a:latin typeface="Tahoma"/>
                <a:cs typeface="Tahoma"/>
              </a:rPr>
              <a:t> </a:t>
            </a:r>
            <a:r>
              <a:rPr sz="1100" spc="-55" dirty="0">
                <a:latin typeface="Tahoma"/>
                <a:cs typeface="Tahoma"/>
              </a:rPr>
              <a:t>done</a:t>
            </a:r>
            <a:r>
              <a:rPr sz="1100" spc="-5" dirty="0">
                <a:latin typeface="Tahoma"/>
                <a:cs typeface="Tahoma"/>
              </a:rPr>
              <a:t> </a:t>
            </a:r>
            <a:r>
              <a:rPr sz="1100" spc="-45" dirty="0">
                <a:latin typeface="Tahoma"/>
                <a:cs typeface="Tahoma"/>
              </a:rPr>
              <a:t>manually,</a:t>
            </a:r>
            <a:r>
              <a:rPr sz="1100" spc="-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in</a:t>
            </a:r>
            <a:r>
              <a:rPr sz="1100" spc="-5" dirty="0">
                <a:latin typeface="Tahoma"/>
                <a:cs typeface="Tahoma"/>
              </a:rPr>
              <a:t> </a:t>
            </a:r>
            <a:r>
              <a:rPr sz="1100" spc="-60" dirty="0">
                <a:latin typeface="Tahoma"/>
                <a:cs typeface="Tahoma"/>
              </a:rPr>
              <a:t>spreadsheets</a:t>
            </a:r>
            <a:r>
              <a:rPr sz="1100" spc="-5" dirty="0">
                <a:latin typeface="Tahoma"/>
                <a:cs typeface="Tahoma"/>
              </a:rPr>
              <a:t> </a:t>
            </a:r>
            <a:r>
              <a:rPr sz="1100" spc="80" dirty="0">
                <a:latin typeface="Tahoma"/>
                <a:cs typeface="Tahoma"/>
              </a:rPr>
              <a:t>—</a:t>
            </a:r>
            <a:r>
              <a:rPr sz="1100" spc="-5" dirty="0">
                <a:latin typeface="Tahoma"/>
                <a:cs typeface="Tahoma"/>
              </a:rPr>
              <a:t> </a:t>
            </a:r>
            <a:r>
              <a:rPr sz="1100" spc="-50" dirty="0">
                <a:latin typeface="Tahoma"/>
                <a:cs typeface="Tahoma"/>
              </a:rPr>
              <a:t>slow</a:t>
            </a:r>
            <a:r>
              <a:rPr sz="1100" spc="-5" dirty="0">
                <a:latin typeface="Tahoma"/>
                <a:cs typeface="Tahoma"/>
              </a:rPr>
              <a:t> </a:t>
            </a:r>
            <a:r>
              <a:rPr sz="1100" spc="-35" dirty="0">
                <a:latin typeface="Tahoma"/>
                <a:cs typeface="Tahoma"/>
              </a:rPr>
              <a:t>and</a:t>
            </a:r>
            <a:r>
              <a:rPr sz="1100" spc="-5" dirty="0">
                <a:latin typeface="Tahoma"/>
                <a:cs typeface="Tahoma"/>
              </a:rPr>
              <a:t> </a:t>
            </a:r>
            <a:r>
              <a:rPr sz="1100" spc="-60" dirty="0">
                <a:latin typeface="Tahoma"/>
                <a:cs typeface="Tahoma"/>
              </a:rPr>
              <a:t>error-</a:t>
            </a:r>
            <a:r>
              <a:rPr sz="1100" spc="-10" dirty="0">
                <a:latin typeface="Tahoma"/>
                <a:cs typeface="Tahoma"/>
              </a:rPr>
              <a:t>prone</a:t>
            </a:r>
            <a:endParaRPr sz="1100">
              <a:latin typeface="Tahoma"/>
              <a:cs typeface="Tahoma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81089" y="1357922"/>
            <a:ext cx="65265" cy="65265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81089" y="1740026"/>
            <a:ext cx="65265" cy="65265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281089" y="2122131"/>
            <a:ext cx="65265" cy="65265"/>
          </a:xfrm>
          <a:prstGeom prst="rect">
            <a:avLst/>
          </a:prstGeom>
        </p:spPr>
      </p:pic>
      <p:grpSp>
        <p:nvGrpSpPr>
          <p:cNvPr id="7" name="object 7"/>
          <p:cNvGrpSpPr/>
          <p:nvPr/>
        </p:nvGrpSpPr>
        <p:grpSpPr>
          <a:xfrm>
            <a:off x="0" y="3130346"/>
            <a:ext cx="5760085" cy="109855"/>
            <a:chOff x="0" y="3130346"/>
            <a:chExt cx="5760085" cy="109855"/>
          </a:xfrm>
        </p:grpSpPr>
        <p:sp>
          <p:nvSpPr>
            <p:cNvPr id="8" name="object 8"/>
            <p:cNvSpPr/>
            <p:nvPr/>
          </p:nvSpPr>
          <p:spPr>
            <a:xfrm>
              <a:off x="0" y="3130346"/>
              <a:ext cx="1920239" cy="109855"/>
            </a:xfrm>
            <a:custGeom>
              <a:avLst/>
              <a:gdLst/>
              <a:ahLst/>
              <a:cxnLst/>
              <a:rect l="l" t="t" r="r" b="b"/>
              <a:pathLst>
                <a:path w="1920239" h="109855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A3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1919973" y="3130346"/>
              <a:ext cx="1920239" cy="109855"/>
            </a:xfrm>
            <a:custGeom>
              <a:avLst/>
              <a:gdLst/>
              <a:ahLst/>
              <a:cxnLst/>
              <a:rect l="l" t="t" r="r" b="b"/>
              <a:pathLst>
                <a:path w="1920239" h="109855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3839946" y="3130346"/>
              <a:ext cx="1920239" cy="109855"/>
            </a:xfrm>
            <a:custGeom>
              <a:avLst/>
              <a:gdLst/>
              <a:ahLst/>
              <a:cxnLst/>
              <a:rect l="l" t="t" r="r" b="b"/>
              <a:pathLst>
                <a:path w="1920239" h="109855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2367343" y="3135783"/>
            <a:ext cx="1025525" cy="1022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r>
              <a:rPr sz="600" dirty="0">
                <a:solidFill>
                  <a:srgbClr val="8E0000"/>
                </a:solidFill>
                <a:latin typeface="Arial"/>
                <a:cs typeface="Arial"/>
                <a:hlinkClick r:id="rId5" action="ppaction://hlinksldjump"/>
              </a:rPr>
              <a:t>Optimization</a:t>
            </a:r>
            <a:r>
              <a:rPr sz="600" spc="100" dirty="0">
                <a:solidFill>
                  <a:srgbClr val="8E0000"/>
                </a:solidFill>
                <a:latin typeface="Arial"/>
                <a:cs typeface="Arial"/>
                <a:hlinkClick r:id="rId5" action="ppaction://hlinksldjump"/>
              </a:rPr>
              <a:t> </a:t>
            </a:r>
            <a:r>
              <a:rPr sz="600" dirty="0">
                <a:solidFill>
                  <a:srgbClr val="8E0000"/>
                </a:solidFill>
                <a:latin typeface="Arial"/>
                <a:cs typeface="Arial"/>
                <a:hlinkClick r:id="rId5" action="ppaction://hlinksldjump"/>
              </a:rPr>
              <a:t>Action</a:t>
            </a:r>
            <a:r>
              <a:rPr sz="600" spc="105" dirty="0">
                <a:solidFill>
                  <a:srgbClr val="8E0000"/>
                </a:solidFill>
                <a:latin typeface="Arial"/>
                <a:cs typeface="Arial"/>
                <a:hlinkClick r:id="rId5" action="ppaction://hlinksldjump"/>
              </a:rPr>
              <a:t> </a:t>
            </a:r>
            <a:r>
              <a:rPr sz="600" spc="-10" dirty="0">
                <a:solidFill>
                  <a:srgbClr val="8E0000"/>
                </a:solidFill>
                <a:latin typeface="Arial"/>
                <a:cs typeface="Arial"/>
                <a:hlinkClick r:id="rId5" action="ppaction://hlinksldjump"/>
              </a:rPr>
              <a:t>Analyzer</a:t>
            </a:r>
            <a:endParaRPr sz="600">
              <a:latin typeface="Arial"/>
              <a:cs typeface="Arial"/>
            </a:endParaRPr>
          </a:p>
        </p:txBody>
      </p:sp>
      <p:sp>
        <p:nvSpPr>
          <p:cNvPr id="12" name="object 12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fld id="{81D60167-4931-47E6-BA6A-407CBD079E47}" type="slidenum">
              <a:rPr spc="-30" dirty="0"/>
              <a:t>24</a:t>
            </a:fld>
            <a:r>
              <a:rPr spc="-55" dirty="0"/>
              <a:t> </a:t>
            </a:r>
            <a:r>
              <a:rPr spc="150" dirty="0"/>
              <a:t>/</a:t>
            </a:r>
            <a:r>
              <a:rPr spc="-55" dirty="0"/>
              <a:t> </a:t>
            </a:r>
            <a:r>
              <a:rPr spc="-35" dirty="0"/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860303154"/>
      </p:ext>
    </p:extLst>
  </p:cSld>
  <p:clrMapOvr>
    <a:masterClrMapping/>
  </p:clrMapOvr>
  <p:transition>
    <p:cut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object 10"/>
          <p:cNvGrpSpPr/>
          <p:nvPr/>
        </p:nvGrpSpPr>
        <p:grpSpPr>
          <a:xfrm>
            <a:off x="87743" y="1907908"/>
            <a:ext cx="5635625" cy="586105"/>
            <a:chOff x="87743" y="1907908"/>
            <a:chExt cx="5635625" cy="586105"/>
          </a:xfrm>
        </p:grpSpPr>
        <p:pic>
          <p:nvPicPr>
            <p:cNvPr id="11" name="object 11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87743" y="2026145"/>
              <a:ext cx="5584580" cy="50609"/>
            </a:xfrm>
            <a:prstGeom prst="rect">
              <a:avLst/>
            </a:prstGeom>
          </p:spPr>
        </p:pic>
        <p:sp>
          <p:nvSpPr>
            <p:cNvPr id="12" name="object 12"/>
            <p:cNvSpPr/>
            <p:nvPr/>
          </p:nvSpPr>
          <p:spPr>
            <a:xfrm>
              <a:off x="138544" y="1907908"/>
              <a:ext cx="5584825" cy="586105"/>
            </a:xfrm>
            <a:custGeom>
              <a:avLst/>
              <a:gdLst/>
              <a:ahLst/>
              <a:cxnLst/>
              <a:rect l="l" t="t" r="r" b="b"/>
              <a:pathLst>
                <a:path w="5584825" h="586105">
                  <a:moveTo>
                    <a:pt x="5584580" y="0"/>
                  </a:moveTo>
                  <a:lnTo>
                    <a:pt x="0" y="0"/>
                  </a:lnTo>
                  <a:lnTo>
                    <a:pt x="0" y="585978"/>
                  </a:lnTo>
                  <a:lnTo>
                    <a:pt x="5584580" y="585978"/>
                  </a:lnTo>
                  <a:lnTo>
                    <a:pt x="558458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87743" y="2070427"/>
              <a:ext cx="5584825" cy="372745"/>
            </a:xfrm>
            <a:custGeom>
              <a:avLst/>
              <a:gdLst/>
              <a:ahLst/>
              <a:cxnLst/>
              <a:rect l="l" t="t" r="r" b="b"/>
              <a:pathLst>
                <a:path w="5584825" h="372744">
                  <a:moveTo>
                    <a:pt x="5584580" y="0"/>
                  </a:moveTo>
                  <a:lnTo>
                    <a:pt x="0" y="0"/>
                  </a:lnTo>
                  <a:lnTo>
                    <a:pt x="0" y="321858"/>
                  </a:lnTo>
                  <a:lnTo>
                    <a:pt x="4008" y="341583"/>
                  </a:lnTo>
                  <a:lnTo>
                    <a:pt x="14922" y="357736"/>
                  </a:lnTo>
                  <a:lnTo>
                    <a:pt x="31075" y="368650"/>
                  </a:lnTo>
                  <a:lnTo>
                    <a:pt x="50800" y="372659"/>
                  </a:lnTo>
                  <a:lnTo>
                    <a:pt x="5533779" y="372659"/>
                  </a:lnTo>
                  <a:lnTo>
                    <a:pt x="5553504" y="368650"/>
                  </a:lnTo>
                  <a:lnTo>
                    <a:pt x="5569657" y="357736"/>
                  </a:lnTo>
                  <a:lnTo>
                    <a:pt x="5580571" y="341583"/>
                  </a:lnTo>
                  <a:lnTo>
                    <a:pt x="5584580" y="321858"/>
                  </a:lnTo>
                  <a:lnTo>
                    <a:pt x="5584580" y="0"/>
                  </a:lnTo>
                  <a:close/>
                </a:path>
              </a:pathLst>
            </a:custGeom>
            <a:solidFill>
              <a:srgbClr val="E9E9F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pc="-10" dirty="0"/>
              <a:t>Motivation</a:t>
            </a:r>
          </a:p>
        </p:txBody>
      </p:sp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81089" y="917651"/>
            <a:ext cx="65265" cy="65265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402932" y="790420"/>
            <a:ext cx="3317240" cy="866140"/>
          </a:xfrm>
          <a:prstGeom prst="rect">
            <a:avLst/>
          </a:prstGeom>
        </p:spPr>
        <p:txBody>
          <a:bodyPr vert="horz" wrap="square" lIns="0" tIns="5524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434"/>
              </a:spcBef>
            </a:pPr>
            <a:r>
              <a:rPr sz="1100" dirty="0">
                <a:latin typeface="Tahoma"/>
                <a:cs typeface="Tahoma"/>
              </a:rPr>
              <a:t>No</a:t>
            </a:r>
            <a:r>
              <a:rPr sz="1100" spc="-50" dirty="0">
                <a:latin typeface="Tahoma"/>
                <a:cs typeface="Tahoma"/>
              </a:rPr>
              <a:t> </a:t>
            </a:r>
            <a:r>
              <a:rPr sz="1100" spc="-35" dirty="0">
                <a:latin typeface="Tahoma"/>
                <a:cs typeface="Tahoma"/>
              </a:rPr>
              <a:t>single</a:t>
            </a:r>
            <a:r>
              <a:rPr sz="1100" spc="-45" dirty="0">
                <a:latin typeface="Tahoma"/>
                <a:cs typeface="Tahoma"/>
              </a:rPr>
              <a:t> </a:t>
            </a:r>
            <a:r>
              <a:rPr sz="1100" spc="-50" dirty="0">
                <a:latin typeface="Tahoma"/>
                <a:cs typeface="Tahoma"/>
              </a:rPr>
              <a:t>source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of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truth</a:t>
            </a:r>
            <a:r>
              <a:rPr sz="1100" spc="-45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for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“what</a:t>
            </a:r>
            <a:r>
              <a:rPr sz="1100" spc="-45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changed”</a:t>
            </a:r>
            <a:endParaRPr sz="1100">
              <a:latin typeface="Tahoma"/>
              <a:cs typeface="Tahoma"/>
            </a:endParaRPr>
          </a:p>
          <a:p>
            <a:pPr marL="12700" marR="5080">
              <a:lnSpc>
                <a:spcPct val="125299"/>
              </a:lnSpc>
            </a:pPr>
            <a:r>
              <a:rPr sz="1100" spc="-20" dirty="0">
                <a:latin typeface="Tahoma"/>
                <a:cs typeface="Tahoma"/>
              </a:rPr>
              <a:t>Naive</a:t>
            </a:r>
            <a:r>
              <a:rPr sz="1100" spc="-10" dirty="0">
                <a:latin typeface="Tahoma"/>
                <a:cs typeface="Tahoma"/>
              </a:rPr>
              <a:t> </a:t>
            </a:r>
            <a:r>
              <a:rPr sz="1100" spc="-35" dirty="0">
                <a:latin typeface="Tahoma"/>
                <a:cs typeface="Tahoma"/>
              </a:rPr>
              <a:t>before/after</a:t>
            </a:r>
            <a:r>
              <a:rPr sz="1100" spc="-5" dirty="0">
                <a:latin typeface="Tahoma"/>
                <a:cs typeface="Tahoma"/>
              </a:rPr>
              <a:t> </a:t>
            </a:r>
            <a:r>
              <a:rPr sz="1100" spc="-50" dirty="0">
                <a:latin typeface="Tahoma"/>
                <a:cs typeface="Tahoma"/>
              </a:rPr>
              <a:t>comparisons</a:t>
            </a:r>
            <a:r>
              <a:rPr sz="1100" spc="-10" dirty="0">
                <a:latin typeface="Tahoma"/>
                <a:cs typeface="Tahoma"/>
              </a:rPr>
              <a:t> </a:t>
            </a:r>
            <a:r>
              <a:rPr sz="1100" spc="-45" dirty="0">
                <a:latin typeface="Tahoma"/>
                <a:cs typeface="Tahoma"/>
              </a:rPr>
              <a:t>ignore</a:t>
            </a:r>
            <a:r>
              <a:rPr sz="1100" spc="-5" dirty="0">
                <a:latin typeface="Tahoma"/>
                <a:cs typeface="Tahoma"/>
              </a:rPr>
              <a:t> </a:t>
            </a:r>
            <a:r>
              <a:rPr sz="1100" spc="-60" dirty="0">
                <a:latin typeface="Tahoma"/>
                <a:cs typeface="Tahoma"/>
              </a:rPr>
              <a:t>weekly</a:t>
            </a:r>
            <a:r>
              <a:rPr sz="1100" spc="-10" dirty="0">
                <a:latin typeface="Tahoma"/>
                <a:cs typeface="Tahoma"/>
              </a:rPr>
              <a:t> </a:t>
            </a:r>
            <a:r>
              <a:rPr sz="1100" spc="-40" dirty="0">
                <a:latin typeface="Tahoma"/>
                <a:cs typeface="Tahoma"/>
              </a:rPr>
              <a:t>seasonality </a:t>
            </a:r>
            <a:r>
              <a:rPr sz="1100" spc="-35" dirty="0">
                <a:latin typeface="Tahoma"/>
                <a:cs typeface="Tahoma"/>
              </a:rPr>
              <a:t>Overlapping</a:t>
            </a:r>
            <a:r>
              <a:rPr sz="1100" spc="-5" dirty="0">
                <a:latin typeface="Tahoma"/>
                <a:cs typeface="Tahoma"/>
              </a:rPr>
              <a:t> </a:t>
            </a:r>
            <a:r>
              <a:rPr sz="1100" spc="-65" dirty="0">
                <a:latin typeface="Tahoma"/>
                <a:cs typeface="Tahoma"/>
              </a:rPr>
              <a:t>changes</a:t>
            </a:r>
            <a:r>
              <a:rPr sz="1100" spc="5" dirty="0">
                <a:latin typeface="Tahoma"/>
                <a:cs typeface="Tahoma"/>
              </a:rPr>
              <a:t> </a:t>
            </a:r>
            <a:r>
              <a:rPr sz="1100" spc="-40" dirty="0">
                <a:latin typeface="Tahoma"/>
                <a:cs typeface="Tahoma"/>
              </a:rPr>
              <a:t>confound</a:t>
            </a:r>
            <a:r>
              <a:rPr sz="1100" spc="5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results</a:t>
            </a:r>
            <a:endParaRPr sz="1100">
              <a:latin typeface="Tahoma"/>
              <a:cs typeface="Tahoma"/>
            </a:endParaRPr>
          </a:p>
          <a:p>
            <a:pPr marL="12700">
              <a:lnSpc>
                <a:spcPct val="100000"/>
              </a:lnSpc>
              <a:spcBef>
                <a:spcPts val="334"/>
              </a:spcBef>
            </a:pPr>
            <a:r>
              <a:rPr sz="1100" spc="-10" dirty="0">
                <a:latin typeface="Tahoma"/>
                <a:cs typeface="Tahoma"/>
              </a:rPr>
              <a:t>Manual,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65" dirty="0">
                <a:latin typeface="Tahoma"/>
                <a:cs typeface="Tahoma"/>
              </a:rPr>
              <a:t>non-</a:t>
            </a:r>
            <a:r>
              <a:rPr sz="1100" spc="-40" dirty="0">
                <a:latin typeface="Tahoma"/>
                <a:cs typeface="Tahoma"/>
              </a:rPr>
              <a:t>repeatable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analysis</a:t>
            </a:r>
            <a:endParaRPr sz="1100">
              <a:latin typeface="Tahoma"/>
              <a:cs typeface="Tahoma"/>
            </a:endParaRPr>
          </a:p>
        </p:txBody>
      </p:sp>
      <p:pic>
        <p:nvPicPr>
          <p:cNvPr id="5" name="object 5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281089" y="1127683"/>
            <a:ext cx="65265" cy="65265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281089" y="1337716"/>
            <a:ext cx="65265" cy="65265"/>
          </a:xfrm>
          <a:prstGeom prst="rect">
            <a:avLst/>
          </a:prstGeom>
        </p:spPr>
      </p:pic>
      <p:pic>
        <p:nvPicPr>
          <p:cNvPr id="7" name="object 7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281089" y="1547748"/>
            <a:ext cx="65265" cy="65265"/>
          </a:xfrm>
          <a:prstGeom prst="rect">
            <a:avLst/>
          </a:prstGeom>
        </p:spPr>
      </p:pic>
      <p:sp>
        <p:nvSpPr>
          <p:cNvPr id="8" name="object 8"/>
          <p:cNvSpPr/>
          <p:nvPr/>
        </p:nvSpPr>
        <p:spPr>
          <a:xfrm>
            <a:off x="87743" y="1850986"/>
            <a:ext cx="5584825" cy="187960"/>
          </a:xfrm>
          <a:custGeom>
            <a:avLst/>
            <a:gdLst/>
            <a:ahLst/>
            <a:cxnLst/>
            <a:rect l="l" t="t" r="r" b="b"/>
            <a:pathLst>
              <a:path w="5584825" h="187960">
                <a:moveTo>
                  <a:pt x="5533779" y="0"/>
                </a:moveTo>
                <a:lnTo>
                  <a:pt x="50800" y="0"/>
                </a:lnTo>
                <a:lnTo>
                  <a:pt x="31075" y="4008"/>
                </a:lnTo>
                <a:lnTo>
                  <a:pt x="14922" y="14922"/>
                </a:lnTo>
                <a:lnTo>
                  <a:pt x="4008" y="31075"/>
                </a:lnTo>
                <a:lnTo>
                  <a:pt x="0" y="50800"/>
                </a:lnTo>
                <a:lnTo>
                  <a:pt x="0" y="187823"/>
                </a:lnTo>
                <a:lnTo>
                  <a:pt x="5584580" y="187823"/>
                </a:lnTo>
                <a:lnTo>
                  <a:pt x="5584580" y="50800"/>
                </a:lnTo>
                <a:lnTo>
                  <a:pt x="5580571" y="31075"/>
                </a:lnTo>
                <a:lnTo>
                  <a:pt x="5569657" y="14922"/>
                </a:lnTo>
                <a:lnTo>
                  <a:pt x="5553504" y="4008"/>
                </a:lnTo>
                <a:lnTo>
                  <a:pt x="5533779" y="0"/>
                </a:lnTo>
                <a:close/>
              </a:path>
            </a:pathLst>
          </a:custGeom>
          <a:solidFill>
            <a:srgbClr val="26268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138544" y="1879434"/>
            <a:ext cx="507365" cy="15367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1145"/>
              </a:lnSpc>
            </a:pPr>
            <a:r>
              <a:rPr sz="1200" spc="-45" dirty="0">
                <a:solidFill>
                  <a:srgbClr val="FFFFFF"/>
                </a:solidFill>
                <a:latin typeface="Tahoma"/>
                <a:cs typeface="Tahoma"/>
              </a:rPr>
              <a:t>Solution</a:t>
            </a:r>
            <a:endParaRPr sz="1200">
              <a:latin typeface="Tahoma"/>
              <a:cs typeface="Tahoma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138544" y="1907908"/>
            <a:ext cx="5584825" cy="586105"/>
          </a:xfrm>
          <a:prstGeom prst="rect">
            <a:avLst/>
          </a:prstGeom>
        </p:spPr>
        <p:txBody>
          <a:bodyPr vert="horz" wrap="square" lIns="0" tIns="147320" rIns="0" bIns="0" rtlCol="0">
            <a:spAutoFit/>
          </a:bodyPr>
          <a:lstStyle/>
          <a:p>
            <a:pPr marR="286385">
              <a:lnSpc>
                <a:spcPct val="102600"/>
              </a:lnSpc>
              <a:spcBef>
                <a:spcPts val="1160"/>
              </a:spcBef>
            </a:pPr>
            <a:r>
              <a:rPr sz="1100" spc="-35" dirty="0">
                <a:latin typeface="Tahoma"/>
                <a:cs typeface="Tahoma"/>
              </a:rPr>
              <a:t>Combine</a:t>
            </a:r>
            <a:r>
              <a:rPr sz="1100" spc="1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a</a:t>
            </a:r>
            <a:r>
              <a:rPr sz="1100" spc="10" dirty="0">
                <a:latin typeface="Tahoma"/>
                <a:cs typeface="Tahoma"/>
              </a:rPr>
              <a:t> </a:t>
            </a:r>
            <a:r>
              <a:rPr sz="1100" b="1" spc="-55" dirty="0">
                <a:latin typeface="Arial"/>
                <a:cs typeface="Arial"/>
              </a:rPr>
              <a:t>version-</a:t>
            </a:r>
            <a:r>
              <a:rPr sz="1100" b="1" spc="-40" dirty="0">
                <a:latin typeface="Arial"/>
                <a:cs typeface="Arial"/>
              </a:rPr>
              <a:t>controlled</a:t>
            </a:r>
            <a:r>
              <a:rPr sz="1100" b="1" spc="80" dirty="0">
                <a:latin typeface="Arial"/>
                <a:cs typeface="Arial"/>
              </a:rPr>
              <a:t> </a:t>
            </a:r>
            <a:r>
              <a:rPr sz="1100" b="1" spc="-40" dirty="0">
                <a:latin typeface="Arial"/>
                <a:cs typeface="Arial"/>
              </a:rPr>
              <a:t>configuration</a:t>
            </a:r>
            <a:r>
              <a:rPr sz="1100" b="1" spc="80" dirty="0">
                <a:latin typeface="Arial"/>
                <a:cs typeface="Arial"/>
              </a:rPr>
              <a:t> </a:t>
            </a:r>
            <a:r>
              <a:rPr sz="1100" b="1" spc="-40" dirty="0">
                <a:latin typeface="Arial"/>
                <a:cs typeface="Arial"/>
              </a:rPr>
              <a:t>database</a:t>
            </a:r>
            <a:r>
              <a:rPr sz="1100" b="1" spc="80" dirty="0">
                <a:latin typeface="Arial"/>
                <a:cs typeface="Arial"/>
              </a:rPr>
              <a:t> </a:t>
            </a:r>
            <a:r>
              <a:rPr sz="1100" b="1" dirty="0">
                <a:latin typeface="Arial"/>
                <a:cs typeface="Arial"/>
              </a:rPr>
              <a:t>(Dolt)</a:t>
            </a:r>
            <a:r>
              <a:rPr sz="1100" b="1" spc="45" dirty="0">
                <a:latin typeface="Arial"/>
                <a:cs typeface="Arial"/>
              </a:rPr>
              <a:t> </a:t>
            </a:r>
            <a:r>
              <a:rPr sz="1100" dirty="0">
                <a:latin typeface="Tahoma"/>
                <a:cs typeface="Tahoma"/>
              </a:rPr>
              <a:t>with</a:t>
            </a:r>
            <a:r>
              <a:rPr sz="1100" spc="1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a</a:t>
            </a:r>
            <a:r>
              <a:rPr sz="1100" spc="15" dirty="0">
                <a:latin typeface="Tahoma"/>
                <a:cs typeface="Tahoma"/>
              </a:rPr>
              <a:t> </a:t>
            </a:r>
            <a:r>
              <a:rPr sz="1100" b="1" spc="-60" dirty="0">
                <a:latin typeface="Arial"/>
                <a:cs typeface="Arial"/>
              </a:rPr>
              <a:t>weekday-</a:t>
            </a:r>
            <a:r>
              <a:rPr sz="1100" b="1" spc="-10" dirty="0">
                <a:latin typeface="Arial"/>
                <a:cs typeface="Arial"/>
              </a:rPr>
              <a:t>matched </a:t>
            </a:r>
            <a:r>
              <a:rPr sz="1100" b="1" spc="-25" dirty="0">
                <a:latin typeface="Arial"/>
                <a:cs typeface="Arial"/>
              </a:rPr>
              <a:t>statistical</a:t>
            </a:r>
            <a:r>
              <a:rPr sz="1100" b="1" spc="30" dirty="0">
                <a:latin typeface="Arial"/>
                <a:cs typeface="Arial"/>
              </a:rPr>
              <a:t> </a:t>
            </a:r>
            <a:r>
              <a:rPr sz="1100" b="1" spc="-65" dirty="0">
                <a:latin typeface="Arial"/>
                <a:cs typeface="Arial"/>
              </a:rPr>
              <a:t>comparison</a:t>
            </a:r>
            <a:r>
              <a:rPr sz="1100" b="1" spc="30" dirty="0">
                <a:latin typeface="Arial"/>
                <a:cs typeface="Arial"/>
              </a:rPr>
              <a:t> </a:t>
            </a:r>
            <a:r>
              <a:rPr sz="1100" b="1" spc="-45" dirty="0">
                <a:latin typeface="Arial"/>
                <a:cs typeface="Arial"/>
              </a:rPr>
              <a:t>engine</a:t>
            </a:r>
            <a:r>
              <a:rPr sz="1100" b="1" spc="5" dirty="0">
                <a:latin typeface="Arial"/>
                <a:cs typeface="Arial"/>
              </a:rPr>
              <a:t> </a:t>
            </a:r>
            <a:r>
              <a:rPr sz="1100" spc="-35" dirty="0">
                <a:latin typeface="Tahoma"/>
                <a:cs typeface="Tahoma"/>
              </a:rPr>
              <a:t>and </a:t>
            </a:r>
            <a:r>
              <a:rPr sz="1100" dirty="0">
                <a:latin typeface="Tahoma"/>
                <a:cs typeface="Tahoma"/>
              </a:rPr>
              <a:t>an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b="1" spc="-20" dirty="0">
                <a:latin typeface="Arial"/>
                <a:cs typeface="Arial"/>
              </a:rPr>
              <a:t>interactive</a:t>
            </a:r>
            <a:r>
              <a:rPr sz="1100" b="1" spc="30" dirty="0">
                <a:latin typeface="Arial"/>
                <a:cs typeface="Arial"/>
              </a:rPr>
              <a:t> </a:t>
            </a:r>
            <a:r>
              <a:rPr sz="1100" b="1" spc="-45" dirty="0">
                <a:latin typeface="Arial"/>
                <a:cs typeface="Arial"/>
              </a:rPr>
              <a:t>visualization</a:t>
            </a:r>
            <a:r>
              <a:rPr sz="1100" b="1" spc="35" dirty="0">
                <a:latin typeface="Arial"/>
                <a:cs typeface="Arial"/>
              </a:rPr>
              <a:t> </a:t>
            </a:r>
            <a:r>
              <a:rPr sz="1100" b="1" spc="-10" dirty="0">
                <a:latin typeface="Arial"/>
                <a:cs typeface="Arial"/>
              </a:rPr>
              <a:t>layer</a:t>
            </a:r>
            <a:r>
              <a:rPr sz="1100" spc="-10" dirty="0">
                <a:latin typeface="Tahoma"/>
                <a:cs typeface="Tahoma"/>
              </a:rPr>
              <a:t>.</a:t>
            </a:r>
            <a:endParaRPr sz="1100">
              <a:latin typeface="Tahoma"/>
              <a:cs typeface="Tahoma"/>
            </a:endParaRPr>
          </a:p>
        </p:txBody>
      </p:sp>
      <p:grpSp>
        <p:nvGrpSpPr>
          <p:cNvPr id="15" name="object 15"/>
          <p:cNvGrpSpPr/>
          <p:nvPr/>
        </p:nvGrpSpPr>
        <p:grpSpPr>
          <a:xfrm>
            <a:off x="0" y="3130346"/>
            <a:ext cx="5760085" cy="109855"/>
            <a:chOff x="0" y="3130346"/>
            <a:chExt cx="5760085" cy="109855"/>
          </a:xfrm>
        </p:grpSpPr>
        <p:sp>
          <p:nvSpPr>
            <p:cNvPr id="16" name="object 16"/>
            <p:cNvSpPr/>
            <p:nvPr/>
          </p:nvSpPr>
          <p:spPr>
            <a:xfrm>
              <a:off x="0" y="3130346"/>
              <a:ext cx="1920239" cy="109855"/>
            </a:xfrm>
            <a:custGeom>
              <a:avLst/>
              <a:gdLst/>
              <a:ahLst/>
              <a:cxnLst/>
              <a:rect l="l" t="t" r="r" b="b"/>
              <a:pathLst>
                <a:path w="1920239" h="109855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A3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1919973" y="3130346"/>
              <a:ext cx="1920239" cy="109855"/>
            </a:xfrm>
            <a:custGeom>
              <a:avLst/>
              <a:gdLst/>
              <a:ahLst/>
              <a:cxnLst/>
              <a:rect l="l" t="t" r="r" b="b"/>
              <a:pathLst>
                <a:path w="1920239" h="109855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3839946" y="3130346"/>
              <a:ext cx="1920239" cy="109855"/>
            </a:xfrm>
            <a:custGeom>
              <a:avLst/>
              <a:gdLst/>
              <a:ahLst/>
              <a:cxnLst/>
              <a:rect l="l" t="t" r="r" b="b"/>
              <a:pathLst>
                <a:path w="1920239" h="109855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9" name="object 19"/>
          <p:cNvSpPr txBox="1"/>
          <p:nvPr/>
        </p:nvSpPr>
        <p:spPr>
          <a:xfrm>
            <a:off x="2367343" y="3135783"/>
            <a:ext cx="1025525" cy="1022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r>
              <a:rPr sz="600" dirty="0">
                <a:solidFill>
                  <a:srgbClr val="8E0000"/>
                </a:solidFill>
                <a:latin typeface="Arial"/>
                <a:cs typeface="Arial"/>
                <a:hlinkClick r:id="rId7" action="ppaction://hlinksldjump"/>
              </a:rPr>
              <a:t>Optimization</a:t>
            </a:r>
            <a:r>
              <a:rPr sz="600" spc="100" dirty="0">
                <a:solidFill>
                  <a:srgbClr val="8E0000"/>
                </a:solidFill>
                <a:latin typeface="Arial"/>
                <a:cs typeface="Arial"/>
                <a:hlinkClick r:id="rId7" action="ppaction://hlinksldjump"/>
              </a:rPr>
              <a:t> </a:t>
            </a:r>
            <a:r>
              <a:rPr sz="600" dirty="0">
                <a:solidFill>
                  <a:srgbClr val="8E0000"/>
                </a:solidFill>
                <a:latin typeface="Arial"/>
                <a:cs typeface="Arial"/>
                <a:hlinkClick r:id="rId7" action="ppaction://hlinksldjump"/>
              </a:rPr>
              <a:t>Action</a:t>
            </a:r>
            <a:r>
              <a:rPr sz="600" spc="105" dirty="0">
                <a:solidFill>
                  <a:srgbClr val="8E0000"/>
                </a:solidFill>
                <a:latin typeface="Arial"/>
                <a:cs typeface="Arial"/>
                <a:hlinkClick r:id="rId7" action="ppaction://hlinksldjump"/>
              </a:rPr>
              <a:t> </a:t>
            </a:r>
            <a:r>
              <a:rPr sz="600" spc="-10" dirty="0">
                <a:solidFill>
                  <a:srgbClr val="8E0000"/>
                </a:solidFill>
                <a:latin typeface="Arial"/>
                <a:cs typeface="Arial"/>
                <a:hlinkClick r:id="rId7" action="ppaction://hlinksldjump"/>
              </a:rPr>
              <a:t>Analyzer</a:t>
            </a:r>
            <a:endParaRPr sz="600">
              <a:latin typeface="Arial"/>
              <a:cs typeface="Arial"/>
            </a:endParaRPr>
          </a:p>
        </p:txBody>
      </p:sp>
      <p:sp>
        <p:nvSpPr>
          <p:cNvPr id="20" name="object 2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fld id="{81D60167-4931-47E6-BA6A-407CBD079E47}" type="slidenum">
              <a:rPr spc="-30" dirty="0"/>
              <a:t>25</a:t>
            </a:fld>
            <a:r>
              <a:rPr spc="-55" dirty="0"/>
              <a:t> </a:t>
            </a:r>
            <a:r>
              <a:rPr spc="150" dirty="0"/>
              <a:t>/</a:t>
            </a:r>
            <a:r>
              <a:rPr spc="-55" dirty="0"/>
              <a:t> </a:t>
            </a:r>
            <a:r>
              <a:rPr spc="-35" dirty="0"/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3714233364"/>
      </p:ext>
    </p:extLst>
  </p:cSld>
  <p:clrMapOvr>
    <a:masterClrMapping/>
  </p:clrMapOvr>
  <p:transition>
    <p:cut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pc="-55" dirty="0"/>
              <a:t>High-</a:t>
            </a:r>
            <a:r>
              <a:rPr spc="-20" dirty="0"/>
              <a:t>level</a:t>
            </a:r>
            <a:r>
              <a:rPr spc="-60" dirty="0"/>
              <a:t> </a:t>
            </a:r>
            <a:r>
              <a:rPr dirty="0"/>
              <a:t>Module</a:t>
            </a:r>
            <a:r>
              <a:rPr spc="-60" dirty="0"/>
              <a:t> </a:t>
            </a:r>
            <a:r>
              <a:rPr spc="-20" dirty="0"/>
              <a:t>Architecture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2233648" y="603892"/>
            <a:ext cx="1292860" cy="365125"/>
            <a:chOff x="2233648" y="603892"/>
            <a:chExt cx="1292860" cy="365125"/>
          </a:xfrm>
        </p:grpSpPr>
        <p:sp>
          <p:nvSpPr>
            <p:cNvPr id="4" name="object 4"/>
            <p:cNvSpPr/>
            <p:nvPr/>
          </p:nvSpPr>
          <p:spPr>
            <a:xfrm>
              <a:off x="2236188" y="606432"/>
              <a:ext cx="1287780" cy="360045"/>
            </a:xfrm>
            <a:custGeom>
              <a:avLst/>
              <a:gdLst/>
              <a:ahLst/>
              <a:cxnLst/>
              <a:rect l="l" t="t" r="r" b="b"/>
              <a:pathLst>
                <a:path w="1287779" h="360044">
                  <a:moveTo>
                    <a:pt x="1237020" y="0"/>
                  </a:moveTo>
                  <a:lnTo>
                    <a:pt x="50610" y="0"/>
                  </a:lnTo>
                  <a:lnTo>
                    <a:pt x="30910" y="3977"/>
                  </a:lnTo>
                  <a:lnTo>
                    <a:pt x="14823" y="14823"/>
                  </a:lnTo>
                  <a:lnTo>
                    <a:pt x="3977" y="30910"/>
                  </a:lnTo>
                  <a:lnTo>
                    <a:pt x="0" y="50610"/>
                  </a:lnTo>
                  <a:lnTo>
                    <a:pt x="0" y="309393"/>
                  </a:lnTo>
                  <a:lnTo>
                    <a:pt x="3977" y="329093"/>
                  </a:lnTo>
                  <a:lnTo>
                    <a:pt x="14823" y="345180"/>
                  </a:lnTo>
                  <a:lnTo>
                    <a:pt x="30910" y="356026"/>
                  </a:lnTo>
                  <a:lnTo>
                    <a:pt x="50610" y="360004"/>
                  </a:lnTo>
                  <a:lnTo>
                    <a:pt x="1237020" y="360004"/>
                  </a:lnTo>
                  <a:lnTo>
                    <a:pt x="1256720" y="356026"/>
                  </a:lnTo>
                  <a:lnTo>
                    <a:pt x="1272808" y="345180"/>
                  </a:lnTo>
                  <a:lnTo>
                    <a:pt x="1283654" y="329093"/>
                  </a:lnTo>
                  <a:lnTo>
                    <a:pt x="1287631" y="309393"/>
                  </a:lnTo>
                  <a:lnTo>
                    <a:pt x="1287631" y="50610"/>
                  </a:lnTo>
                  <a:lnTo>
                    <a:pt x="1283654" y="30910"/>
                  </a:lnTo>
                  <a:lnTo>
                    <a:pt x="1272808" y="14823"/>
                  </a:lnTo>
                  <a:lnTo>
                    <a:pt x="1256720" y="3977"/>
                  </a:lnTo>
                  <a:lnTo>
                    <a:pt x="1237020" y="0"/>
                  </a:lnTo>
                  <a:close/>
                </a:path>
              </a:pathLst>
            </a:custGeom>
            <a:solidFill>
              <a:srgbClr val="D8D8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2236188" y="606432"/>
              <a:ext cx="1287780" cy="360045"/>
            </a:xfrm>
            <a:custGeom>
              <a:avLst/>
              <a:gdLst/>
              <a:ahLst/>
              <a:cxnLst/>
              <a:rect l="l" t="t" r="r" b="b"/>
              <a:pathLst>
                <a:path w="1287779" h="360044">
                  <a:moveTo>
                    <a:pt x="1237020" y="0"/>
                  </a:moveTo>
                  <a:lnTo>
                    <a:pt x="50610" y="0"/>
                  </a:lnTo>
                  <a:lnTo>
                    <a:pt x="30910" y="3977"/>
                  </a:lnTo>
                  <a:lnTo>
                    <a:pt x="14823" y="14823"/>
                  </a:lnTo>
                  <a:lnTo>
                    <a:pt x="3977" y="30910"/>
                  </a:lnTo>
                  <a:lnTo>
                    <a:pt x="0" y="50610"/>
                  </a:lnTo>
                  <a:lnTo>
                    <a:pt x="0" y="309393"/>
                  </a:lnTo>
                  <a:lnTo>
                    <a:pt x="3977" y="329093"/>
                  </a:lnTo>
                  <a:lnTo>
                    <a:pt x="14823" y="345180"/>
                  </a:lnTo>
                  <a:lnTo>
                    <a:pt x="30910" y="356026"/>
                  </a:lnTo>
                  <a:lnTo>
                    <a:pt x="50610" y="360004"/>
                  </a:lnTo>
                  <a:lnTo>
                    <a:pt x="1237020" y="360004"/>
                  </a:lnTo>
                  <a:lnTo>
                    <a:pt x="1256720" y="356026"/>
                  </a:lnTo>
                  <a:lnTo>
                    <a:pt x="1272808" y="345180"/>
                  </a:lnTo>
                  <a:lnTo>
                    <a:pt x="1283654" y="329093"/>
                  </a:lnTo>
                  <a:lnTo>
                    <a:pt x="1287631" y="309393"/>
                  </a:lnTo>
                  <a:lnTo>
                    <a:pt x="1287631" y="50610"/>
                  </a:lnTo>
                  <a:lnTo>
                    <a:pt x="1283654" y="30910"/>
                  </a:lnTo>
                  <a:lnTo>
                    <a:pt x="1272808" y="14823"/>
                  </a:lnTo>
                  <a:lnTo>
                    <a:pt x="1256720" y="3977"/>
                  </a:lnTo>
                  <a:lnTo>
                    <a:pt x="1237020" y="0"/>
                  </a:lnTo>
                  <a:close/>
                </a:path>
              </a:pathLst>
            </a:custGeom>
            <a:ln w="506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2269667" y="634211"/>
            <a:ext cx="1221105" cy="26733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algn="ctr">
              <a:lnSpc>
                <a:spcPts val="955"/>
              </a:lnSpc>
              <a:spcBef>
                <a:spcPts val="95"/>
              </a:spcBef>
            </a:pPr>
            <a:r>
              <a:rPr sz="800" spc="-10" dirty="0">
                <a:latin typeface="Georgia"/>
                <a:cs typeface="Georgia"/>
              </a:rPr>
              <a:t>app.py</a:t>
            </a:r>
            <a:endParaRPr sz="800">
              <a:latin typeface="Georgia"/>
              <a:cs typeface="Georgia"/>
            </a:endParaRPr>
          </a:p>
          <a:p>
            <a:pPr algn="ctr">
              <a:lnSpc>
                <a:spcPts val="955"/>
              </a:lnSpc>
            </a:pPr>
            <a:r>
              <a:rPr sz="800" dirty="0">
                <a:latin typeface="Arial"/>
                <a:cs typeface="Arial"/>
              </a:rPr>
              <a:t>Streamlit</a:t>
            </a:r>
            <a:r>
              <a:rPr sz="800" spc="95" dirty="0">
                <a:latin typeface="Arial"/>
                <a:cs typeface="Arial"/>
              </a:rPr>
              <a:t> </a:t>
            </a:r>
            <a:r>
              <a:rPr sz="800" dirty="0">
                <a:latin typeface="Arial"/>
                <a:cs typeface="Arial"/>
              </a:rPr>
              <a:t>UI</a:t>
            </a:r>
            <a:r>
              <a:rPr sz="800" spc="100" dirty="0">
                <a:latin typeface="Arial"/>
                <a:cs typeface="Arial"/>
              </a:rPr>
              <a:t> </a:t>
            </a:r>
            <a:r>
              <a:rPr sz="800" spc="-10" dirty="0">
                <a:latin typeface="Arial"/>
                <a:cs typeface="Arial"/>
              </a:rPr>
              <a:t>Orchestration</a:t>
            </a:r>
            <a:endParaRPr sz="800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644568" y="1256961"/>
            <a:ext cx="1157605" cy="400050"/>
            <a:chOff x="644568" y="1256961"/>
            <a:chExt cx="1157605" cy="400050"/>
          </a:xfrm>
        </p:grpSpPr>
        <p:sp>
          <p:nvSpPr>
            <p:cNvPr id="8" name="object 8"/>
            <p:cNvSpPr/>
            <p:nvPr/>
          </p:nvSpPr>
          <p:spPr>
            <a:xfrm>
              <a:off x="647108" y="1259501"/>
              <a:ext cx="1152525" cy="394970"/>
            </a:xfrm>
            <a:custGeom>
              <a:avLst/>
              <a:gdLst/>
              <a:ahLst/>
              <a:cxnLst/>
              <a:rect l="l" t="t" r="r" b="b"/>
              <a:pathLst>
                <a:path w="1152525" h="394969">
                  <a:moveTo>
                    <a:pt x="1101402" y="0"/>
                  </a:moveTo>
                  <a:lnTo>
                    <a:pt x="50610" y="0"/>
                  </a:lnTo>
                  <a:lnTo>
                    <a:pt x="30910" y="3977"/>
                  </a:lnTo>
                  <a:lnTo>
                    <a:pt x="14823" y="14823"/>
                  </a:lnTo>
                  <a:lnTo>
                    <a:pt x="3977" y="30910"/>
                  </a:lnTo>
                  <a:lnTo>
                    <a:pt x="0" y="50610"/>
                  </a:lnTo>
                  <a:lnTo>
                    <a:pt x="0" y="344003"/>
                  </a:lnTo>
                  <a:lnTo>
                    <a:pt x="3977" y="363703"/>
                  </a:lnTo>
                  <a:lnTo>
                    <a:pt x="14823" y="379790"/>
                  </a:lnTo>
                  <a:lnTo>
                    <a:pt x="30910" y="390637"/>
                  </a:lnTo>
                  <a:lnTo>
                    <a:pt x="50610" y="394614"/>
                  </a:lnTo>
                  <a:lnTo>
                    <a:pt x="1101402" y="394614"/>
                  </a:lnTo>
                  <a:lnTo>
                    <a:pt x="1121102" y="390637"/>
                  </a:lnTo>
                  <a:lnTo>
                    <a:pt x="1137189" y="379790"/>
                  </a:lnTo>
                  <a:lnTo>
                    <a:pt x="1148036" y="363703"/>
                  </a:lnTo>
                  <a:lnTo>
                    <a:pt x="1152013" y="344003"/>
                  </a:lnTo>
                  <a:lnTo>
                    <a:pt x="1152013" y="50610"/>
                  </a:lnTo>
                  <a:lnTo>
                    <a:pt x="1148036" y="30910"/>
                  </a:lnTo>
                  <a:lnTo>
                    <a:pt x="1137189" y="14823"/>
                  </a:lnTo>
                  <a:lnTo>
                    <a:pt x="1121102" y="3977"/>
                  </a:lnTo>
                  <a:lnTo>
                    <a:pt x="1101402" y="0"/>
                  </a:lnTo>
                  <a:close/>
                </a:path>
              </a:pathLst>
            </a:custGeom>
            <a:solidFill>
              <a:srgbClr val="EFE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647108" y="1259501"/>
              <a:ext cx="1152525" cy="394970"/>
            </a:xfrm>
            <a:custGeom>
              <a:avLst/>
              <a:gdLst/>
              <a:ahLst/>
              <a:cxnLst/>
              <a:rect l="l" t="t" r="r" b="b"/>
              <a:pathLst>
                <a:path w="1152525" h="394969">
                  <a:moveTo>
                    <a:pt x="1101402" y="0"/>
                  </a:moveTo>
                  <a:lnTo>
                    <a:pt x="50610" y="0"/>
                  </a:lnTo>
                  <a:lnTo>
                    <a:pt x="30910" y="3977"/>
                  </a:lnTo>
                  <a:lnTo>
                    <a:pt x="14823" y="14823"/>
                  </a:lnTo>
                  <a:lnTo>
                    <a:pt x="3977" y="30910"/>
                  </a:lnTo>
                  <a:lnTo>
                    <a:pt x="0" y="50610"/>
                  </a:lnTo>
                  <a:lnTo>
                    <a:pt x="0" y="344003"/>
                  </a:lnTo>
                  <a:lnTo>
                    <a:pt x="3977" y="363703"/>
                  </a:lnTo>
                  <a:lnTo>
                    <a:pt x="14823" y="379790"/>
                  </a:lnTo>
                  <a:lnTo>
                    <a:pt x="30910" y="390637"/>
                  </a:lnTo>
                  <a:lnTo>
                    <a:pt x="50610" y="394614"/>
                  </a:lnTo>
                  <a:lnTo>
                    <a:pt x="1101402" y="394614"/>
                  </a:lnTo>
                  <a:lnTo>
                    <a:pt x="1121102" y="390637"/>
                  </a:lnTo>
                  <a:lnTo>
                    <a:pt x="1137189" y="379790"/>
                  </a:lnTo>
                  <a:lnTo>
                    <a:pt x="1148036" y="363703"/>
                  </a:lnTo>
                  <a:lnTo>
                    <a:pt x="1152013" y="344003"/>
                  </a:lnTo>
                  <a:lnTo>
                    <a:pt x="1152013" y="50610"/>
                  </a:lnTo>
                  <a:lnTo>
                    <a:pt x="1148036" y="30910"/>
                  </a:lnTo>
                  <a:lnTo>
                    <a:pt x="1137189" y="14823"/>
                  </a:lnTo>
                  <a:lnTo>
                    <a:pt x="1121102" y="3977"/>
                  </a:lnTo>
                  <a:lnTo>
                    <a:pt x="1101402" y="0"/>
                  </a:lnTo>
                  <a:close/>
                </a:path>
              </a:pathLst>
            </a:custGeom>
            <a:ln w="506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820038" y="1253615"/>
            <a:ext cx="806450" cy="38735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algn="ctr">
              <a:lnSpc>
                <a:spcPts val="955"/>
              </a:lnSpc>
              <a:spcBef>
                <a:spcPts val="95"/>
              </a:spcBef>
            </a:pPr>
            <a:r>
              <a:rPr sz="800" spc="-10" dirty="0">
                <a:latin typeface="Georgia"/>
                <a:cs typeface="Georgia"/>
              </a:rPr>
              <a:t>db.py</a:t>
            </a:r>
            <a:endParaRPr sz="800">
              <a:latin typeface="Georgia"/>
              <a:cs typeface="Georgia"/>
            </a:endParaRPr>
          </a:p>
          <a:p>
            <a:pPr marL="12700" marR="5080" algn="ctr">
              <a:lnSpc>
                <a:spcPts val="950"/>
              </a:lnSpc>
              <a:spcBef>
                <a:spcPts val="35"/>
              </a:spcBef>
            </a:pPr>
            <a:r>
              <a:rPr sz="800" dirty="0">
                <a:latin typeface="Arial"/>
                <a:cs typeface="Arial"/>
              </a:rPr>
              <a:t>Dolt</a:t>
            </a:r>
            <a:r>
              <a:rPr sz="800" spc="114" dirty="0">
                <a:latin typeface="Arial"/>
                <a:cs typeface="Arial"/>
              </a:rPr>
              <a:t> </a:t>
            </a:r>
            <a:r>
              <a:rPr sz="800" spc="195" dirty="0">
                <a:latin typeface="Arial"/>
                <a:cs typeface="Arial"/>
              </a:rPr>
              <a:t>/</a:t>
            </a:r>
            <a:r>
              <a:rPr sz="800" spc="120" dirty="0">
                <a:latin typeface="Arial"/>
                <a:cs typeface="Arial"/>
              </a:rPr>
              <a:t> </a:t>
            </a:r>
            <a:r>
              <a:rPr sz="800" spc="-10" dirty="0">
                <a:latin typeface="Arial"/>
                <a:cs typeface="Arial"/>
              </a:rPr>
              <a:t>PyMySQL </a:t>
            </a:r>
            <a:r>
              <a:rPr sz="800" dirty="0">
                <a:latin typeface="Arial"/>
                <a:cs typeface="Arial"/>
              </a:rPr>
              <a:t>Data</a:t>
            </a:r>
            <a:r>
              <a:rPr sz="800" spc="75" dirty="0">
                <a:latin typeface="Arial"/>
                <a:cs typeface="Arial"/>
              </a:rPr>
              <a:t> </a:t>
            </a:r>
            <a:r>
              <a:rPr sz="800" spc="-10" dirty="0">
                <a:latin typeface="Arial"/>
                <a:cs typeface="Arial"/>
              </a:rPr>
              <a:t>Access</a:t>
            </a:r>
            <a:endParaRPr sz="800">
              <a:latin typeface="Arial"/>
              <a:cs typeface="Arial"/>
            </a:endParaRPr>
          </a:p>
        </p:txBody>
      </p:sp>
      <p:grpSp>
        <p:nvGrpSpPr>
          <p:cNvPr id="11" name="object 11"/>
          <p:cNvGrpSpPr/>
          <p:nvPr/>
        </p:nvGrpSpPr>
        <p:grpSpPr>
          <a:xfrm>
            <a:off x="2285894" y="1256961"/>
            <a:ext cx="1188720" cy="419734"/>
            <a:chOff x="2285894" y="1256961"/>
            <a:chExt cx="1188720" cy="419734"/>
          </a:xfrm>
        </p:grpSpPr>
        <p:sp>
          <p:nvSpPr>
            <p:cNvPr id="12" name="object 12"/>
            <p:cNvSpPr/>
            <p:nvPr/>
          </p:nvSpPr>
          <p:spPr>
            <a:xfrm>
              <a:off x="2288434" y="1259501"/>
              <a:ext cx="1183640" cy="414655"/>
            </a:xfrm>
            <a:custGeom>
              <a:avLst/>
              <a:gdLst/>
              <a:ahLst/>
              <a:cxnLst/>
              <a:rect l="l" t="t" r="r" b="b"/>
              <a:pathLst>
                <a:path w="1183639" h="414655">
                  <a:moveTo>
                    <a:pt x="1132528" y="0"/>
                  </a:moveTo>
                  <a:lnTo>
                    <a:pt x="50610" y="0"/>
                  </a:lnTo>
                  <a:lnTo>
                    <a:pt x="30910" y="3977"/>
                  </a:lnTo>
                  <a:lnTo>
                    <a:pt x="14823" y="14823"/>
                  </a:lnTo>
                  <a:lnTo>
                    <a:pt x="3977" y="30910"/>
                  </a:lnTo>
                  <a:lnTo>
                    <a:pt x="0" y="50610"/>
                  </a:lnTo>
                  <a:lnTo>
                    <a:pt x="0" y="363685"/>
                  </a:lnTo>
                  <a:lnTo>
                    <a:pt x="3977" y="383385"/>
                  </a:lnTo>
                  <a:lnTo>
                    <a:pt x="14823" y="399472"/>
                  </a:lnTo>
                  <a:lnTo>
                    <a:pt x="30910" y="410318"/>
                  </a:lnTo>
                  <a:lnTo>
                    <a:pt x="50610" y="414296"/>
                  </a:lnTo>
                  <a:lnTo>
                    <a:pt x="1132528" y="414296"/>
                  </a:lnTo>
                  <a:lnTo>
                    <a:pt x="1152228" y="410318"/>
                  </a:lnTo>
                  <a:lnTo>
                    <a:pt x="1168315" y="399472"/>
                  </a:lnTo>
                  <a:lnTo>
                    <a:pt x="1179161" y="383385"/>
                  </a:lnTo>
                  <a:lnTo>
                    <a:pt x="1183139" y="363685"/>
                  </a:lnTo>
                  <a:lnTo>
                    <a:pt x="1183139" y="50610"/>
                  </a:lnTo>
                  <a:lnTo>
                    <a:pt x="1179161" y="30910"/>
                  </a:lnTo>
                  <a:lnTo>
                    <a:pt x="1168315" y="14823"/>
                  </a:lnTo>
                  <a:lnTo>
                    <a:pt x="1152228" y="3977"/>
                  </a:lnTo>
                  <a:lnTo>
                    <a:pt x="1132528" y="0"/>
                  </a:lnTo>
                  <a:close/>
                </a:path>
              </a:pathLst>
            </a:custGeom>
            <a:solidFill>
              <a:srgbClr val="EFE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2288434" y="1259501"/>
              <a:ext cx="1183640" cy="414655"/>
            </a:xfrm>
            <a:custGeom>
              <a:avLst/>
              <a:gdLst/>
              <a:ahLst/>
              <a:cxnLst/>
              <a:rect l="l" t="t" r="r" b="b"/>
              <a:pathLst>
                <a:path w="1183639" h="414655">
                  <a:moveTo>
                    <a:pt x="1132528" y="0"/>
                  </a:moveTo>
                  <a:lnTo>
                    <a:pt x="50610" y="0"/>
                  </a:lnTo>
                  <a:lnTo>
                    <a:pt x="30910" y="3977"/>
                  </a:lnTo>
                  <a:lnTo>
                    <a:pt x="14823" y="14823"/>
                  </a:lnTo>
                  <a:lnTo>
                    <a:pt x="3977" y="30910"/>
                  </a:lnTo>
                  <a:lnTo>
                    <a:pt x="0" y="50610"/>
                  </a:lnTo>
                  <a:lnTo>
                    <a:pt x="0" y="363685"/>
                  </a:lnTo>
                  <a:lnTo>
                    <a:pt x="3977" y="383385"/>
                  </a:lnTo>
                  <a:lnTo>
                    <a:pt x="14823" y="399472"/>
                  </a:lnTo>
                  <a:lnTo>
                    <a:pt x="30910" y="410318"/>
                  </a:lnTo>
                  <a:lnTo>
                    <a:pt x="50610" y="414296"/>
                  </a:lnTo>
                  <a:lnTo>
                    <a:pt x="1132528" y="414296"/>
                  </a:lnTo>
                  <a:lnTo>
                    <a:pt x="1152228" y="410318"/>
                  </a:lnTo>
                  <a:lnTo>
                    <a:pt x="1168315" y="399472"/>
                  </a:lnTo>
                  <a:lnTo>
                    <a:pt x="1179161" y="383385"/>
                  </a:lnTo>
                  <a:lnTo>
                    <a:pt x="1183139" y="363685"/>
                  </a:lnTo>
                  <a:lnTo>
                    <a:pt x="1183139" y="50610"/>
                  </a:lnTo>
                  <a:lnTo>
                    <a:pt x="1179161" y="30910"/>
                  </a:lnTo>
                  <a:lnTo>
                    <a:pt x="1168315" y="14823"/>
                  </a:lnTo>
                  <a:lnTo>
                    <a:pt x="1152228" y="3977"/>
                  </a:lnTo>
                  <a:lnTo>
                    <a:pt x="1132528" y="0"/>
                  </a:lnTo>
                  <a:close/>
                </a:path>
              </a:pathLst>
            </a:custGeom>
            <a:ln w="506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" name="object 14"/>
          <p:cNvSpPr txBox="1"/>
          <p:nvPr/>
        </p:nvSpPr>
        <p:spPr>
          <a:xfrm>
            <a:off x="2321915" y="1253615"/>
            <a:ext cx="1116330" cy="38735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69570">
              <a:lnSpc>
                <a:spcPts val="955"/>
              </a:lnSpc>
              <a:spcBef>
                <a:spcPts val="95"/>
              </a:spcBef>
            </a:pPr>
            <a:r>
              <a:rPr sz="800" spc="-10" dirty="0">
                <a:latin typeface="Georgia"/>
                <a:cs typeface="Georgia"/>
              </a:rPr>
              <a:t>data.py</a:t>
            </a:r>
            <a:endParaRPr sz="800">
              <a:latin typeface="Georgia"/>
              <a:cs typeface="Georgia"/>
            </a:endParaRPr>
          </a:p>
          <a:p>
            <a:pPr marL="12700" marR="5080" indent="137795">
              <a:lnSpc>
                <a:spcPts val="950"/>
              </a:lnSpc>
              <a:spcBef>
                <a:spcPts val="35"/>
              </a:spcBef>
            </a:pPr>
            <a:r>
              <a:rPr sz="800" spc="-30" dirty="0">
                <a:latin typeface="Arial"/>
                <a:cs typeface="Arial"/>
              </a:rPr>
              <a:t>Pandas</a:t>
            </a:r>
            <a:r>
              <a:rPr sz="800" spc="5" dirty="0">
                <a:latin typeface="Arial"/>
                <a:cs typeface="Arial"/>
              </a:rPr>
              <a:t> </a:t>
            </a:r>
            <a:r>
              <a:rPr sz="800" spc="-10" dirty="0">
                <a:latin typeface="Arial"/>
                <a:cs typeface="Arial"/>
              </a:rPr>
              <a:t>Wrangling </a:t>
            </a:r>
            <a:r>
              <a:rPr sz="800" dirty="0">
                <a:latin typeface="Arial"/>
                <a:cs typeface="Arial"/>
              </a:rPr>
              <a:t>Hunk</a:t>
            </a:r>
            <a:r>
              <a:rPr sz="800" spc="70" dirty="0">
                <a:latin typeface="Arial"/>
                <a:cs typeface="Arial"/>
              </a:rPr>
              <a:t> </a:t>
            </a:r>
            <a:r>
              <a:rPr sz="800" spc="100" dirty="0">
                <a:latin typeface="Arial"/>
                <a:cs typeface="Arial"/>
              </a:rPr>
              <a:t>&amp;</a:t>
            </a:r>
            <a:r>
              <a:rPr sz="800" spc="70" dirty="0">
                <a:latin typeface="Arial"/>
                <a:cs typeface="Arial"/>
              </a:rPr>
              <a:t> </a:t>
            </a:r>
            <a:r>
              <a:rPr sz="800" dirty="0">
                <a:latin typeface="Arial"/>
                <a:cs typeface="Arial"/>
              </a:rPr>
              <a:t>Matching</a:t>
            </a:r>
            <a:r>
              <a:rPr sz="800" spc="70" dirty="0">
                <a:latin typeface="Arial"/>
                <a:cs typeface="Arial"/>
              </a:rPr>
              <a:t> </a:t>
            </a:r>
            <a:r>
              <a:rPr sz="800" spc="-10" dirty="0">
                <a:latin typeface="Arial"/>
                <a:cs typeface="Arial"/>
              </a:rPr>
              <a:t>Logic</a:t>
            </a:r>
            <a:endParaRPr sz="800">
              <a:latin typeface="Arial"/>
              <a:cs typeface="Arial"/>
            </a:endParaRPr>
          </a:p>
        </p:txBody>
      </p:sp>
      <p:grpSp>
        <p:nvGrpSpPr>
          <p:cNvPr id="15" name="object 15"/>
          <p:cNvGrpSpPr/>
          <p:nvPr/>
        </p:nvGrpSpPr>
        <p:grpSpPr>
          <a:xfrm>
            <a:off x="3958346" y="1256961"/>
            <a:ext cx="1157605" cy="400050"/>
            <a:chOff x="3958346" y="1256961"/>
            <a:chExt cx="1157605" cy="400050"/>
          </a:xfrm>
        </p:grpSpPr>
        <p:sp>
          <p:nvSpPr>
            <p:cNvPr id="16" name="object 16"/>
            <p:cNvSpPr/>
            <p:nvPr/>
          </p:nvSpPr>
          <p:spPr>
            <a:xfrm>
              <a:off x="3960886" y="1259501"/>
              <a:ext cx="1152525" cy="394970"/>
            </a:xfrm>
            <a:custGeom>
              <a:avLst/>
              <a:gdLst/>
              <a:ahLst/>
              <a:cxnLst/>
              <a:rect l="l" t="t" r="r" b="b"/>
              <a:pathLst>
                <a:path w="1152525" h="394969">
                  <a:moveTo>
                    <a:pt x="1101402" y="0"/>
                  </a:moveTo>
                  <a:lnTo>
                    <a:pt x="50610" y="0"/>
                  </a:lnTo>
                  <a:lnTo>
                    <a:pt x="30910" y="3977"/>
                  </a:lnTo>
                  <a:lnTo>
                    <a:pt x="14823" y="14823"/>
                  </a:lnTo>
                  <a:lnTo>
                    <a:pt x="3977" y="30910"/>
                  </a:lnTo>
                  <a:lnTo>
                    <a:pt x="0" y="50610"/>
                  </a:lnTo>
                  <a:lnTo>
                    <a:pt x="0" y="344003"/>
                  </a:lnTo>
                  <a:lnTo>
                    <a:pt x="3977" y="363703"/>
                  </a:lnTo>
                  <a:lnTo>
                    <a:pt x="14823" y="379790"/>
                  </a:lnTo>
                  <a:lnTo>
                    <a:pt x="30910" y="390637"/>
                  </a:lnTo>
                  <a:lnTo>
                    <a:pt x="50610" y="394614"/>
                  </a:lnTo>
                  <a:lnTo>
                    <a:pt x="1101402" y="394614"/>
                  </a:lnTo>
                  <a:lnTo>
                    <a:pt x="1121102" y="390637"/>
                  </a:lnTo>
                  <a:lnTo>
                    <a:pt x="1137189" y="379790"/>
                  </a:lnTo>
                  <a:lnTo>
                    <a:pt x="1148036" y="363703"/>
                  </a:lnTo>
                  <a:lnTo>
                    <a:pt x="1152013" y="344003"/>
                  </a:lnTo>
                  <a:lnTo>
                    <a:pt x="1152013" y="50610"/>
                  </a:lnTo>
                  <a:lnTo>
                    <a:pt x="1148036" y="30910"/>
                  </a:lnTo>
                  <a:lnTo>
                    <a:pt x="1137189" y="14823"/>
                  </a:lnTo>
                  <a:lnTo>
                    <a:pt x="1121102" y="3977"/>
                  </a:lnTo>
                  <a:lnTo>
                    <a:pt x="1101402" y="0"/>
                  </a:lnTo>
                  <a:close/>
                </a:path>
              </a:pathLst>
            </a:custGeom>
            <a:solidFill>
              <a:srgbClr val="EFE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3960886" y="1259501"/>
              <a:ext cx="1152525" cy="394970"/>
            </a:xfrm>
            <a:custGeom>
              <a:avLst/>
              <a:gdLst/>
              <a:ahLst/>
              <a:cxnLst/>
              <a:rect l="l" t="t" r="r" b="b"/>
              <a:pathLst>
                <a:path w="1152525" h="394969">
                  <a:moveTo>
                    <a:pt x="1101402" y="0"/>
                  </a:moveTo>
                  <a:lnTo>
                    <a:pt x="50610" y="0"/>
                  </a:lnTo>
                  <a:lnTo>
                    <a:pt x="30910" y="3977"/>
                  </a:lnTo>
                  <a:lnTo>
                    <a:pt x="14823" y="14823"/>
                  </a:lnTo>
                  <a:lnTo>
                    <a:pt x="3977" y="30910"/>
                  </a:lnTo>
                  <a:lnTo>
                    <a:pt x="0" y="50610"/>
                  </a:lnTo>
                  <a:lnTo>
                    <a:pt x="0" y="344003"/>
                  </a:lnTo>
                  <a:lnTo>
                    <a:pt x="3977" y="363703"/>
                  </a:lnTo>
                  <a:lnTo>
                    <a:pt x="14823" y="379790"/>
                  </a:lnTo>
                  <a:lnTo>
                    <a:pt x="30910" y="390637"/>
                  </a:lnTo>
                  <a:lnTo>
                    <a:pt x="50610" y="394614"/>
                  </a:lnTo>
                  <a:lnTo>
                    <a:pt x="1101402" y="394614"/>
                  </a:lnTo>
                  <a:lnTo>
                    <a:pt x="1121102" y="390637"/>
                  </a:lnTo>
                  <a:lnTo>
                    <a:pt x="1137189" y="379790"/>
                  </a:lnTo>
                  <a:lnTo>
                    <a:pt x="1148036" y="363703"/>
                  </a:lnTo>
                  <a:lnTo>
                    <a:pt x="1152013" y="344003"/>
                  </a:lnTo>
                  <a:lnTo>
                    <a:pt x="1152013" y="50610"/>
                  </a:lnTo>
                  <a:lnTo>
                    <a:pt x="1148036" y="30910"/>
                  </a:lnTo>
                  <a:lnTo>
                    <a:pt x="1137189" y="14823"/>
                  </a:lnTo>
                  <a:lnTo>
                    <a:pt x="1121102" y="3977"/>
                  </a:lnTo>
                  <a:lnTo>
                    <a:pt x="1101402" y="0"/>
                  </a:lnTo>
                  <a:close/>
                </a:path>
              </a:pathLst>
            </a:custGeom>
            <a:ln w="506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8" name="object 18"/>
          <p:cNvSpPr txBox="1"/>
          <p:nvPr/>
        </p:nvSpPr>
        <p:spPr>
          <a:xfrm>
            <a:off x="4250906" y="1253615"/>
            <a:ext cx="572135" cy="387350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 marR="5080" indent="-635" algn="ctr">
              <a:lnSpc>
                <a:spcPts val="950"/>
              </a:lnSpc>
              <a:spcBef>
                <a:spcPts val="135"/>
              </a:spcBef>
            </a:pPr>
            <a:r>
              <a:rPr sz="800" spc="65" dirty="0">
                <a:latin typeface="Georgia"/>
                <a:cs typeface="Georgia"/>
              </a:rPr>
              <a:t>viz.py </a:t>
            </a:r>
            <a:r>
              <a:rPr sz="800" dirty="0">
                <a:latin typeface="Arial"/>
                <a:cs typeface="Arial"/>
              </a:rPr>
              <a:t>Plotly</a:t>
            </a:r>
            <a:r>
              <a:rPr sz="800" spc="155" dirty="0">
                <a:latin typeface="Arial"/>
                <a:cs typeface="Arial"/>
              </a:rPr>
              <a:t> </a:t>
            </a:r>
            <a:r>
              <a:rPr sz="800" spc="-10" dirty="0">
                <a:latin typeface="Arial"/>
                <a:cs typeface="Arial"/>
              </a:rPr>
              <a:t>Chart Builders</a:t>
            </a:r>
            <a:endParaRPr sz="800">
              <a:latin typeface="Arial"/>
              <a:cs typeface="Arial"/>
            </a:endParaRPr>
          </a:p>
        </p:txBody>
      </p:sp>
      <p:grpSp>
        <p:nvGrpSpPr>
          <p:cNvPr id="19" name="object 19"/>
          <p:cNvGrpSpPr/>
          <p:nvPr/>
        </p:nvGrpSpPr>
        <p:grpSpPr>
          <a:xfrm>
            <a:off x="3958346" y="573934"/>
            <a:ext cx="1157605" cy="425450"/>
            <a:chOff x="3958346" y="573934"/>
            <a:chExt cx="1157605" cy="425450"/>
          </a:xfrm>
        </p:grpSpPr>
        <p:sp>
          <p:nvSpPr>
            <p:cNvPr id="20" name="object 20"/>
            <p:cNvSpPr/>
            <p:nvPr/>
          </p:nvSpPr>
          <p:spPr>
            <a:xfrm>
              <a:off x="3960886" y="576474"/>
              <a:ext cx="1152525" cy="420370"/>
            </a:xfrm>
            <a:custGeom>
              <a:avLst/>
              <a:gdLst/>
              <a:ahLst/>
              <a:cxnLst/>
              <a:rect l="l" t="t" r="r" b="b"/>
              <a:pathLst>
                <a:path w="1152525" h="420369">
                  <a:moveTo>
                    <a:pt x="1101402" y="0"/>
                  </a:moveTo>
                  <a:lnTo>
                    <a:pt x="50610" y="0"/>
                  </a:lnTo>
                  <a:lnTo>
                    <a:pt x="30910" y="3977"/>
                  </a:lnTo>
                  <a:lnTo>
                    <a:pt x="14823" y="14823"/>
                  </a:lnTo>
                  <a:lnTo>
                    <a:pt x="3977" y="30910"/>
                  </a:lnTo>
                  <a:lnTo>
                    <a:pt x="0" y="50610"/>
                  </a:lnTo>
                  <a:lnTo>
                    <a:pt x="0" y="369308"/>
                  </a:lnTo>
                  <a:lnTo>
                    <a:pt x="3977" y="389008"/>
                  </a:lnTo>
                  <a:lnTo>
                    <a:pt x="14823" y="405096"/>
                  </a:lnTo>
                  <a:lnTo>
                    <a:pt x="30910" y="415942"/>
                  </a:lnTo>
                  <a:lnTo>
                    <a:pt x="50610" y="419919"/>
                  </a:lnTo>
                  <a:lnTo>
                    <a:pt x="1101402" y="419919"/>
                  </a:lnTo>
                  <a:lnTo>
                    <a:pt x="1121102" y="415942"/>
                  </a:lnTo>
                  <a:lnTo>
                    <a:pt x="1137189" y="405096"/>
                  </a:lnTo>
                  <a:lnTo>
                    <a:pt x="1148036" y="389008"/>
                  </a:lnTo>
                  <a:lnTo>
                    <a:pt x="1152013" y="369308"/>
                  </a:lnTo>
                  <a:lnTo>
                    <a:pt x="1152013" y="50610"/>
                  </a:lnTo>
                  <a:lnTo>
                    <a:pt x="1148036" y="30910"/>
                  </a:lnTo>
                  <a:lnTo>
                    <a:pt x="1137189" y="14823"/>
                  </a:lnTo>
                  <a:lnTo>
                    <a:pt x="1121102" y="3977"/>
                  </a:lnTo>
                  <a:lnTo>
                    <a:pt x="1101402" y="0"/>
                  </a:lnTo>
                  <a:close/>
                </a:path>
              </a:pathLst>
            </a:custGeom>
            <a:solidFill>
              <a:srgbClr val="EFE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3960886" y="576474"/>
              <a:ext cx="1152525" cy="420370"/>
            </a:xfrm>
            <a:custGeom>
              <a:avLst/>
              <a:gdLst/>
              <a:ahLst/>
              <a:cxnLst/>
              <a:rect l="l" t="t" r="r" b="b"/>
              <a:pathLst>
                <a:path w="1152525" h="420369">
                  <a:moveTo>
                    <a:pt x="1101402" y="0"/>
                  </a:moveTo>
                  <a:lnTo>
                    <a:pt x="50610" y="0"/>
                  </a:lnTo>
                  <a:lnTo>
                    <a:pt x="30910" y="3977"/>
                  </a:lnTo>
                  <a:lnTo>
                    <a:pt x="14823" y="14823"/>
                  </a:lnTo>
                  <a:lnTo>
                    <a:pt x="3977" y="30910"/>
                  </a:lnTo>
                  <a:lnTo>
                    <a:pt x="0" y="50610"/>
                  </a:lnTo>
                  <a:lnTo>
                    <a:pt x="0" y="369308"/>
                  </a:lnTo>
                  <a:lnTo>
                    <a:pt x="3977" y="389008"/>
                  </a:lnTo>
                  <a:lnTo>
                    <a:pt x="14823" y="405096"/>
                  </a:lnTo>
                  <a:lnTo>
                    <a:pt x="30910" y="415942"/>
                  </a:lnTo>
                  <a:lnTo>
                    <a:pt x="50610" y="419919"/>
                  </a:lnTo>
                  <a:lnTo>
                    <a:pt x="1101402" y="419919"/>
                  </a:lnTo>
                  <a:lnTo>
                    <a:pt x="1121102" y="415942"/>
                  </a:lnTo>
                  <a:lnTo>
                    <a:pt x="1137189" y="405096"/>
                  </a:lnTo>
                  <a:lnTo>
                    <a:pt x="1148036" y="389008"/>
                  </a:lnTo>
                  <a:lnTo>
                    <a:pt x="1152013" y="369308"/>
                  </a:lnTo>
                  <a:lnTo>
                    <a:pt x="1152013" y="50610"/>
                  </a:lnTo>
                  <a:lnTo>
                    <a:pt x="1148036" y="30910"/>
                  </a:lnTo>
                  <a:lnTo>
                    <a:pt x="1137189" y="14823"/>
                  </a:lnTo>
                  <a:lnTo>
                    <a:pt x="1121102" y="3977"/>
                  </a:lnTo>
                  <a:lnTo>
                    <a:pt x="1101402" y="0"/>
                  </a:lnTo>
                  <a:close/>
                </a:path>
              </a:pathLst>
            </a:custGeom>
            <a:ln w="506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4083418" y="570597"/>
            <a:ext cx="906780" cy="38735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algn="ctr">
              <a:lnSpc>
                <a:spcPts val="955"/>
              </a:lnSpc>
              <a:spcBef>
                <a:spcPts val="95"/>
              </a:spcBef>
            </a:pPr>
            <a:r>
              <a:rPr sz="800" spc="45" dirty="0">
                <a:latin typeface="Georgia"/>
                <a:cs typeface="Georgia"/>
              </a:rPr>
              <a:t>config.py</a:t>
            </a:r>
            <a:endParaRPr sz="800">
              <a:latin typeface="Georgia"/>
              <a:cs typeface="Georgia"/>
            </a:endParaRPr>
          </a:p>
          <a:p>
            <a:pPr marL="12700" marR="5080" algn="ctr">
              <a:lnSpc>
                <a:spcPts val="950"/>
              </a:lnSpc>
              <a:spcBef>
                <a:spcPts val="35"/>
              </a:spcBef>
            </a:pPr>
            <a:r>
              <a:rPr sz="800" dirty="0">
                <a:latin typeface="Arial"/>
                <a:cs typeface="Arial"/>
              </a:rPr>
              <a:t>KPI</a:t>
            </a:r>
            <a:r>
              <a:rPr sz="800" spc="110" dirty="0">
                <a:latin typeface="Arial"/>
                <a:cs typeface="Arial"/>
              </a:rPr>
              <a:t> </a:t>
            </a:r>
            <a:r>
              <a:rPr sz="800" spc="-10" dirty="0">
                <a:latin typeface="Arial"/>
                <a:cs typeface="Arial"/>
              </a:rPr>
              <a:t>Polarity </a:t>
            </a:r>
            <a:r>
              <a:rPr sz="800" spc="-25" dirty="0">
                <a:latin typeface="Arial"/>
                <a:cs typeface="Arial"/>
              </a:rPr>
              <a:t>Persistence</a:t>
            </a:r>
            <a:r>
              <a:rPr sz="800" spc="15" dirty="0">
                <a:latin typeface="Arial"/>
                <a:cs typeface="Arial"/>
              </a:rPr>
              <a:t> </a:t>
            </a:r>
            <a:r>
              <a:rPr sz="800" spc="-10" dirty="0">
                <a:latin typeface="Arial"/>
                <a:cs typeface="Arial"/>
              </a:rPr>
              <a:t>(JSON)</a:t>
            </a:r>
            <a:endParaRPr sz="800">
              <a:latin typeface="Arial"/>
              <a:cs typeface="Arial"/>
            </a:endParaRPr>
          </a:p>
        </p:txBody>
      </p:sp>
      <p:grpSp>
        <p:nvGrpSpPr>
          <p:cNvPr id="23" name="object 23"/>
          <p:cNvGrpSpPr/>
          <p:nvPr/>
        </p:nvGrpSpPr>
        <p:grpSpPr>
          <a:xfrm>
            <a:off x="644578" y="763185"/>
            <a:ext cx="3384550" cy="1612265"/>
            <a:chOff x="644578" y="763185"/>
            <a:chExt cx="3384550" cy="1612265"/>
          </a:xfrm>
        </p:grpSpPr>
        <p:sp>
          <p:nvSpPr>
            <p:cNvPr id="24" name="object 24"/>
            <p:cNvSpPr/>
            <p:nvPr/>
          </p:nvSpPr>
          <p:spPr>
            <a:xfrm>
              <a:off x="647108" y="1947180"/>
              <a:ext cx="1152525" cy="426084"/>
            </a:xfrm>
            <a:custGeom>
              <a:avLst/>
              <a:gdLst/>
              <a:ahLst/>
              <a:cxnLst/>
              <a:rect l="l" t="t" r="r" b="b"/>
              <a:pathLst>
                <a:path w="1152525" h="426085">
                  <a:moveTo>
                    <a:pt x="1101402" y="0"/>
                  </a:moveTo>
                  <a:lnTo>
                    <a:pt x="50610" y="0"/>
                  </a:lnTo>
                  <a:lnTo>
                    <a:pt x="30910" y="3977"/>
                  </a:lnTo>
                  <a:lnTo>
                    <a:pt x="14823" y="14823"/>
                  </a:lnTo>
                  <a:lnTo>
                    <a:pt x="3977" y="30910"/>
                  </a:lnTo>
                  <a:lnTo>
                    <a:pt x="0" y="50610"/>
                  </a:lnTo>
                  <a:lnTo>
                    <a:pt x="0" y="374932"/>
                  </a:lnTo>
                  <a:lnTo>
                    <a:pt x="3977" y="394632"/>
                  </a:lnTo>
                  <a:lnTo>
                    <a:pt x="14823" y="410719"/>
                  </a:lnTo>
                  <a:lnTo>
                    <a:pt x="30910" y="421565"/>
                  </a:lnTo>
                  <a:lnTo>
                    <a:pt x="50610" y="425542"/>
                  </a:lnTo>
                  <a:lnTo>
                    <a:pt x="1101402" y="425542"/>
                  </a:lnTo>
                  <a:lnTo>
                    <a:pt x="1121102" y="421565"/>
                  </a:lnTo>
                  <a:lnTo>
                    <a:pt x="1137189" y="410719"/>
                  </a:lnTo>
                  <a:lnTo>
                    <a:pt x="1148036" y="394632"/>
                  </a:lnTo>
                  <a:lnTo>
                    <a:pt x="1152013" y="374932"/>
                  </a:lnTo>
                  <a:lnTo>
                    <a:pt x="1152013" y="50610"/>
                  </a:lnTo>
                  <a:lnTo>
                    <a:pt x="1148036" y="30910"/>
                  </a:lnTo>
                  <a:lnTo>
                    <a:pt x="1137189" y="14823"/>
                  </a:lnTo>
                  <a:lnTo>
                    <a:pt x="1121102" y="3977"/>
                  </a:lnTo>
                  <a:lnTo>
                    <a:pt x="110140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647108" y="1947180"/>
              <a:ext cx="1152525" cy="426084"/>
            </a:xfrm>
            <a:custGeom>
              <a:avLst/>
              <a:gdLst/>
              <a:ahLst/>
              <a:cxnLst/>
              <a:rect l="l" t="t" r="r" b="b"/>
              <a:pathLst>
                <a:path w="1152525" h="426085">
                  <a:moveTo>
                    <a:pt x="1101402" y="0"/>
                  </a:moveTo>
                  <a:lnTo>
                    <a:pt x="50610" y="0"/>
                  </a:lnTo>
                  <a:lnTo>
                    <a:pt x="30910" y="3977"/>
                  </a:lnTo>
                  <a:lnTo>
                    <a:pt x="14823" y="14823"/>
                  </a:lnTo>
                  <a:lnTo>
                    <a:pt x="3977" y="30910"/>
                  </a:lnTo>
                  <a:lnTo>
                    <a:pt x="0" y="50610"/>
                  </a:lnTo>
                  <a:lnTo>
                    <a:pt x="0" y="374932"/>
                  </a:lnTo>
                  <a:lnTo>
                    <a:pt x="3977" y="394632"/>
                  </a:lnTo>
                  <a:lnTo>
                    <a:pt x="14823" y="410719"/>
                  </a:lnTo>
                  <a:lnTo>
                    <a:pt x="30910" y="421565"/>
                  </a:lnTo>
                  <a:lnTo>
                    <a:pt x="50610" y="425542"/>
                  </a:lnTo>
                  <a:lnTo>
                    <a:pt x="1101402" y="425542"/>
                  </a:lnTo>
                  <a:lnTo>
                    <a:pt x="1121102" y="421565"/>
                  </a:lnTo>
                  <a:lnTo>
                    <a:pt x="1137189" y="410719"/>
                  </a:lnTo>
                  <a:lnTo>
                    <a:pt x="1148036" y="394632"/>
                  </a:lnTo>
                  <a:lnTo>
                    <a:pt x="1152013" y="374932"/>
                  </a:lnTo>
                  <a:lnTo>
                    <a:pt x="1152013" y="50610"/>
                  </a:lnTo>
                  <a:lnTo>
                    <a:pt x="1148036" y="30910"/>
                  </a:lnTo>
                  <a:lnTo>
                    <a:pt x="1137189" y="14823"/>
                  </a:lnTo>
                  <a:lnTo>
                    <a:pt x="1121102" y="3977"/>
                  </a:lnTo>
                  <a:lnTo>
                    <a:pt x="1101402" y="0"/>
                  </a:lnTo>
                  <a:close/>
                </a:path>
              </a:pathLst>
            </a:custGeom>
            <a:ln w="506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1275956" y="2181313"/>
              <a:ext cx="32384" cy="0"/>
            </a:xfrm>
            <a:custGeom>
              <a:avLst/>
              <a:gdLst/>
              <a:ahLst/>
              <a:cxnLst/>
              <a:rect l="l" t="t" r="r" b="b"/>
              <a:pathLst>
                <a:path w="32384">
                  <a:moveTo>
                    <a:pt x="0" y="0"/>
                  </a:moveTo>
                  <a:lnTo>
                    <a:pt x="32270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1237119" y="2301506"/>
              <a:ext cx="32384" cy="0"/>
            </a:xfrm>
            <a:custGeom>
              <a:avLst/>
              <a:gdLst/>
              <a:ahLst/>
              <a:cxnLst/>
              <a:rect l="l" t="t" r="r" b="b"/>
              <a:pathLst>
                <a:path w="32384">
                  <a:moveTo>
                    <a:pt x="0" y="0"/>
                  </a:moveTo>
                  <a:lnTo>
                    <a:pt x="32270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8" name="object 28"/>
            <p:cNvSpPr/>
            <p:nvPr/>
          </p:nvSpPr>
          <p:spPr>
            <a:xfrm>
              <a:off x="1778711" y="968967"/>
              <a:ext cx="650240" cy="263525"/>
            </a:xfrm>
            <a:custGeom>
              <a:avLst/>
              <a:gdLst/>
              <a:ahLst/>
              <a:cxnLst/>
              <a:rect l="l" t="t" r="r" b="b"/>
              <a:pathLst>
                <a:path w="650239" h="263525">
                  <a:moveTo>
                    <a:pt x="650069" y="0"/>
                  </a:moveTo>
                  <a:lnTo>
                    <a:pt x="0" y="262907"/>
                  </a:lnTo>
                </a:path>
              </a:pathLst>
            </a:custGeom>
            <a:ln w="1012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" name="object 29"/>
            <p:cNvSpPr/>
            <p:nvPr/>
          </p:nvSpPr>
          <p:spPr>
            <a:xfrm>
              <a:off x="1736001" y="1215013"/>
              <a:ext cx="49530" cy="34290"/>
            </a:xfrm>
            <a:custGeom>
              <a:avLst/>
              <a:gdLst/>
              <a:ahLst/>
              <a:cxnLst/>
              <a:rect l="l" t="t" r="r" b="b"/>
              <a:pathLst>
                <a:path w="49530" h="34290">
                  <a:moveTo>
                    <a:pt x="49529" y="33722"/>
                  </a:moveTo>
                  <a:lnTo>
                    <a:pt x="35891" y="0"/>
                  </a:lnTo>
                  <a:lnTo>
                    <a:pt x="26249" y="10727"/>
                  </a:lnTo>
                  <a:lnTo>
                    <a:pt x="15538" y="21002"/>
                  </a:lnTo>
                  <a:lnTo>
                    <a:pt x="6031" y="29310"/>
                  </a:lnTo>
                  <a:lnTo>
                    <a:pt x="0" y="34134"/>
                  </a:lnTo>
                  <a:lnTo>
                    <a:pt x="7688" y="33409"/>
                  </a:lnTo>
                  <a:lnTo>
                    <a:pt x="20298" y="32772"/>
                  </a:lnTo>
                  <a:lnTo>
                    <a:pt x="35141" y="32713"/>
                  </a:lnTo>
                  <a:lnTo>
                    <a:pt x="49529" y="3372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0" name="object 30"/>
            <p:cNvSpPr/>
            <p:nvPr/>
          </p:nvSpPr>
          <p:spPr>
            <a:xfrm>
              <a:off x="1736001" y="1215013"/>
              <a:ext cx="49530" cy="34290"/>
            </a:xfrm>
            <a:custGeom>
              <a:avLst/>
              <a:gdLst/>
              <a:ahLst/>
              <a:cxnLst/>
              <a:rect l="l" t="t" r="r" b="b"/>
              <a:pathLst>
                <a:path w="49530" h="34290">
                  <a:moveTo>
                    <a:pt x="0" y="34134"/>
                  </a:moveTo>
                  <a:lnTo>
                    <a:pt x="7688" y="33409"/>
                  </a:lnTo>
                  <a:lnTo>
                    <a:pt x="20298" y="32772"/>
                  </a:lnTo>
                  <a:lnTo>
                    <a:pt x="35141" y="32713"/>
                  </a:lnTo>
                  <a:lnTo>
                    <a:pt x="49529" y="33722"/>
                  </a:lnTo>
                  <a:lnTo>
                    <a:pt x="35891" y="0"/>
                  </a:lnTo>
                  <a:lnTo>
                    <a:pt x="26249" y="10727"/>
                  </a:lnTo>
                  <a:lnTo>
                    <a:pt x="15538" y="21002"/>
                  </a:lnTo>
                  <a:lnTo>
                    <a:pt x="6031" y="29310"/>
                  </a:lnTo>
                  <a:lnTo>
                    <a:pt x="0" y="34134"/>
                  </a:lnTo>
                  <a:close/>
                </a:path>
              </a:pathLst>
            </a:custGeom>
            <a:ln w="1012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" name="object 31"/>
            <p:cNvSpPr/>
            <p:nvPr/>
          </p:nvSpPr>
          <p:spPr>
            <a:xfrm>
              <a:off x="2880004" y="968967"/>
              <a:ext cx="0" cy="221615"/>
            </a:xfrm>
            <a:custGeom>
              <a:avLst/>
              <a:gdLst/>
              <a:ahLst/>
              <a:cxnLst/>
              <a:rect l="l" t="t" r="r" b="b"/>
              <a:pathLst>
                <a:path h="221615">
                  <a:moveTo>
                    <a:pt x="0" y="0"/>
                  </a:moveTo>
                  <a:lnTo>
                    <a:pt x="0" y="221063"/>
                  </a:lnTo>
                </a:path>
              </a:pathLst>
            </a:custGeom>
            <a:ln w="1012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2861815" y="1190031"/>
              <a:ext cx="36830" cy="46355"/>
            </a:xfrm>
            <a:custGeom>
              <a:avLst/>
              <a:gdLst/>
              <a:ahLst/>
              <a:cxnLst/>
              <a:rect l="l" t="t" r="r" b="b"/>
              <a:pathLst>
                <a:path w="36830" h="46355">
                  <a:moveTo>
                    <a:pt x="36377" y="0"/>
                  </a:moveTo>
                  <a:lnTo>
                    <a:pt x="0" y="0"/>
                  </a:lnTo>
                  <a:lnTo>
                    <a:pt x="6329" y="12960"/>
                  </a:lnTo>
                  <a:lnTo>
                    <a:pt x="11840" y="26743"/>
                  </a:lnTo>
                  <a:lnTo>
                    <a:pt x="15977" y="38672"/>
                  </a:lnTo>
                  <a:lnTo>
                    <a:pt x="18188" y="46072"/>
                  </a:lnTo>
                  <a:lnTo>
                    <a:pt x="20399" y="38672"/>
                  </a:lnTo>
                  <a:lnTo>
                    <a:pt x="24536" y="26743"/>
                  </a:lnTo>
                  <a:lnTo>
                    <a:pt x="30047" y="12960"/>
                  </a:lnTo>
                  <a:lnTo>
                    <a:pt x="36377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2861815" y="1190031"/>
              <a:ext cx="36830" cy="46355"/>
            </a:xfrm>
            <a:custGeom>
              <a:avLst/>
              <a:gdLst/>
              <a:ahLst/>
              <a:cxnLst/>
              <a:rect l="l" t="t" r="r" b="b"/>
              <a:pathLst>
                <a:path w="36830" h="46355">
                  <a:moveTo>
                    <a:pt x="18188" y="46072"/>
                  </a:moveTo>
                  <a:lnTo>
                    <a:pt x="20399" y="38672"/>
                  </a:lnTo>
                  <a:lnTo>
                    <a:pt x="24536" y="26743"/>
                  </a:lnTo>
                  <a:lnTo>
                    <a:pt x="30047" y="12960"/>
                  </a:lnTo>
                  <a:lnTo>
                    <a:pt x="36377" y="0"/>
                  </a:lnTo>
                  <a:lnTo>
                    <a:pt x="0" y="0"/>
                  </a:lnTo>
                  <a:lnTo>
                    <a:pt x="6329" y="12960"/>
                  </a:lnTo>
                  <a:lnTo>
                    <a:pt x="11840" y="26743"/>
                  </a:lnTo>
                  <a:lnTo>
                    <a:pt x="15977" y="38672"/>
                  </a:lnTo>
                  <a:lnTo>
                    <a:pt x="18188" y="46072"/>
                  </a:lnTo>
                  <a:close/>
                </a:path>
              </a:pathLst>
            </a:custGeom>
            <a:ln w="1012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4" name="object 34"/>
            <p:cNvSpPr/>
            <p:nvPr/>
          </p:nvSpPr>
          <p:spPr>
            <a:xfrm>
              <a:off x="3331227" y="968967"/>
              <a:ext cx="650240" cy="263525"/>
            </a:xfrm>
            <a:custGeom>
              <a:avLst/>
              <a:gdLst/>
              <a:ahLst/>
              <a:cxnLst/>
              <a:rect l="l" t="t" r="r" b="b"/>
              <a:pathLst>
                <a:path w="650239" h="263525">
                  <a:moveTo>
                    <a:pt x="0" y="0"/>
                  </a:moveTo>
                  <a:lnTo>
                    <a:pt x="650069" y="262907"/>
                  </a:lnTo>
                </a:path>
              </a:pathLst>
            </a:custGeom>
            <a:ln w="1012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5" name="object 35"/>
            <p:cNvSpPr/>
            <p:nvPr/>
          </p:nvSpPr>
          <p:spPr>
            <a:xfrm>
              <a:off x="3974477" y="1215013"/>
              <a:ext cx="49530" cy="34290"/>
            </a:xfrm>
            <a:custGeom>
              <a:avLst/>
              <a:gdLst/>
              <a:ahLst/>
              <a:cxnLst/>
              <a:rect l="l" t="t" r="r" b="b"/>
              <a:pathLst>
                <a:path w="49529" h="34290">
                  <a:moveTo>
                    <a:pt x="13638" y="0"/>
                  </a:moveTo>
                  <a:lnTo>
                    <a:pt x="0" y="33722"/>
                  </a:lnTo>
                  <a:lnTo>
                    <a:pt x="14388" y="32713"/>
                  </a:lnTo>
                  <a:lnTo>
                    <a:pt x="29231" y="32772"/>
                  </a:lnTo>
                  <a:lnTo>
                    <a:pt x="41840" y="33409"/>
                  </a:lnTo>
                  <a:lnTo>
                    <a:pt x="49529" y="34134"/>
                  </a:lnTo>
                  <a:lnTo>
                    <a:pt x="43498" y="29310"/>
                  </a:lnTo>
                  <a:lnTo>
                    <a:pt x="33991" y="21002"/>
                  </a:lnTo>
                  <a:lnTo>
                    <a:pt x="23280" y="10727"/>
                  </a:lnTo>
                  <a:lnTo>
                    <a:pt x="13638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6" name="object 36"/>
            <p:cNvSpPr/>
            <p:nvPr/>
          </p:nvSpPr>
          <p:spPr>
            <a:xfrm>
              <a:off x="3974477" y="1215013"/>
              <a:ext cx="49530" cy="34290"/>
            </a:xfrm>
            <a:custGeom>
              <a:avLst/>
              <a:gdLst/>
              <a:ahLst/>
              <a:cxnLst/>
              <a:rect l="l" t="t" r="r" b="b"/>
              <a:pathLst>
                <a:path w="49529" h="34290">
                  <a:moveTo>
                    <a:pt x="49529" y="34134"/>
                  </a:moveTo>
                  <a:lnTo>
                    <a:pt x="43498" y="29310"/>
                  </a:lnTo>
                  <a:lnTo>
                    <a:pt x="33991" y="21002"/>
                  </a:lnTo>
                  <a:lnTo>
                    <a:pt x="23280" y="10727"/>
                  </a:lnTo>
                  <a:lnTo>
                    <a:pt x="13638" y="0"/>
                  </a:lnTo>
                  <a:lnTo>
                    <a:pt x="0" y="33722"/>
                  </a:lnTo>
                  <a:lnTo>
                    <a:pt x="14388" y="32713"/>
                  </a:lnTo>
                  <a:lnTo>
                    <a:pt x="29231" y="32772"/>
                  </a:lnTo>
                  <a:lnTo>
                    <a:pt x="41840" y="33409"/>
                  </a:lnTo>
                  <a:lnTo>
                    <a:pt x="49529" y="34134"/>
                  </a:lnTo>
                  <a:close/>
                </a:path>
              </a:pathLst>
            </a:custGeom>
            <a:ln w="1012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7" name="object 37"/>
            <p:cNvSpPr/>
            <p:nvPr/>
          </p:nvSpPr>
          <p:spPr>
            <a:xfrm>
              <a:off x="3526350" y="786434"/>
              <a:ext cx="365125" cy="0"/>
            </a:xfrm>
            <a:custGeom>
              <a:avLst/>
              <a:gdLst/>
              <a:ahLst/>
              <a:cxnLst/>
              <a:rect l="l" t="t" r="r" b="b"/>
              <a:pathLst>
                <a:path w="365125">
                  <a:moveTo>
                    <a:pt x="0" y="0"/>
                  </a:moveTo>
                  <a:lnTo>
                    <a:pt x="365065" y="0"/>
                  </a:lnTo>
                </a:path>
              </a:pathLst>
            </a:custGeom>
            <a:ln w="1012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3891416" y="768246"/>
              <a:ext cx="46355" cy="36830"/>
            </a:xfrm>
            <a:custGeom>
              <a:avLst/>
              <a:gdLst/>
              <a:ahLst/>
              <a:cxnLst/>
              <a:rect l="l" t="t" r="r" b="b"/>
              <a:pathLst>
                <a:path w="46354" h="36829">
                  <a:moveTo>
                    <a:pt x="0" y="0"/>
                  </a:moveTo>
                  <a:lnTo>
                    <a:pt x="0" y="36377"/>
                  </a:lnTo>
                  <a:lnTo>
                    <a:pt x="12960" y="30047"/>
                  </a:lnTo>
                  <a:lnTo>
                    <a:pt x="26743" y="24536"/>
                  </a:lnTo>
                  <a:lnTo>
                    <a:pt x="38672" y="20399"/>
                  </a:lnTo>
                  <a:lnTo>
                    <a:pt x="46072" y="18188"/>
                  </a:lnTo>
                  <a:lnTo>
                    <a:pt x="38672" y="15977"/>
                  </a:lnTo>
                  <a:lnTo>
                    <a:pt x="26743" y="11840"/>
                  </a:lnTo>
                  <a:lnTo>
                    <a:pt x="12960" y="632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3891416" y="768246"/>
              <a:ext cx="46355" cy="36830"/>
            </a:xfrm>
            <a:custGeom>
              <a:avLst/>
              <a:gdLst/>
              <a:ahLst/>
              <a:cxnLst/>
              <a:rect l="l" t="t" r="r" b="b"/>
              <a:pathLst>
                <a:path w="46354" h="36829">
                  <a:moveTo>
                    <a:pt x="46072" y="18188"/>
                  </a:moveTo>
                  <a:lnTo>
                    <a:pt x="38672" y="15977"/>
                  </a:lnTo>
                  <a:lnTo>
                    <a:pt x="26743" y="11840"/>
                  </a:lnTo>
                  <a:lnTo>
                    <a:pt x="12960" y="6329"/>
                  </a:lnTo>
                  <a:lnTo>
                    <a:pt x="0" y="0"/>
                  </a:lnTo>
                  <a:lnTo>
                    <a:pt x="0" y="36377"/>
                  </a:lnTo>
                  <a:lnTo>
                    <a:pt x="12960" y="30047"/>
                  </a:lnTo>
                  <a:lnTo>
                    <a:pt x="26743" y="24536"/>
                  </a:lnTo>
                  <a:lnTo>
                    <a:pt x="38672" y="20399"/>
                  </a:lnTo>
                  <a:lnTo>
                    <a:pt x="46072" y="18188"/>
                  </a:lnTo>
                  <a:close/>
                </a:path>
              </a:pathLst>
            </a:custGeom>
            <a:ln w="1012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0" name="object 40"/>
            <p:cNvSpPr/>
            <p:nvPr/>
          </p:nvSpPr>
          <p:spPr>
            <a:xfrm>
              <a:off x="1223115" y="1656646"/>
              <a:ext cx="0" cy="221615"/>
            </a:xfrm>
            <a:custGeom>
              <a:avLst/>
              <a:gdLst/>
              <a:ahLst/>
              <a:cxnLst/>
              <a:rect l="l" t="t" r="r" b="b"/>
              <a:pathLst>
                <a:path h="221614">
                  <a:moveTo>
                    <a:pt x="0" y="0"/>
                  </a:moveTo>
                  <a:lnTo>
                    <a:pt x="0" y="221063"/>
                  </a:lnTo>
                </a:path>
              </a:pathLst>
            </a:custGeom>
            <a:ln w="1012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1" name="object 41"/>
            <p:cNvSpPr/>
            <p:nvPr/>
          </p:nvSpPr>
          <p:spPr>
            <a:xfrm>
              <a:off x="1204927" y="1877710"/>
              <a:ext cx="36830" cy="46355"/>
            </a:xfrm>
            <a:custGeom>
              <a:avLst/>
              <a:gdLst/>
              <a:ahLst/>
              <a:cxnLst/>
              <a:rect l="l" t="t" r="r" b="b"/>
              <a:pathLst>
                <a:path w="36830" h="46355">
                  <a:moveTo>
                    <a:pt x="36377" y="0"/>
                  </a:moveTo>
                  <a:lnTo>
                    <a:pt x="0" y="0"/>
                  </a:lnTo>
                  <a:lnTo>
                    <a:pt x="6329" y="12960"/>
                  </a:lnTo>
                  <a:lnTo>
                    <a:pt x="11840" y="26743"/>
                  </a:lnTo>
                  <a:lnTo>
                    <a:pt x="15977" y="38672"/>
                  </a:lnTo>
                  <a:lnTo>
                    <a:pt x="18188" y="46072"/>
                  </a:lnTo>
                  <a:lnTo>
                    <a:pt x="20399" y="38672"/>
                  </a:lnTo>
                  <a:lnTo>
                    <a:pt x="24536" y="26743"/>
                  </a:lnTo>
                  <a:lnTo>
                    <a:pt x="30047" y="12960"/>
                  </a:lnTo>
                  <a:lnTo>
                    <a:pt x="36377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2" name="object 42"/>
            <p:cNvSpPr/>
            <p:nvPr/>
          </p:nvSpPr>
          <p:spPr>
            <a:xfrm>
              <a:off x="1204927" y="1877710"/>
              <a:ext cx="36830" cy="46355"/>
            </a:xfrm>
            <a:custGeom>
              <a:avLst/>
              <a:gdLst/>
              <a:ahLst/>
              <a:cxnLst/>
              <a:rect l="l" t="t" r="r" b="b"/>
              <a:pathLst>
                <a:path w="36830" h="46355">
                  <a:moveTo>
                    <a:pt x="18188" y="46072"/>
                  </a:moveTo>
                  <a:lnTo>
                    <a:pt x="20399" y="38672"/>
                  </a:lnTo>
                  <a:lnTo>
                    <a:pt x="24536" y="26743"/>
                  </a:lnTo>
                  <a:lnTo>
                    <a:pt x="30047" y="12960"/>
                  </a:lnTo>
                  <a:lnTo>
                    <a:pt x="36377" y="0"/>
                  </a:lnTo>
                  <a:lnTo>
                    <a:pt x="0" y="0"/>
                  </a:lnTo>
                  <a:lnTo>
                    <a:pt x="6329" y="12960"/>
                  </a:lnTo>
                  <a:lnTo>
                    <a:pt x="11840" y="26743"/>
                  </a:lnTo>
                  <a:lnTo>
                    <a:pt x="15977" y="38672"/>
                  </a:lnTo>
                  <a:lnTo>
                    <a:pt x="18188" y="46072"/>
                  </a:lnTo>
                  <a:close/>
                </a:path>
              </a:pathLst>
            </a:custGeom>
            <a:ln w="1012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3" name="object 43"/>
            <p:cNvSpPr/>
            <p:nvPr/>
          </p:nvSpPr>
          <p:spPr>
            <a:xfrm>
              <a:off x="1801652" y="1460242"/>
              <a:ext cx="417830" cy="2540"/>
            </a:xfrm>
            <a:custGeom>
              <a:avLst/>
              <a:gdLst/>
              <a:ahLst/>
              <a:cxnLst/>
              <a:rect l="l" t="t" r="r" b="b"/>
              <a:pathLst>
                <a:path w="417830" h="2540">
                  <a:moveTo>
                    <a:pt x="0" y="0"/>
                  </a:moveTo>
                  <a:lnTo>
                    <a:pt x="417316" y="2490"/>
                  </a:lnTo>
                </a:path>
              </a:pathLst>
            </a:custGeom>
            <a:ln w="1012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2218860" y="1444545"/>
              <a:ext cx="46355" cy="36830"/>
            </a:xfrm>
            <a:custGeom>
              <a:avLst/>
              <a:gdLst/>
              <a:ahLst/>
              <a:cxnLst/>
              <a:rect l="l" t="t" r="r" b="b"/>
              <a:pathLst>
                <a:path w="46355" h="36830">
                  <a:moveTo>
                    <a:pt x="217" y="0"/>
                  </a:moveTo>
                  <a:lnTo>
                    <a:pt x="0" y="36374"/>
                  </a:lnTo>
                  <a:lnTo>
                    <a:pt x="12997" y="30122"/>
                  </a:lnTo>
                  <a:lnTo>
                    <a:pt x="26812" y="24694"/>
                  </a:lnTo>
                  <a:lnTo>
                    <a:pt x="38765" y="20628"/>
                  </a:lnTo>
                  <a:lnTo>
                    <a:pt x="46178" y="18462"/>
                  </a:lnTo>
                  <a:lnTo>
                    <a:pt x="38792" y="16207"/>
                  </a:lnTo>
                  <a:lnTo>
                    <a:pt x="26888" y="11999"/>
                  </a:lnTo>
                  <a:lnTo>
                    <a:pt x="13139" y="6406"/>
                  </a:lnTo>
                  <a:lnTo>
                    <a:pt x="217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2218860" y="1444545"/>
              <a:ext cx="46355" cy="36830"/>
            </a:xfrm>
            <a:custGeom>
              <a:avLst/>
              <a:gdLst/>
              <a:ahLst/>
              <a:cxnLst/>
              <a:rect l="l" t="t" r="r" b="b"/>
              <a:pathLst>
                <a:path w="46355" h="36830">
                  <a:moveTo>
                    <a:pt x="46178" y="18462"/>
                  </a:moveTo>
                  <a:lnTo>
                    <a:pt x="38792" y="16207"/>
                  </a:lnTo>
                  <a:lnTo>
                    <a:pt x="26888" y="11999"/>
                  </a:lnTo>
                  <a:lnTo>
                    <a:pt x="13139" y="6406"/>
                  </a:lnTo>
                  <a:lnTo>
                    <a:pt x="217" y="0"/>
                  </a:lnTo>
                  <a:lnTo>
                    <a:pt x="0" y="36374"/>
                  </a:lnTo>
                  <a:lnTo>
                    <a:pt x="12997" y="30122"/>
                  </a:lnTo>
                  <a:lnTo>
                    <a:pt x="26812" y="24694"/>
                  </a:lnTo>
                  <a:lnTo>
                    <a:pt x="38765" y="20628"/>
                  </a:lnTo>
                  <a:lnTo>
                    <a:pt x="46178" y="18462"/>
                  </a:lnTo>
                  <a:close/>
                </a:path>
              </a:pathLst>
            </a:custGeom>
            <a:ln w="1012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6" name="object 46"/>
            <p:cNvSpPr/>
            <p:nvPr/>
          </p:nvSpPr>
          <p:spPr>
            <a:xfrm>
              <a:off x="3474104" y="1460632"/>
              <a:ext cx="417830" cy="2540"/>
            </a:xfrm>
            <a:custGeom>
              <a:avLst/>
              <a:gdLst/>
              <a:ahLst/>
              <a:cxnLst/>
              <a:rect l="l" t="t" r="r" b="b"/>
              <a:pathLst>
                <a:path w="417829" h="2540">
                  <a:moveTo>
                    <a:pt x="0" y="2490"/>
                  </a:moveTo>
                  <a:lnTo>
                    <a:pt x="417316" y="0"/>
                  </a:lnTo>
                </a:path>
              </a:pathLst>
            </a:custGeom>
            <a:ln w="1012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7" name="object 47"/>
            <p:cNvSpPr/>
            <p:nvPr/>
          </p:nvSpPr>
          <p:spPr>
            <a:xfrm>
              <a:off x="3891311" y="1442445"/>
              <a:ext cx="46355" cy="36830"/>
            </a:xfrm>
            <a:custGeom>
              <a:avLst/>
              <a:gdLst/>
              <a:ahLst/>
              <a:cxnLst/>
              <a:rect l="l" t="t" r="r" b="b"/>
              <a:pathLst>
                <a:path w="46354" h="36830">
                  <a:moveTo>
                    <a:pt x="0" y="0"/>
                  </a:moveTo>
                  <a:lnTo>
                    <a:pt x="217" y="36374"/>
                  </a:lnTo>
                  <a:lnTo>
                    <a:pt x="13139" y="29968"/>
                  </a:lnTo>
                  <a:lnTo>
                    <a:pt x="26888" y="24375"/>
                  </a:lnTo>
                  <a:lnTo>
                    <a:pt x="38792" y="20167"/>
                  </a:lnTo>
                  <a:lnTo>
                    <a:pt x="46178" y="17912"/>
                  </a:lnTo>
                  <a:lnTo>
                    <a:pt x="38765" y="15745"/>
                  </a:lnTo>
                  <a:lnTo>
                    <a:pt x="26812" y="11680"/>
                  </a:lnTo>
                  <a:lnTo>
                    <a:pt x="12997" y="625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8" name="object 48"/>
            <p:cNvSpPr/>
            <p:nvPr/>
          </p:nvSpPr>
          <p:spPr>
            <a:xfrm>
              <a:off x="3891311" y="1442445"/>
              <a:ext cx="46355" cy="36830"/>
            </a:xfrm>
            <a:custGeom>
              <a:avLst/>
              <a:gdLst/>
              <a:ahLst/>
              <a:cxnLst/>
              <a:rect l="l" t="t" r="r" b="b"/>
              <a:pathLst>
                <a:path w="46354" h="36830">
                  <a:moveTo>
                    <a:pt x="46178" y="17912"/>
                  </a:moveTo>
                  <a:lnTo>
                    <a:pt x="38765" y="15745"/>
                  </a:lnTo>
                  <a:lnTo>
                    <a:pt x="26812" y="11680"/>
                  </a:lnTo>
                  <a:lnTo>
                    <a:pt x="12997" y="6252"/>
                  </a:lnTo>
                  <a:lnTo>
                    <a:pt x="0" y="0"/>
                  </a:lnTo>
                  <a:lnTo>
                    <a:pt x="217" y="36374"/>
                  </a:lnTo>
                  <a:lnTo>
                    <a:pt x="13139" y="29968"/>
                  </a:lnTo>
                  <a:lnTo>
                    <a:pt x="26888" y="24375"/>
                  </a:lnTo>
                  <a:lnTo>
                    <a:pt x="38792" y="20167"/>
                  </a:lnTo>
                  <a:lnTo>
                    <a:pt x="46178" y="17912"/>
                  </a:lnTo>
                  <a:close/>
                </a:path>
              </a:pathLst>
            </a:custGeom>
            <a:ln w="1012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9" name="object 49"/>
          <p:cNvSpPr txBox="1"/>
          <p:nvPr/>
        </p:nvSpPr>
        <p:spPr>
          <a:xfrm>
            <a:off x="130467" y="1949715"/>
            <a:ext cx="5499735" cy="878840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720725" marR="4027170" algn="ctr">
              <a:lnSpc>
                <a:spcPts val="950"/>
              </a:lnSpc>
              <a:spcBef>
                <a:spcPts val="135"/>
              </a:spcBef>
            </a:pPr>
            <a:r>
              <a:rPr sz="800" dirty="0">
                <a:latin typeface="Arial"/>
                <a:cs typeface="Arial"/>
              </a:rPr>
              <a:t>Dolt</a:t>
            </a:r>
            <a:r>
              <a:rPr sz="800" spc="80" dirty="0">
                <a:latin typeface="Arial"/>
                <a:cs typeface="Arial"/>
              </a:rPr>
              <a:t> </a:t>
            </a:r>
            <a:r>
              <a:rPr sz="800" dirty="0">
                <a:latin typeface="Arial"/>
                <a:cs typeface="Arial"/>
              </a:rPr>
              <a:t>SQL</a:t>
            </a:r>
            <a:r>
              <a:rPr sz="800" spc="85" dirty="0">
                <a:latin typeface="Arial"/>
                <a:cs typeface="Arial"/>
              </a:rPr>
              <a:t> </a:t>
            </a:r>
            <a:r>
              <a:rPr sz="800" spc="-40" dirty="0">
                <a:latin typeface="Arial"/>
                <a:cs typeface="Arial"/>
              </a:rPr>
              <a:t>Server</a:t>
            </a:r>
            <a:r>
              <a:rPr sz="800" dirty="0">
                <a:latin typeface="Arial"/>
                <a:cs typeface="Arial"/>
              </a:rPr>
              <a:t> </a:t>
            </a:r>
            <a:r>
              <a:rPr sz="800" dirty="0">
                <a:latin typeface="Georgia"/>
                <a:cs typeface="Georgia"/>
              </a:rPr>
              <a:t>network</a:t>
            </a:r>
            <a:r>
              <a:rPr sz="800" spc="125" dirty="0">
                <a:latin typeface="Georgia"/>
                <a:cs typeface="Georgia"/>
              </a:rPr>
              <a:t> </a:t>
            </a:r>
            <a:r>
              <a:rPr sz="800" spc="-10" dirty="0">
                <a:latin typeface="Georgia"/>
                <a:cs typeface="Georgia"/>
              </a:rPr>
              <a:t>kpis</a:t>
            </a:r>
            <a:r>
              <a:rPr sz="800" spc="-10" dirty="0">
                <a:latin typeface="Arial"/>
                <a:cs typeface="Arial"/>
              </a:rPr>
              <a:t>, </a:t>
            </a:r>
            <a:r>
              <a:rPr sz="800" spc="70" dirty="0">
                <a:latin typeface="Georgia"/>
                <a:cs typeface="Georgia"/>
              </a:rPr>
              <a:t>dolt</a:t>
            </a:r>
            <a:r>
              <a:rPr sz="800" spc="100" dirty="0">
                <a:latin typeface="Georgia"/>
                <a:cs typeface="Georgia"/>
              </a:rPr>
              <a:t> </a:t>
            </a:r>
            <a:r>
              <a:rPr sz="800" spc="35" dirty="0">
                <a:latin typeface="Georgia"/>
                <a:cs typeface="Georgia"/>
              </a:rPr>
              <a:t>log</a:t>
            </a:r>
            <a:endParaRPr sz="800">
              <a:latin typeface="Georgia"/>
              <a:cs typeface="Georgia"/>
            </a:endParaRPr>
          </a:p>
          <a:p>
            <a:pPr marL="12700" marR="5080" algn="ctr">
              <a:lnSpc>
                <a:spcPct val="101499"/>
              </a:lnSpc>
              <a:spcBef>
                <a:spcPts val="545"/>
              </a:spcBef>
            </a:pPr>
            <a:r>
              <a:rPr sz="900" spc="-35" dirty="0">
                <a:latin typeface="Arial"/>
                <a:cs typeface="Arial"/>
              </a:rPr>
              <a:t>High-</a:t>
            </a:r>
            <a:r>
              <a:rPr sz="900" spc="-10" dirty="0">
                <a:latin typeface="Arial"/>
                <a:cs typeface="Arial"/>
              </a:rPr>
              <a:t>level</a:t>
            </a:r>
            <a:r>
              <a:rPr sz="900" spc="5" dirty="0">
                <a:latin typeface="Arial"/>
                <a:cs typeface="Arial"/>
              </a:rPr>
              <a:t> </a:t>
            </a:r>
            <a:r>
              <a:rPr sz="900" spc="-20" dirty="0">
                <a:latin typeface="Arial"/>
                <a:cs typeface="Arial"/>
              </a:rPr>
              <a:t>module</a:t>
            </a:r>
            <a:r>
              <a:rPr sz="900" spc="10" dirty="0">
                <a:latin typeface="Arial"/>
                <a:cs typeface="Arial"/>
              </a:rPr>
              <a:t> </a:t>
            </a:r>
            <a:r>
              <a:rPr sz="900" spc="-10" dirty="0">
                <a:latin typeface="Arial"/>
                <a:cs typeface="Arial"/>
              </a:rPr>
              <a:t>architecture</a:t>
            </a:r>
            <a:r>
              <a:rPr sz="900" spc="5" dirty="0">
                <a:latin typeface="Arial"/>
                <a:cs typeface="Arial"/>
              </a:rPr>
              <a:t> </a:t>
            </a:r>
            <a:r>
              <a:rPr sz="900" dirty="0">
                <a:latin typeface="Arial"/>
                <a:cs typeface="Arial"/>
              </a:rPr>
              <a:t>of</a:t>
            </a:r>
            <a:r>
              <a:rPr sz="900" spc="10" dirty="0">
                <a:latin typeface="Arial"/>
                <a:cs typeface="Arial"/>
              </a:rPr>
              <a:t> </a:t>
            </a:r>
            <a:r>
              <a:rPr sz="900" dirty="0">
                <a:latin typeface="Arial"/>
                <a:cs typeface="Arial"/>
              </a:rPr>
              <a:t>the</a:t>
            </a:r>
            <a:r>
              <a:rPr sz="900" spc="10" dirty="0">
                <a:latin typeface="Arial"/>
                <a:cs typeface="Arial"/>
              </a:rPr>
              <a:t> </a:t>
            </a:r>
            <a:r>
              <a:rPr sz="900" dirty="0">
                <a:latin typeface="Arial"/>
                <a:cs typeface="Arial"/>
              </a:rPr>
              <a:t>Optimization</a:t>
            </a:r>
            <a:r>
              <a:rPr sz="900" spc="5" dirty="0">
                <a:latin typeface="Arial"/>
                <a:cs typeface="Arial"/>
              </a:rPr>
              <a:t> </a:t>
            </a:r>
            <a:r>
              <a:rPr sz="900" dirty="0">
                <a:latin typeface="Arial"/>
                <a:cs typeface="Arial"/>
              </a:rPr>
              <a:t>Action</a:t>
            </a:r>
            <a:r>
              <a:rPr sz="900" spc="10" dirty="0">
                <a:latin typeface="Arial"/>
                <a:cs typeface="Arial"/>
              </a:rPr>
              <a:t> </a:t>
            </a:r>
            <a:r>
              <a:rPr sz="900" spc="-10" dirty="0">
                <a:latin typeface="Arial"/>
                <a:cs typeface="Arial"/>
              </a:rPr>
              <a:t>Analyzer.</a:t>
            </a:r>
            <a:r>
              <a:rPr sz="900" spc="95" dirty="0">
                <a:latin typeface="Arial"/>
                <a:cs typeface="Arial"/>
              </a:rPr>
              <a:t> </a:t>
            </a:r>
            <a:r>
              <a:rPr sz="900" dirty="0">
                <a:latin typeface="Arial"/>
                <a:cs typeface="Arial"/>
              </a:rPr>
              <a:t>The</a:t>
            </a:r>
            <a:r>
              <a:rPr sz="900" spc="10" dirty="0">
                <a:latin typeface="Arial"/>
                <a:cs typeface="Arial"/>
              </a:rPr>
              <a:t> </a:t>
            </a:r>
            <a:r>
              <a:rPr sz="900" dirty="0">
                <a:latin typeface="Arial"/>
                <a:cs typeface="Arial"/>
              </a:rPr>
              <a:t>Streamlit</a:t>
            </a:r>
            <a:r>
              <a:rPr sz="900" spc="10" dirty="0">
                <a:latin typeface="Arial"/>
                <a:cs typeface="Arial"/>
              </a:rPr>
              <a:t> </a:t>
            </a:r>
            <a:r>
              <a:rPr sz="900" spc="-10" dirty="0">
                <a:latin typeface="Arial"/>
                <a:cs typeface="Arial"/>
              </a:rPr>
              <a:t>application</a:t>
            </a:r>
            <a:r>
              <a:rPr sz="900" spc="5" dirty="0">
                <a:latin typeface="Arial"/>
                <a:cs typeface="Arial"/>
              </a:rPr>
              <a:t> </a:t>
            </a:r>
            <a:r>
              <a:rPr sz="900" spc="-10" dirty="0">
                <a:latin typeface="Arial"/>
                <a:cs typeface="Arial"/>
              </a:rPr>
              <a:t>(</a:t>
            </a:r>
            <a:r>
              <a:rPr sz="900" spc="-10" dirty="0">
                <a:latin typeface="Trebuchet MS"/>
                <a:cs typeface="Trebuchet MS"/>
              </a:rPr>
              <a:t>app.py</a:t>
            </a:r>
            <a:r>
              <a:rPr sz="900" spc="-10" dirty="0">
                <a:latin typeface="Arial"/>
                <a:cs typeface="Arial"/>
              </a:rPr>
              <a:t>) </a:t>
            </a:r>
            <a:r>
              <a:rPr sz="900" spc="-30" dirty="0">
                <a:latin typeface="Arial"/>
                <a:cs typeface="Arial"/>
              </a:rPr>
              <a:t>orchestrates</a:t>
            </a:r>
            <a:r>
              <a:rPr sz="900" spc="10" dirty="0">
                <a:latin typeface="Arial"/>
                <a:cs typeface="Arial"/>
              </a:rPr>
              <a:t> </a:t>
            </a:r>
            <a:r>
              <a:rPr sz="900" spc="-20" dirty="0">
                <a:latin typeface="Arial"/>
                <a:cs typeface="Arial"/>
              </a:rPr>
              <a:t>calls</a:t>
            </a:r>
            <a:r>
              <a:rPr sz="900" spc="15" dirty="0">
                <a:latin typeface="Arial"/>
                <a:cs typeface="Arial"/>
              </a:rPr>
              <a:t> </a:t>
            </a:r>
            <a:r>
              <a:rPr sz="900" dirty="0">
                <a:latin typeface="Arial"/>
                <a:cs typeface="Arial"/>
              </a:rPr>
              <a:t>into</a:t>
            </a:r>
            <a:r>
              <a:rPr sz="900" spc="15" dirty="0">
                <a:latin typeface="Arial"/>
                <a:cs typeface="Arial"/>
              </a:rPr>
              <a:t> </a:t>
            </a:r>
            <a:r>
              <a:rPr sz="900" dirty="0">
                <a:latin typeface="Arial"/>
                <a:cs typeface="Arial"/>
              </a:rPr>
              <a:t>four</a:t>
            </a:r>
            <a:r>
              <a:rPr sz="900" spc="15" dirty="0">
                <a:latin typeface="Arial"/>
                <a:cs typeface="Arial"/>
              </a:rPr>
              <a:t> </a:t>
            </a:r>
            <a:r>
              <a:rPr sz="900" spc="-30" dirty="0">
                <a:latin typeface="Arial"/>
                <a:cs typeface="Arial"/>
              </a:rPr>
              <a:t>independent</a:t>
            </a:r>
            <a:r>
              <a:rPr sz="900" spc="10" dirty="0">
                <a:latin typeface="Arial"/>
                <a:cs typeface="Arial"/>
              </a:rPr>
              <a:t> </a:t>
            </a:r>
            <a:r>
              <a:rPr sz="900" spc="-30" dirty="0">
                <a:latin typeface="Arial"/>
                <a:cs typeface="Arial"/>
              </a:rPr>
              <a:t>layers:</a:t>
            </a:r>
            <a:r>
              <a:rPr sz="900" spc="105" dirty="0">
                <a:latin typeface="Arial"/>
                <a:cs typeface="Arial"/>
              </a:rPr>
              <a:t> </a:t>
            </a:r>
            <a:r>
              <a:rPr sz="900" spc="-35" dirty="0">
                <a:latin typeface="Arial"/>
                <a:cs typeface="Arial"/>
              </a:rPr>
              <a:t>database</a:t>
            </a:r>
            <a:r>
              <a:rPr sz="900" spc="15" dirty="0">
                <a:latin typeface="Arial"/>
                <a:cs typeface="Arial"/>
              </a:rPr>
              <a:t> </a:t>
            </a:r>
            <a:r>
              <a:rPr sz="900" spc="-55" dirty="0">
                <a:latin typeface="Arial"/>
                <a:cs typeface="Arial"/>
              </a:rPr>
              <a:t>access,</a:t>
            </a:r>
            <a:r>
              <a:rPr sz="900" spc="15" dirty="0">
                <a:latin typeface="Arial"/>
                <a:cs typeface="Arial"/>
              </a:rPr>
              <a:t> </a:t>
            </a:r>
            <a:r>
              <a:rPr sz="900" dirty="0">
                <a:latin typeface="Arial"/>
                <a:cs typeface="Arial"/>
              </a:rPr>
              <a:t>data</a:t>
            </a:r>
            <a:r>
              <a:rPr sz="900" spc="10" dirty="0">
                <a:latin typeface="Arial"/>
                <a:cs typeface="Arial"/>
              </a:rPr>
              <a:t> </a:t>
            </a:r>
            <a:r>
              <a:rPr sz="900" spc="-10" dirty="0">
                <a:latin typeface="Arial"/>
                <a:cs typeface="Arial"/>
              </a:rPr>
              <a:t>wrangling,</a:t>
            </a:r>
            <a:r>
              <a:rPr sz="900" spc="15" dirty="0">
                <a:latin typeface="Arial"/>
                <a:cs typeface="Arial"/>
              </a:rPr>
              <a:t> </a:t>
            </a:r>
            <a:r>
              <a:rPr sz="900" spc="-20" dirty="0">
                <a:latin typeface="Arial"/>
                <a:cs typeface="Arial"/>
              </a:rPr>
              <a:t>visualization,</a:t>
            </a:r>
            <a:r>
              <a:rPr sz="900" spc="15" dirty="0">
                <a:latin typeface="Arial"/>
                <a:cs typeface="Arial"/>
              </a:rPr>
              <a:t> </a:t>
            </a:r>
            <a:r>
              <a:rPr sz="900" spc="-10" dirty="0">
                <a:latin typeface="Arial"/>
                <a:cs typeface="Arial"/>
              </a:rPr>
              <a:t>and</a:t>
            </a:r>
            <a:r>
              <a:rPr sz="900" spc="15" dirty="0">
                <a:latin typeface="Arial"/>
                <a:cs typeface="Arial"/>
              </a:rPr>
              <a:t> </a:t>
            </a:r>
            <a:r>
              <a:rPr sz="900" spc="-10" dirty="0">
                <a:latin typeface="Arial"/>
                <a:cs typeface="Arial"/>
              </a:rPr>
              <a:t>configuration persistence.</a:t>
            </a:r>
            <a:endParaRPr sz="900">
              <a:latin typeface="Arial"/>
              <a:cs typeface="Arial"/>
            </a:endParaRPr>
          </a:p>
        </p:txBody>
      </p:sp>
      <p:grpSp>
        <p:nvGrpSpPr>
          <p:cNvPr id="50" name="object 50"/>
          <p:cNvGrpSpPr/>
          <p:nvPr/>
        </p:nvGrpSpPr>
        <p:grpSpPr>
          <a:xfrm>
            <a:off x="0" y="3130346"/>
            <a:ext cx="5760085" cy="109855"/>
            <a:chOff x="0" y="3130346"/>
            <a:chExt cx="5760085" cy="109855"/>
          </a:xfrm>
        </p:grpSpPr>
        <p:sp>
          <p:nvSpPr>
            <p:cNvPr id="51" name="object 51"/>
            <p:cNvSpPr/>
            <p:nvPr/>
          </p:nvSpPr>
          <p:spPr>
            <a:xfrm>
              <a:off x="0" y="3130346"/>
              <a:ext cx="1920239" cy="109855"/>
            </a:xfrm>
            <a:custGeom>
              <a:avLst/>
              <a:gdLst/>
              <a:ahLst/>
              <a:cxnLst/>
              <a:rect l="l" t="t" r="r" b="b"/>
              <a:pathLst>
                <a:path w="1920239" h="109855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A3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1919973" y="3130346"/>
              <a:ext cx="1920239" cy="109855"/>
            </a:xfrm>
            <a:custGeom>
              <a:avLst/>
              <a:gdLst/>
              <a:ahLst/>
              <a:cxnLst/>
              <a:rect l="l" t="t" r="r" b="b"/>
              <a:pathLst>
                <a:path w="1920239" h="109855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3" name="object 53"/>
            <p:cNvSpPr/>
            <p:nvPr/>
          </p:nvSpPr>
          <p:spPr>
            <a:xfrm>
              <a:off x="3839946" y="3130346"/>
              <a:ext cx="1920239" cy="109855"/>
            </a:xfrm>
            <a:custGeom>
              <a:avLst/>
              <a:gdLst/>
              <a:ahLst/>
              <a:cxnLst/>
              <a:rect l="l" t="t" r="r" b="b"/>
              <a:pathLst>
                <a:path w="1920239" h="109855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4" name="object 54"/>
          <p:cNvSpPr txBox="1"/>
          <p:nvPr/>
        </p:nvSpPr>
        <p:spPr>
          <a:xfrm>
            <a:off x="2367343" y="3135783"/>
            <a:ext cx="1025525" cy="1022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r>
              <a:rPr sz="600" dirty="0">
                <a:solidFill>
                  <a:srgbClr val="8E0000"/>
                </a:solidFill>
                <a:latin typeface="Arial"/>
                <a:cs typeface="Arial"/>
                <a:hlinkClick r:id="rId2" action="ppaction://hlinksldjump"/>
              </a:rPr>
              <a:t>Optimization</a:t>
            </a:r>
            <a:r>
              <a:rPr sz="600" spc="100" dirty="0">
                <a:solidFill>
                  <a:srgbClr val="8E0000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sz="600" dirty="0">
                <a:solidFill>
                  <a:srgbClr val="8E0000"/>
                </a:solidFill>
                <a:latin typeface="Arial"/>
                <a:cs typeface="Arial"/>
                <a:hlinkClick r:id="rId2" action="ppaction://hlinksldjump"/>
              </a:rPr>
              <a:t>Action</a:t>
            </a:r>
            <a:r>
              <a:rPr sz="600" spc="105" dirty="0">
                <a:solidFill>
                  <a:srgbClr val="8E0000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sz="600" spc="-10" dirty="0">
                <a:solidFill>
                  <a:srgbClr val="8E0000"/>
                </a:solidFill>
                <a:latin typeface="Arial"/>
                <a:cs typeface="Arial"/>
                <a:hlinkClick r:id="rId2" action="ppaction://hlinksldjump"/>
              </a:rPr>
              <a:t>Analyzer</a:t>
            </a:r>
            <a:endParaRPr sz="600">
              <a:latin typeface="Arial"/>
              <a:cs typeface="Arial"/>
            </a:endParaRPr>
          </a:p>
        </p:txBody>
      </p:sp>
      <p:sp>
        <p:nvSpPr>
          <p:cNvPr id="55" name="object 5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fld id="{81D60167-4931-47E6-BA6A-407CBD079E47}" type="slidenum">
              <a:rPr spc="-30" dirty="0"/>
              <a:t>26</a:t>
            </a:fld>
            <a:r>
              <a:rPr spc="-55" dirty="0"/>
              <a:t> </a:t>
            </a:r>
            <a:r>
              <a:rPr spc="150" dirty="0"/>
              <a:t>/</a:t>
            </a:r>
            <a:r>
              <a:rPr spc="-55" dirty="0"/>
              <a:t> </a:t>
            </a:r>
            <a:r>
              <a:rPr spc="-35" dirty="0"/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055574715"/>
      </p:ext>
    </p:extLst>
  </p:cSld>
  <p:clrMapOvr>
    <a:masterClrMapping/>
  </p:clrMapOvr>
  <p:transition>
    <p:cut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/>
              <a:t>Module</a:t>
            </a:r>
            <a:r>
              <a:rPr spc="-100" dirty="0"/>
              <a:t> </a:t>
            </a:r>
            <a:r>
              <a:rPr spc="-40" dirty="0"/>
              <a:t>Responsibilities</a:t>
            </a:r>
          </a:p>
        </p:txBody>
      </p:sp>
      <p:sp>
        <p:nvSpPr>
          <p:cNvPr id="3" name="object 3"/>
          <p:cNvSpPr/>
          <p:nvPr/>
        </p:nvSpPr>
        <p:spPr>
          <a:xfrm>
            <a:off x="138544" y="926655"/>
            <a:ext cx="4112260" cy="0"/>
          </a:xfrm>
          <a:custGeom>
            <a:avLst/>
            <a:gdLst/>
            <a:ahLst/>
            <a:cxnLst/>
            <a:rect l="l" t="t" r="r" b="b"/>
            <a:pathLst>
              <a:path w="4112260">
                <a:moveTo>
                  <a:pt x="0" y="0"/>
                </a:moveTo>
                <a:lnTo>
                  <a:pt x="4111828" y="0"/>
                </a:lnTo>
              </a:path>
            </a:pathLst>
          </a:custGeom>
          <a:ln w="11087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125844" y="939284"/>
            <a:ext cx="46164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b="1" spc="-10" dirty="0">
                <a:latin typeface="Arial"/>
                <a:cs typeface="Arial"/>
              </a:rPr>
              <a:t>Module</a:t>
            </a:r>
            <a:endParaRPr sz="1000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1069518" y="939284"/>
            <a:ext cx="81216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b="1" spc="-50" dirty="0">
                <a:latin typeface="Arial"/>
                <a:cs typeface="Arial"/>
              </a:rPr>
              <a:t>Responsibility</a:t>
            </a:r>
            <a:endParaRPr sz="1000">
              <a:latin typeface="Arial"/>
              <a:cs typeface="Arial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138544" y="1152156"/>
            <a:ext cx="4112260" cy="0"/>
          </a:xfrm>
          <a:custGeom>
            <a:avLst/>
            <a:gdLst/>
            <a:ahLst/>
            <a:cxnLst/>
            <a:rect l="l" t="t" r="r" b="b"/>
            <a:pathLst>
              <a:path w="4112260">
                <a:moveTo>
                  <a:pt x="0" y="0"/>
                </a:moveTo>
                <a:lnTo>
                  <a:pt x="4111828" y="0"/>
                </a:lnTo>
              </a:path>
            </a:pathLst>
          </a:custGeom>
          <a:ln w="6921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125844" y="1162690"/>
            <a:ext cx="35814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spc="60" dirty="0">
                <a:latin typeface="Times New Roman"/>
                <a:cs typeface="Times New Roman"/>
              </a:rPr>
              <a:t>db.py</a:t>
            </a:r>
            <a:endParaRPr sz="1000">
              <a:latin typeface="Times New Roman"/>
              <a:cs typeface="Times New Roman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125844" y="1466359"/>
            <a:ext cx="49085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spc="90" dirty="0">
                <a:latin typeface="Times New Roman"/>
                <a:cs typeface="Times New Roman"/>
              </a:rPr>
              <a:t>data.py</a:t>
            </a:r>
            <a:endParaRPr sz="1000">
              <a:latin typeface="Times New Roman"/>
              <a:cs typeface="Times New Roman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125844" y="1770016"/>
            <a:ext cx="623570" cy="48133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</a:pPr>
            <a:r>
              <a:rPr sz="1000" spc="95" dirty="0">
                <a:latin typeface="Times New Roman"/>
                <a:cs typeface="Times New Roman"/>
              </a:rPr>
              <a:t>viz.py </a:t>
            </a:r>
            <a:r>
              <a:rPr sz="1000" spc="85" dirty="0">
                <a:latin typeface="Times New Roman"/>
                <a:cs typeface="Times New Roman"/>
              </a:rPr>
              <a:t>config.py </a:t>
            </a:r>
            <a:r>
              <a:rPr sz="1000" spc="60" dirty="0">
                <a:latin typeface="Times New Roman"/>
                <a:cs typeface="Times New Roman"/>
              </a:rPr>
              <a:t>app.py</a:t>
            </a:r>
            <a:endParaRPr sz="1000">
              <a:latin typeface="Times New Roman"/>
              <a:cs typeface="Times New Roman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3260788" y="2058542"/>
            <a:ext cx="40005" cy="0"/>
          </a:xfrm>
          <a:custGeom>
            <a:avLst/>
            <a:gdLst/>
            <a:ahLst/>
            <a:cxnLst/>
            <a:rect l="l" t="t" r="r" b="b"/>
            <a:pathLst>
              <a:path w="40004">
                <a:moveTo>
                  <a:pt x="0" y="0"/>
                </a:moveTo>
                <a:lnTo>
                  <a:pt x="39852" y="0"/>
                </a:lnTo>
              </a:path>
            </a:pathLst>
          </a:custGeom>
          <a:ln w="505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/>
          <p:nvPr/>
        </p:nvSpPr>
        <p:spPr>
          <a:xfrm>
            <a:off x="1069670" y="1162690"/>
            <a:ext cx="3194050" cy="108839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</a:pPr>
            <a:r>
              <a:rPr sz="1000" dirty="0">
                <a:latin typeface="Tahoma"/>
                <a:cs typeface="Tahoma"/>
              </a:rPr>
              <a:t>Dolt</a:t>
            </a:r>
            <a:r>
              <a:rPr sz="1000" spc="50" dirty="0">
                <a:latin typeface="Tahoma"/>
                <a:cs typeface="Tahoma"/>
              </a:rPr>
              <a:t> </a:t>
            </a:r>
            <a:r>
              <a:rPr sz="1000" spc="-25" dirty="0">
                <a:latin typeface="Tahoma"/>
                <a:cs typeface="Tahoma"/>
              </a:rPr>
              <a:t>connection,</a:t>
            </a:r>
            <a:r>
              <a:rPr sz="1000" spc="65" dirty="0">
                <a:latin typeface="Tahoma"/>
                <a:cs typeface="Tahoma"/>
              </a:rPr>
              <a:t> </a:t>
            </a:r>
            <a:r>
              <a:rPr sz="1000" dirty="0">
                <a:latin typeface="Tahoma"/>
                <a:cs typeface="Tahoma"/>
              </a:rPr>
              <a:t>KPI</a:t>
            </a:r>
            <a:r>
              <a:rPr sz="1000" spc="50" dirty="0">
                <a:latin typeface="Tahoma"/>
                <a:cs typeface="Tahoma"/>
              </a:rPr>
              <a:t> </a:t>
            </a:r>
            <a:r>
              <a:rPr sz="1000" spc="-40" dirty="0">
                <a:latin typeface="Tahoma"/>
                <a:cs typeface="Tahoma"/>
              </a:rPr>
              <a:t>schema</a:t>
            </a:r>
            <a:r>
              <a:rPr sz="1000" spc="50" dirty="0">
                <a:latin typeface="Tahoma"/>
                <a:cs typeface="Tahoma"/>
              </a:rPr>
              <a:t> </a:t>
            </a:r>
            <a:r>
              <a:rPr sz="1000" spc="-40" dirty="0">
                <a:latin typeface="Tahoma"/>
                <a:cs typeface="Tahoma"/>
              </a:rPr>
              <a:t>discovery,</a:t>
            </a:r>
            <a:r>
              <a:rPr sz="1000" spc="70" dirty="0">
                <a:latin typeface="Tahoma"/>
                <a:cs typeface="Tahoma"/>
              </a:rPr>
              <a:t> </a:t>
            </a:r>
            <a:r>
              <a:rPr sz="1000" dirty="0">
                <a:latin typeface="Tahoma"/>
                <a:cs typeface="Tahoma"/>
              </a:rPr>
              <a:t>commit</a:t>
            </a:r>
            <a:r>
              <a:rPr sz="1000" spc="50" dirty="0">
                <a:latin typeface="Tahoma"/>
                <a:cs typeface="Tahoma"/>
              </a:rPr>
              <a:t> </a:t>
            </a:r>
            <a:r>
              <a:rPr sz="1000" dirty="0">
                <a:latin typeface="Tahoma"/>
                <a:cs typeface="Tahoma"/>
              </a:rPr>
              <a:t>log</a:t>
            </a:r>
            <a:r>
              <a:rPr sz="1000" spc="50" dirty="0">
                <a:latin typeface="Tahoma"/>
                <a:cs typeface="Tahoma"/>
              </a:rPr>
              <a:t> </a:t>
            </a:r>
            <a:r>
              <a:rPr sz="1000" spc="70" dirty="0">
                <a:latin typeface="Tahoma"/>
                <a:cs typeface="Tahoma"/>
              </a:rPr>
              <a:t>&amp;</a:t>
            </a:r>
            <a:r>
              <a:rPr sz="1000" spc="50" dirty="0">
                <a:latin typeface="Tahoma"/>
                <a:cs typeface="Tahoma"/>
              </a:rPr>
              <a:t> </a:t>
            </a:r>
            <a:r>
              <a:rPr sz="1000" spc="-20" dirty="0">
                <a:latin typeface="Tahoma"/>
                <a:cs typeface="Tahoma"/>
              </a:rPr>
              <a:t>diff </a:t>
            </a:r>
            <a:r>
              <a:rPr sz="1000" spc="-45" dirty="0">
                <a:latin typeface="Tahoma"/>
                <a:cs typeface="Tahoma"/>
              </a:rPr>
              <a:t>queries,</a:t>
            </a:r>
            <a:r>
              <a:rPr sz="1000" spc="35" dirty="0">
                <a:latin typeface="Tahoma"/>
                <a:cs typeface="Tahoma"/>
              </a:rPr>
              <a:t> </a:t>
            </a:r>
            <a:r>
              <a:rPr sz="1000" dirty="0">
                <a:latin typeface="Tahoma"/>
                <a:cs typeface="Tahoma"/>
              </a:rPr>
              <a:t>KPI</a:t>
            </a:r>
            <a:r>
              <a:rPr sz="1000" spc="40" dirty="0">
                <a:latin typeface="Tahoma"/>
                <a:cs typeface="Tahoma"/>
              </a:rPr>
              <a:t> </a:t>
            </a:r>
            <a:r>
              <a:rPr sz="1000" spc="-55" dirty="0">
                <a:latin typeface="Tahoma"/>
                <a:cs typeface="Tahoma"/>
              </a:rPr>
              <a:t>time-</a:t>
            </a:r>
            <a:r>
              <a:rPr sz="1000" spc="-35" dirty="0">
                <a:latin typeface="Tahoma"/>
                <a:cs typeface="Tahoma"/>
              </a:rPr>
              <a:t>series</a:t>
            </a:r>
            <a:r>
              <a:rPr sz="1000" spc="30" dirty="0">
                <a:latin typeface="Tahoma"/>
                <a:cs typeface="Tahoma"/>
              </a:rPr>
              <a:t> </a:t>
            </a:r>
            <a:r>
              <a:rPr sz="1000" spc="-10" dirty="0">
                <a:latin typeface="Tahoma"/>
                <a:cs typeface="Tahoma"/>
              </a:rPr>
              <a:t>fetch</a:t>
            </a:r>
            <a:endParaRPr sz="1000">
              <a:latin typeface="Tahoma"/>
              <a:cs typeface="Tahoma"/>
            </a:endParaRPr>
          </a:p>
          <a:p>
            <a:pPr marL="12700" marR="5080">
              <a:lnSpc>
                <a:spcPts val="1200"/>
              </a:lnSpc>
              <a:spcBef>
                <a:spcPts val="30"/>
              </a:spcBef>
            </a:pPr>
            <a:r>
              <a:rPr sz="1000" dirty="0">
                <a:latin typeface="Tahoma"/>
                <a:cs typeface="Tahoma"/>
              </a:rPr>
              <a:t>Action</a:t>
            </a:r>
            <a:r>
              <a:rPr sz="1000" spc="-40" dirty="0">
                <a:latin typeface="Tahoma"/>
                <a:cs typeface="Tahoma"/>
              </a:rPr>
              <a:t> </a:t>
            </a:r>
            <a:r>
              <a:rPr sz="1000" dirty="0">
                <a:latin typeface="Tahoma"/>
                <a:cs typeface="Tahoma"/>
              </a:rPr>
              <a:t>Hunk</a:t>
            </a:r>
            <a:r>
              <a:rPr sz="1000" spc="-40" dirty="0">
                <a:latin typeface="Tahoma"/>
                <a:cs typeface="Tahoma"/>
              </a:rPr>
              <a:t> </a:t>
            </a:r>
            <a:r>
              <a:rPr sz="1000" spc="-30" dirty="0">
                <a:latin typeface="Tahoma"/>
                <a:cs typeface="Tahoma"/>
              </a:rPr>
              <a:t>grouping,</a:t>
            </a:r>
            <a:r>
              <a:rPr sz="1000" spc="-40" dirty="0">
                <a:latin typeface="Tahoma"/>
                <a:cs typeface="Tahoma"/>
              </a:rPr>
              <a:t> </a:t>
            </a:r>
            <a:r>
              <a:rPr sz="1000" spc="-10" dirty="0">
                <a:latin typeface="Tahoma"/>
                <a:cs typeface="Tahoma"/>
              </a:rPr>
              <a:t>rolling</a:t>
            </a:r>
            <a:r>
              <a:rPr sz="1000" spc="-40" dirty="0">
                <a:latin typeface="Tahoma"/>
                <a:cs typeface="Tahoma"/>
              </a:rPr>
              <a:t> </a:t>
            </a:r>
            <a:r>
              <a:rPr sz="1000" spc="-25" dirty="0">
                <a:latin typeface="Tahoma"/>
                <a:cs typeface="Tahoma"/>
              </a:rPr>
              <a:t>evaluation</a:t>
            </a:r>
            <a:r>
              <a:rPr sz="1000" spc="-40" dirty="0">
                <a:latin typeface="Tahoma"/>
                <a:cs typeface="Tahoma"/>
              </a:rPr>
              <a:t> </a:t>
            </a:r>
            <a:r>
              <a:rPr sz="1000" spc="-30" dirty="0">
                <a:latin typeface="Tahoma"/>
                <a:cs typeface="Tahoma"/>
              </a:rPr>
              <a:t>window,</a:t>
            </a:r>
            <a:r>
              <a:rPr sz="1000" spc="-40" dirty="0">
                <a:latin typeface="Tahoma"/>
                <a:cs typeface="Tahoma"/>
              </a:rPr>
              <a:t> </a:t>
            </a:r>
            <a:r>
              <a:rPr sz="1000" spc="-50" dirty="0">
                <a:latin typeface="Tahoma"/>
                <a:cs typeface="Tahoma"/>
              </a:rPr>
              <a:t>weekday-</a:t>
            </a:r>
            <a:r>
              <a:rPr sz="1000" spc="-30" dirty="0">
                <a:latin typeface="Tahoma"/>
                <a:cs typeface="Tahoma"/>
              </a:rPr>
              <a:t>matched</a:t>
            </a:r>
            <a:r>
              <a:rPr sz="1000" spc="-10" dirty="0">
                <a:latin typeface="Tahoma"/>
                <a:cs typeface="Tahoma"/>
              </a:rPr>
              <a:t> Before/After profiles</a:t>
            </a:r>
            <a:endParaRPr sz="1000">
              <a:latin typeface="Tahoma"/>
              <a:cs typeface="Tahoma"/>
            </a:endParaRPr>
          </a:p>
          <a:p>
            <a:pPr marL="12700">
              <a:lnSpc>
                <a:spcPts val="1150"/>
              </a:lnSpc>
            </a:pPr>
            <a:r>
              <a:rPr sz="1000" dirty="0">
                <a:latin typeface="Tahoma"/>
                <a:cs typeface="Tahoma"/>
              </a:rPr>
              <a:t>Plotly</a:t>
            </a:r>
            <a:r>
              <a:rPr sz="1000" spc="-20" dirty="0">
                <a:latin typeface="Tahoma"/>
                <a:cs typeface="Tahoma"/>
              </a:rPr>
              <a:t> </a:t>
            </a:r>
            <a:r>
              <a:rPr sz="1000" spc="-35" dirty="0">
                <a:latin typeface="Tahoma"/>
                <a:cs typeface="Tahoma"/>
              </a:rPr>
              <a:t>figures:</a:t>
            </a:r>
            <a:r>
              <a:rPr sz="1000" spc="90" dirty="0">
                <a:latin typeface="Tahoma"/>
                <a:cs typeface="Tahoma"/>
              </a:rPr>
              <a:t> </a:t>
            </a:r>
            <a:r>
              <a:rPr sz="1000" spc="-25" dirty="0">
                <a:latin typeface="Tahoma"/>
                <a:cs typeface="Tahoma"/>
              </a:rPr>
              <a:t>timeline,</a:t>
            </a:r>
            <a:r>
              <a:rPr sz="1000" spc="-10" dirty="0">
                <a:latin typeface="Tahoma"/>
                <a:cs typeface="Tahoma"/>
              </a:rPr>
              <a:t> </a:t>
            </a:r>
            <a:r>
              <a:rPr sz="1000" spc="-25" dirty="0">
                <a:latin typeface="Tahoma"/>
                <a:cs typeface="Tahoma"/>
              </a:rPr>
              <a:t>trend,</a:t>
            </a:r>
            <a:r>
              <a:rPr sz="1000" spc="-10" dirty="0">
                <a:latin typeface="Tahoma"/>
                <a:cs typeface="Tahoma"/>
              </a:rPr>
              <a:t> </a:t>
            </a:r>
            <a:r>
              <a:rPr sz="1000" spc="-20" dirty="0">
                <a:latin typeface="Tahoma"/>
                <a:cs typeface="Tahoma"/>
              </a:rPr>
              <a:t>delta</a:t>
            </a:r>
            <a:r>
              <a:rPr sz="1000" spc="-15" dirty="0">
                <a:latin typeface="Tahoma"/>
                <a:cs typeface="Tahoma"/>
              </a:rPr>
              <a:t> </a:t>
            </a:r>
            <a:r>
              <a:rPr sz="1000" spc="-45" dirty="0">
                <a:latin typeface="Tahoma"/>
                <a:cs typeface="Tahoma"/>
              </a:rPr>
              <a:t>bars,</a:t>
            </a:r>
            <a:r>
              <a:rPr sz="1000" spc="-10" dirty="0">
                <a:latin typeface="Tahoma"/>
                <a:cs typeface="Tahoma"/>
              </a:rPr>
              <a:t> </a:t>
            </a:r>
            <a:r>
              <a:rPr sz="1000" spc="-45" dirty="0">
                <a:latin typeface="Tahoma"/>
                <a:cs typeface="Tahoma"/>
              </a:rPr>
              <a:t>summary</a:t>
            </a:r>
            <a:r>
              <a:rPr sz="1000" spc="-15" dirty="0">
                <a:latin typeface="Tahoma"/>
                <a:cs typeface="Tahoma"/>
              </a:rPr>
              <a:t> </a:t>
            </a:r>
            <a:r>
              <a:rPr sz="1000" spc="-10" dirty="0">
                <a:latin typeface="Tahoma"/>
                <a:cs typeface="Tahoma"/>
              </a:rPr>
              <a:t>table</a:t>
            </a:r>
            <a:endParaRPr sz="1000">
              <a:latin typeface="Tahoma"/>
              <a:cs typeface="Tahoma"/>
            </a:endParaRPr>
          </a:p>
          <a:p>
            <a:pPr marL="12700">
              <a:lnSpc>
                <a:spcPts val="1195"/>
              </a:lnSpc>
            </a:pPr>
            <a:r>
              <a:rPr sz="1000" spc="-25" dirty="0">
                <a:latin typeface="Tahoma"/>
                <a:cs typeface="Tahoma"/>
              </a:rPr>
              <a:t>Persists</a:t>
            </a:r>
            <a:r>
              <a:rPr sz="1000" spc="20" dirty="0">
                <a:latin typeface="Tahoma"/>
                <a:cs typeface="Tahoma"/>
              </a:rPr>
              <a:t> </a:t>
            </a:r>
            <a:r>
              <a:rPr sz="1000" dirty="0">
                <a:latin typeface="Tahoma"/>
                <a:cs typeface="Tahoma"/>
              </a:rPr>
              <a:t>KPI</a:t>
            </a:r>
            <a:r>
              <a:rPr sz="1000" spc="25" dirty="0">
                <a:latin typeface="Tahoma"/>
                <a:cs typeface="Tahoma"/>
              </a:rPr>
              <a:t> </a:t>
            </a:r>
            <a:r>
              <a:rPr sz="1000" spc="-20" dirty="0">
                <a:latin typeface="Tahoma"/>
                <a:cs typeface="Tahoma"/>
              </a:rPr>
              <a:t>optimization</a:t>
            </a:r>
            <a:r>
              <a:rPr sz="1000" spc="25" dirty="0">
                <a:latin typeface="Tahoma"/>
                <a:cs typeface="Tahoma"/>
              </a:rPr>
              <a:t> </a:t>
            </a:r>
            <a:r>
              <a:rPr sz="1000" spc="-20" dirty="0">
                <a:latin typeface="Tahoma"/>
                <a:cs typeface="Tahoma"/>
              </a:rPr>
              <a:t>polarity</a:t>
            </a:r>
            <a:r>
              <a:rPr sz="1000" spc="25" dirty="0">
                <a:latin typeface="Tahoma"/>
                <a:cs typeface="Tahoma"/>
              </a:rPr>
              <a:t> </a:t>
            </a:r>
            <a:r>
              <a:rPr sz="1000" dirty="0">
                <a:latin typeface="Tahoma"/>
                <a:cs typeface="Tahoma"/>
              </a:rPr>
              <a:t>to</a:t>
            </a:r>
            <a:r>
              <a:rPr sz="1000" spc="25" dirty="0">
                <a:latin typeface="Tahoma"/>
                <a:cs typeface="Tahoma"/>
              </a:rPr>
              <a:t> </a:t>
            </a:r>
            <a:r>
              <a:rPr sz="1000" spc="95" dirty="0">
                <a:latin typeface="Times New Roman"/>
                <a:cs typeface="Times New Roman"/>
              </a:rPr>
              <a:t>kpi</a:t>
            </a:r>
            <a:r>
              <a:rPr sz="1000" spc="130" dirty="0">
                <a:latin typeface="Times New Roman"/>
                <a:cs typeface="Times New Roman"/>
              </a:rPr>
              <a:t> </a:t>
            </a:r>
            <a:r>
              <a:rPr sz="1000" spc="100" dirty="0">
                <a:latin typeface="Times New Roman"/>
                <a:cs typeface="Times New Roman"/>
              </a:rPr>
              <a:t>config.json</a:t>
            </a:r>
            <a:endParaRPr sz="1000">
              <a:latin typeface="Times New Roman"/>
              <a:cs typeface="Times New Roman"/>
            </a:endParaRPr>
          </a:p>
          <a:p>
            <a:pPr marL="12700">
              <a:lnSpc>
                <a:spcPts val="1200"/>
              </a:lnSpc>
            </a:pPr>
            <a:r>
              <a:rPr sz="1000" spc="-10" dirty="0">
                <a:latin typeface="Tahoma"/>
                <a:cs typeface="Tahoma"/>
              </a:rPr>
              <a:t>Streamlit</a:t>
            </a:r>
            <a:r>
              <a:rPr sz="1000" spc="-25" dirty="0">
                <a:latin typeface="Tahoma"/>
                <a:cs typeface="Tahoma"/>
              </a:rPr>
              <a:t> </a:t>
            </a:r>
            <a:r>
              <a:rPr sz="1000" spc="-40" dirty="0">
                <a:latin typeface="Tahoma"/>
                <a:cs typeface="Tahoma"/>
              </a:rPr>
              <a:t>front-</a:t>
            </a:r>
            <a:r>
              <a:rPr sz="1000" spc="-20" dirty="0">
                <a:latin typeface="Tahoma"/>
                <a:cs typeface="Tahoma"/>
              </a:rPr>
              <a:t>end wiring </a:t>
            </a:r>
            <a:r>
              <a:rPr sz="1000" spc="-40" dirty="0">
                <a:latin typeface="Tahoma"/>
                <a:cs typeface="Tahoma"/>
              </a:rPr>
              <a:t>everything</a:t>
            </a:r>
            <a:r>
              <a:rPr sz="1000" spc="-20" dirty="0">
                <a:latin typeface="Tahoma"/>
                <a:cs typeface="Tahoma"/>
              </a:rPr>
              <a:t> </a:t>
            </a:r>
            <a:r>
              <a:rPr sz="1000" spc="-10" dirty="0">
                <a:latin typeface="Tahoma"/>
                <a:cs typeface="Tahoma"/>
              </a:rPr>
              <a:t>together</a:t>
            </a:r>
            <a:endParaRPr sz="1000">
              <a:latin typeface="Tahoma"/>
              <a:cs typeface="Tahoma"/>
            </a:endParaRPr>
          </a:p>
        </p:txBody>
      </p:sp>
      <p:sp>
        <p:nvSpPr>
          <p:cNvPr id="12" name="object 12"/>
          <p:cNvSpPr/>
          <p:nvPr/>
        </p:nvSpPr>
        <p:spPr>
          <a:xfrm>
            <a:off x="138544" y="2288628"/>
            <a:ext cx="4112260" cy="0"/>
          </a:xfrm>
          <a:custGeom>
            <a:avLst/>
            <a:gdLst/>
            <a:ahLst/>
            <a:cxnLst/>
            <a:rect l="l" t="t" r="r" b="b"/>
            <a:pathLst>
              <a:path w="4112260">
                <a:moveTo>
                  <a:pt x="0" y="0"/>
                </a:moveTo>
                <a:lnTo>
                  <a:pt x="4111828" y="0"/>
                </a:lnTo>
              </a:path>
            </a:pathLst>
          </a:custGeom>
          <a:ln w="11087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13" name="object 13"/>
          <p:cNvGrpSpPr/>
          <p:nvPr/>
        </p:nvGrpSpPr>
        <p:grpSpPr>
          <a:xfrm>
            <a:off x="0" y="3130346"/>
            <a:ext cx="5760085" cy="109855"/>
            <a:chOff x="0" y="3130346"/>
            <a:chExt cx="5760085" cy="109855"/>
          </a:xfrm>
        </p:grpSpPr>
        <p:sp>
          <p:nvSpPr>
            <p:cNvPr id="14" name="object 14"/>
            <p:cNvSpPr/>
            <p:nvPr/>
          </p:nvSpPr>
          <p:spPr>
            <a:xfrm>
              <a:off x="0" y="3130346"/>
              <a:ext cx="1920239" cy="109855"/>
            </a:xfrm>
            <a:custGeom>
              <a:avLst/>
              <a:gdLst/>
              <a:ahLst/>
              <a:cxnLst/>
              <a:rect l="l" t="t" r="r" b="b"/>
              <a:pathLst>
                <a:path w="1920239" h="109855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A3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1919973" y="3130346"/>
              <a:ext cx="1920239" cy="109855"/>
            </a:xfrm>
            <a:custGeom>
              <a:avLst/>
              <a:gdLst/>
              <a:ahLst/>
              <a:cxnLst/>
              <a:rect l="l" t="t" r="r" b="b"/>
              <a:pathLst>
                <a:path w="1920239" h="109855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3839946" y="3130346"/>
              <a:ext cx="1920239" cy="109855"/>
            </a:xfrm>
            <a:custGeom>
              <a:avLst/>
              <a:gdLst/>
              <a:ahLst/>
              <a:cxnLst/>
              <a:rect l="l" t="t" r="r" b="b"/>
              <a:pathLst>
                <a:path w="1920239" h="109855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7" name="object 17"/>
          <p:cNvSpPr txBox="1"/>
          <p:nvPr/>
        </p:nvSpPr>
        <p:spPr>
          <a:xfrm>
            <a:off x="2367343" y="3135783"/>
            <a:ext cx="1025525" cy="1022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r>
              <a:rPr sz="600" dirty="0">
                <a:solidFill>
                  <a:srgbClr val="8E0000"/>
                </a:solidFill>
                <a:latin typeface="Arial"/>
                <a:cs typeface="Arial"/>
                <a:hlinkClick r:id="rId2" action="ppaction://hlinksldjump"/>
              </a:rPr>
              <a:t>Optimization</a:t>
            </a:r>
            <a:r>
              <a:rPr sz="600" spc="100" dirty="0">
                <a:solidFill>
                  <a:srgbClr val="8E0000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sz="600" dirty="0">
                <a:solidFill>
                  <a:srgbClr val="8E0000"/>
                </a:solidFill>
                <a:latin typeface="Arial"/>
                <a:cs typeface="Arial"/>
                <a:hlinkClick r:id="rId2" action="ppaction://hlinksldjump"/>
              </a:rPr>
              <a:t>Action</a:t>
            </a:r>
            <a:r>
              <a:rPr sz="600" spc="105" dirty="0">
                <a:solidFill>
                  <a:srgbClr val="8E0000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sz="600" spc="-10" dirty="0">
                <a:solidFill>
                  <a:srgbClr val="8E0000"/>
                </a:solidFill>
                <a:latin typeface="Arial"/>
                <a:cs typeface="Arial"/>
                <a:hlinkClick r:id="rId2" action="ppaction://hlinksldjump"/>
              </a:rPr>
              <a:t>Analyzer</a:t>
            </a:r>
            <a:endParaRPr sz="600">
              <a:latin typeface="Arial"/>
              <a:cs typeface="Arial"/>
            </a:endParaRPr>
          </a:p>
        </p:txBody>
      </p:sp>
      <p:sp>
        <p:nvSpPr>
          <p:cNvPr id="18" name="object 18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fld id="{81D60167-4931-47E6-BA6A-407CBD079E47}" type="slidenum">
              <a:rPr spc="-30" dirty="0"/>
              <a:t>27</a:t>
            </a:fld>
            <a:r>
              <a:rPr spc="-55" dirty="0"/>
              <a:t> </a:t>
            </a:r>
            <a:r>
              <a:rPr spc="150" dirty="0"/>
              <a:t>/</a:t>
            </a:r>
            <a:r>
              <a:rPr spc="-55" dirty="0"/>
              <a:t> </a:t>
            </a:r>
            <a:r>
              <a:rPr spc="-35" dirty="0"/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702150721"/>
      </p:ext>
    </p:extLst>
  </p:cSld>
  <p:clrMapOvr>
    <a:masterClrMapping/>
  </p:clrMapOvr>
  <p:transition>
    <p:cut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object 13"/>
          <p:cNvGrpSpPr/>
          <p:nvPr/>
        </p:nvGrpSpPr>
        <p:grpSpPr>
          <a:xfrm>
            <a:off x="87743" y="2067711"/>
            <a:ext cx="5635625" cy="589280"/>
            <a:chOff x="87743" y="2067711"/>
            <a:chExt cx="5635625" cy="589280"/>
          </a:xfrm>
        </p:grpSpPr>
        <p:pic>
          <p:nvPicPr>
            <p:cNvPr id="14" name="object 1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87743" y="2196490"/>
              <a:ext cx="5584580" cy="50609"/>
            </a:xfrm>
            <a:prstGeom prst="rect">
              <a:avLst/>
            </a:prstGeom>
          </p:spPr>
        </p:pic>
        <p:sp>
          <p:nvSpPr>
            <p:cNvPr id="15" name="object 15"/>
            <p:cNvSpPr/>
            <p:nvPr/>
          </p:nvSpPr>
          <p:spPr>
            <a:xfrm>
              <a:off x="138544" y="2067711"/>
              <a:ext cx="5584825" cy="589280"/>
            </a:xfrm>
            <a:custGeom>
              <a:avLst/>
              <a:gdLst/>
              <a:ahLst/>
              <a:cxnLst/>
              <a:rect l="l" t="t" r="r" b="b"/>
              <a:pathLst>
                <a:path w="5584825" h="589280">
                  <a:moveTo>
                    <a:pt x="5584580" y="0"/>
                  </a:moveTo>
                  <a:lnTo>
                    <a:pt x="0" y="0"/>
                  </a:lnTo>
                  <a:lnTo>
                    <a:pt x="0" y="588824"/>
                  </a:lnTo>
                  <a:lnTo>
                    <a:pt x="5584580" y="588824"/>
                  </a:lnTo>
                  <a:lnTo>
                    <a:pt x="558458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87743" y="2240773"/>
              <a:ext cx="5584825" cy="365125"/>
            </a:xfrm>
            <a:custGeom>
              <a:avLst/>
              <a:gdLst/>
              <a:ahLst/>
              <a:cxnLst/>
              <a:rect l="l" t="t" r="r" b="b"/>
              <a:pathLst>
                <a:path w="5584825" h="365125">
                  <a:moveTo>
                    <a:pt x="5584580" y="0"/>
                  </a:moveTo>
                  <a:lnTo>
                    <a:pt x="0" y="0"/>
                  </a:lnTo>
                  <a:lnTo>
                    <a:pt x="0" y="314161"/>
                  </a:lnTo>
                  <a:lnTo>
                    <a:pt x="4008" y="333886"/>
                  </a:lnTo>
                  <a:lnTo>
                    <a:pt x="14922" y="350039"/>
                  </a:lnTo>
                  <a:lnTo>
                    <a:pt x="31075" y="360953"/>
                  </a:lnTo>
                  <a:lnTo>
                    <a:pt x="50800" y="364962"/>
                  </a:lnTo>
                  <a:lnTo>
                    <a:pt x="5533779" y="364962"/>
                  </a:lnTo>
                  <a:lnTo>
                    <a:pt x="5553504" y="360953"/>
                  </a:lnTo>
                  <a:lnTo>
                    <a:pt x="5569657" y="350039"/>
                  </a:lnTo>
                  <a:lnTo>
                    <a:pt x="5580571" y="333886"/>
                  </a:lnTo>
                  <a:lnTo>
                    <a:pt x="5584580" y="314161"/>
                  </a:lnTo>
                  <a:lnTo>
                    <a:pt x="5584580" y="0"/>
                  </a:lnTo>
                  <a:close/>
                </a:path>
              </a:pathLst>
            </a:custGeom>
            <a:solidFill>
              <a:srgbClr val="F3E7E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/>
              <a:t>Data </a:t>
            </a:r>
            <a:r>
              <a:rPr spc="-50" dirty="0"/>
              <a:t>Sources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25844" y="687805"/>
            <a:ext cx="5034280" cy="363855"/>
          </a:xfrm>
          <a:prstGeom prst="rect">
            <a:avLst/>
          </a:prstGeom>
        </p:spPr>
        <p:txBody>
          <a:bodyPr vert="horz" wrap="square" lIns="0" tIns="6985" rIns="0" bIns="0" rtlCol="0">
            <a:spAutoFit/>
          </a:bodyPr>
          <a:lstStyle/>
          <a:p>
            <a:pPr marL="12700" marR="5080">
              <a:lnSpc>
                <a:spcPct val="102699"/>
              </a:lnSpc>
              <a:spcBef>
                <a:spcPts val="55"/>
              </a:spcBef>
            </a:pPr>
            <a:r>
              <a:rPr sz="1100" spc="-45" dirty="0">
                <a:latin typeface="Tahoma"/>
                <a:cs typeface="Tahoma"/>
              </a:rPr>
              <a:t>Served</a:t>
            </a:r>
            <a:r>
              <a:rPr sz="1100" dirty="0">
                <a:latin typeface="Tahoma"/>
                <a:cs typeface="Tahoma"/>
              </a:rPr>
              <a:t> </a:t>
            </a:r>
            <a:r>
              <a:rPr sz="1100" spc="-35" dirty="0">
                <a:latin typeface="Tahoma"/>
                <a:cs typeface="Tahoma"/>
              </a:rPr>
              <a:t>through</a:t>
            </a:r>
            <a:r>
              <a:rPr sz="1100" spc="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a</a:t>
            </a:r>
            <a:r>
              <a:rPr sz="1100" spc="5" dirty="0">
                <a:latin typeface="Tahoma"/>
                <a:cs typeface="Tahoma"/>
              </a:rPr>
              <a:t> </a:t>
            </a:r>
            <a:r>
              <a:rPr sz="1100" b="1" dirty="0">
                <a:latin typeface="Arial"/>
                <a:cs typeface="Arial"/>
              </a:rPr>
              <a:t>Dolt</a:t>
            </a:r>
            <a:r>
              <a:rPr sz="1100" b="1" spc="40" dirty="0">
                <a:latin typeface="Arial"/>
                <a:cs typeface="Arial"/>
              </a:rPr>
              <a:t> </a:t>
            </a:r>
            <a:r>
              <a:rPr sz="1100" dirty="0">
                <a:latin typeface="Tahoma"/>
                <a:cs typeface="Tahoma"/>
              </a:rPr>
              <a:t>SQL</a:t>
            </a:r>
            <a:r>
              <a:rPr sz="1100" spc="5" dirty="0">
                <a:latin typeface="Tahoma"/>
                <a:cs typeface="Tahoma"/>
              </a:rPr>
              <a:t> </a:t>
            </a:r>
            <a:r>
              <a:rPr sz="1100" spc="-60" dirty="0">
                <a:latin typeface="Tahoma"/>
                <a:cs typeface="Tahoma"/>
              </a:rPr>
              <a:t>server</a:t>
            </a:r>
            <a:r>
              <a:rPr sz="1100" spc="5" dirty="0">
                <a:latin typeface="Tahoma"/>
                <a:cs typeface="Tahoma"/>
              </a:rPr>
              <a:t> </a:t>
            </a:r>
            <a:r>
              <a:rPr sz="1100" spc="-45" dirty="0">
                <a:latin typeface="Tahoma"/>
                <a:cs typeface="Tahoma"/>
              </a:rPr>
              <a:t>(version-</a:t>
            </a:r>
            <a:r>
              <a:rPr sz="1100" spc="-35" dirty="0">
                <a:latin typeface="Tahoma"/>
                <a:cs typeface="Tahoma"/>
              </a:rPr>
              <a:t>controlled,</a:t>
            </a:r>
            <a:r>
              <a:rPr sz="1100" spc="5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Git-like</a:t>
            </a:r>
            <a:r>
              <a:rPr sz="1100" spc="5" dirty="0"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relational</a:t>
            </a:r>
            <a:r>
              <a:rPr sz="1100" spc="5" dirty="0">
                <a:latin typeface="Tahoma"/>
                <a:cs typeface="Tahoma"/>
              </a:rPr>
              <a:t> </a:t>
            </a:r>
            <a:r>
              <a:rPr sz="1100" spc="-40" dirty="0">
                <a:latin typeface="Tahoma"/>
                <a:cs typeface="Tahoma"/>
              </a:rPr>
              <a:t>database)</a:t>
            </a:r>
            <a:r>
              <a:rPr sz="1100" spc="5" dirty="0"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via </a:t>
            </a:r>
            <a:r>
              <a:rPr sz="1100" spc="-10" dirty="0">
                <a:latin typeface="Tahoma"/>
                <a:cs typeface="Tahoma"/>
              </a:rPr>
              <a:t>PyMySQL:</a:t>
            </a:r>
            <a:endParaRPr sz="1100">
              <a:latin typeface="Tahoma"/>
              <a:cs typeface="Tahoma"/>
            </a:endParaRP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27672" y="1124035"/>
            <a:ext cx="114214" cy="114214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251917" y="1111102"/>
            <a:ext cx="66040" cy="11683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600" spc="-50" dirty="0">
                <a:solidFill>
                  <a:srgbClr val="FFFFFF"/>
                </a:solidFill>
                <a:latin typeface="Arial"/>
                <a:cs typeface="Arial"/>
              </a:rPr>
              <a:t>1</a:t>
            </a:r>
            <a:endParaRPr sz="600">
              <a:latin typeface="Arial"/>
              <a:cs typeface="Arial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933513" y="1218628"/>
            <a:ext cx="43815" cy="0"/>
          </a:xfrm>
          <a:custGeom>
            <a:avLst/>
            <a:gdLst/>
            <a:ahLst/>
            <a:cxnLst/>
            <a:rect l="l" t="t" r="r" b="b"/>
            <a:pathLst>
              <a:path w="43815">
                <a:moveTo>
                  <a:pt x="0" y="0"/>
                </a:moveTo>
                <a:lnTo>
                  <a:pt x="43637" y="0"/>
                </a:lnTo>
              </a:path>
            </a:pathLst>
          </a:custGeom>
          <a:ln w="505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7" name="object 7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227672" y="1506140"/>
            <a:ext cx="114214" cy="114214"/>
          </a:xfrm>
          <a:prstGeom prst="rect">
            <a:avLst/>
          </a:prstGeom>
        </p:spPr>
      </p:pic>
      <p:sp>
        <p:nvSpPr>
          <p:cNvPr id="8" name="object 8"/>
          <p:cNvSpPr txBox="1"/>
          <p:nvPr/>
        </p:nvSpPr>
        <p:spPr>
          <a:xfrm>
            <a:off x="251917" y="1493220"/>
            <a:ext cx="66040" cy="11683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600" spc="-50" dirty="0">
                <a:solidFill>
                  <a:srgbClr val="FFFFFF"/>
                </a:solidFill>
                <a:latin typeface="Arial"/>
                <a:cs typeface="Arial"/>
              </a:rPr>
              <a:t>2</a:t>
            </a:r>
            <a:endParaRPr sz="600">
              <a:latin typeface="Arial"/>
              <a:cs typeface="Arial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715302" y="1600733"/>
            <a:ext cx="43815" cy="0"/>
          </a:xfrm>
          <a:custGeom>
            <a:avLst/>
            <a:gdLst/>
            <a:ahLst/>
            <a:cxnLst/>
            <a:rect l="l" t="t" r="r" b="b"/>
            <a:pathLst>
              <a:path w="43815">
                <a:moveTo>
                  <a:pt x="0" y="0"/>
                </a:moveTo>
                <a:lnTo>
                  <a:pt x="43637" y="0"/>
                </a:lnTo>
              </a:path>
            </a:pathLst>
          </a:custGeom>
          <a:ln w="505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 txBox="1"/>
          <p:nvPr/>
        </p:nvSpPr>
        <p:spPr>
          <a:xfrm>
            <a:off x="402932" y="1069922"/>
            <a:ext cx="5215890" cy="746125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100" spc="55" dirty="0">
                <a:latin typeface="Times New Roman"/>
                <a:cs typeface="Times New Roman"/>
              </a:rPr>
              <a:t>network</a:t>
            </a:r>
            <a:r>
              <a:rPr sz="1100" spc="110" dirty="0">
                <a:latin typeface="Times New Roman"/>
                <a:cs typeface="Times New Roman"/>
              </a:rPr>
              <a:t> kpis</a:t>
            </a:r>
            <a:r>
              <a:rPr sz="1100" spc="70" dirty="0">
                <a:latin typeface="Times New Roman"/>
                <a:cs typeface="Times New Roman"/>
              </a:rPr>
              <a:t> </a:t>
            </a:r>
            <a:r>
              <a:rPr sz="1100" spc="80" dirty="0">
                <a:latin typeface="Tahoma"/>
                <a:cs typeface="Tahoma"/>
              </a:rPr>
              <a:t>—</a:t>
            </a:r>
            <a:r>
              <a:rPr sz="1100" dirty="0">
                <a:latin typeface="Tahoma"/>
                <a:cs typeface="Tahoma"/>
              </a:rPr>
              <a:t> </a:t>
            </a:r>
            <a:r>
              <a:rPr sz="1100" spc="-60" dirty="0">
                <a:latin typeface="Tahoma"/>
                <a:cs typeface="Tahoma"/>
              </a:rPr>
              <a:t>time-</a:t>
            </a:r>
            <a:r>
              <a:rPr sz="1100" spc="-35" dirty="0">
                <a:latin typeface="Tahoma"/>
                <a:cs typeface="Tahoma"/>
              </a:rPr>
              <a:t>series</a:t>
            </a:r>
            <a:r>
              <a:rPr sz="1100" spc="-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KPI </a:t>
            </a:r>
            <a:r>
              <a:rPr sz="1100" spc="-20" dirty="0">
                <a:latin typeface="Tahoma"/>
                <a:cs typeface="Tahoma"/>
              </a:rPr>
              <a:t>table</a:t>
            </a:r>
            <a:r>
              <a:rPr sz="1100" spc="5" dirty="0">
                <a:latin typeface="Tahoma"/>
                <a:cs typeface="Tahoma"/>
              </a:rPr>
              <a:t> </a:t>
            </a:r>
            <a:r>
              <a:rPr sz="1100" spc="-45" dirty="0">
                <a:latin typeface="Tahoma"/>
                <a:cs typeface="Tahoma"/>
              </a:rPr>
              <a:t>(15-</a:t>
            </a:r>
            <a:r>
              <a:rPr sz="1100" spc="-10" dirty="0">
                <a:latin typeface="Tahoma"/>
                <a:cs typeface="Tahoma"/>
              </a:rPr>
              <a:t>min</a:t>
            </a:r>
            <a:r>
              <a:rPr sz="1100" dirty="0">
                <a:latin typeface="Tahoma"/>
                <a:cs typeface="Tahoma"/>
              </a:rPr>
              <a:t> </a:t>
            </a:r>
            <a:r>
              <a:rPr sz="1100" spc="-30" dirty="0">
                <a:latin typeface="Tahoma"/>
                <a:cs typeface="Tahoma"/>
              </a:rPr>
              <a:t>granularity):</a:t>
            </a:r>
            <a:r>
              <a:rPr sz="1100" spc="114" dirty="0">
                <a:latin typeface="Tahoma"/>
                <a:cs typeface="Tahoma"/>
              </a:rPr>
              <a:t> </a:t>
            </a:r>
            <a:r>
              <a:rPr sz="1100" spc="-35" dirty="0">
                <a:latin typeface="Tahoma"/>
                <a:cs typeface="Tahoma"/>
              </a:rPr>
              <a:t>throughput,</a:t>
            </a:r>
            <a:r>
              <a:rPr sz="1100" dirty="0">
                <a:latin typeface="Tahoma"/>
                <a:cs typeface="Tahoma"/>
              </a:rPr>
              <a:t> </a:t>
            </a:r>
            <a:r>
              <a:rPr sz="1100" spc="-40" dirty="0">
                <a:latin typeface="Tahoma"/>
                <a:cs typeface="Tahoma"/>
              </a:rPr>
              <a:t>drop</a:t>
            </a:r>
            <a:r>
              <a:rPr sz="1100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rate,</a:t>
            </a:r>
            <a:endParaRPr sz="1100" dirty="0">
              <a:latin typeface="Tahoma"/>
              <a:cs typeface="Tahoma"/>
            </a:endParaRPr>
          </a:p>
          <a:p>
            <a:pPr marL="12700">
              <a:lnSpc>
                <a:spcPct val="100000"/>
              </a:lnSpc>
              <a:spcBef>
                <a:spcPts val="35"/>
              </a:spcBef>
            </a:pPr>
            <a:r>
              <a:rPr sz="1100" dirty="0">
                <a:latin typeface="Tahoma"/>
                <a:cs typeface="Tahoma"/>
              </a:rPr>
              <a:t>RACH</a:t>
            </a:r>
            <a:r>
              <a:rPr sz="1100" spc="5" dirty="0">
                <a:latin typeface="Tahoma"/>
                <a:cs typeface="Tahoma"/>
              </a:rPr>
              <a:t> </a:t>
            </a:r>
            <a:r>
              <a:rPr sz="1100" spc="-50" dirty="0">
                <a:latin typeface="Tahoma"/>
                <a:cs typeface="Tahoma"/>
              </a:rPr>
              <a:t>success,</a:t>
            </a:r>
            <a:r>
              <a:rPr sz="1100" spc="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CQI,</a:t>
            </a:r>
            <a:r>
              <a:rPr sz="1100" spc="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BLER,</a:t>
            </a:r>
            <a:r>
              <a:rPr sz="1100" spc="5" dirty="0">
                <a:latin typeface="Tahoma"/>
                <a:cs typeface="Tahoma"/>
              </a:rPr>
              <a:t> </a:t>
            </a:r>
            <a:r>
              <a:rPr sz="1100" spc="-40" dirty="0">
                <a:latin typeface="Tahoma"/>
                <a:cs typeface="Tahoma"/>
              </a:rPr>
              <a:t>latency,</a:t>
            </a:r>
            <a:r>
              <a:rPr sz="1100" spc="5" dirty="0">
                <a:latin typeface="Tahoma"/>
                <a:cs typeface="Tahoma"/>
              </a:rPr>
              <a:t> </a:t>
            </a:r>
            <a:r>
              <a:rPr sz="1100" spc="55" dirty="0">
                <a:latin typeface="Tahoma"/>
                <a:cs typeface="Tahoma"/>
              </a:rPr>
              <a:t>PRB</a:t>
            </a:r>
            <a:r>
              <a:rPr sz="1100" spc="5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utilization,</a:t>
            </a:r>
            <a:r>
              <a:rPr sz="1100" spc="5" dirty="0">
                <a:latin typeface="Tahoma"/>
                <a:cs typeface="Tahoma"/>
              </a:rPr>
              <a:t> </a:t>
            </a:r>
            <a:r>
              <a:rPr sz="1100" spc="-50" dirty="0">
                <a:latin typeface="Tahoma"/>
                <a:cs typeface="Tahoma"/>
              </a:rPr>
              <a:t>handover</a:t>
            </a:r>
            <a:r>
              <a:rPr sz="1100" spc="5" dirty="0">
                <a:latin typeface="Tahoma"/>
                <a:cs typeface="Tahoma"/>
              </a:rPr>
              <a:t> </a:t>
            </a:r>
            <a:r>
              <a:rPr sz="1100" spc="-55" dirty="0">
                <a:latin typeface="Tahoma"/>
                <a:cs typeface="Tahoma"/>
              </a:rPr>
              <a:t>success,</a:t>
            </a:r>
            <a:r>
              <a:rPr sz="1100" spc="5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SINR</a:t>
            </a:r>
            <a:endParaRPr sz="1100" dirty="0">
              <a:latin typeface="Tahoma"/>
              <a:cs typeface="Tahoma"/>
            </a:endParaRPr>
          </a:p>
          <a:p>
            <a:pPr marL="12700" marR="5080">
              <a:lnSpc>
                <a:spcPct val="102600"/>
              </a:lnSpc>
              <a:spcBef>
                <a:spcPts val="300"/>
              </a:spcBef>
            </a:pPr>
            <a:r>
              <a:rPr sz="1100" spc="140" dirty="0">
                <a:latin typeface="Times New Roman"/>
                <a:cs typeface="Times New Roman"/>
              </a:rPr>
              <a:t>dolt</a:t>
            </a:r>
            <a:r>
              <a:rPr sz="1100" spc="105" dirty="0">
                <a:latin typeface="Times New Roman"/>
                <a:cs typeface="Times New Roman"/>
              </a:rPr>
              <a:t> </a:t>
            </a:r>
            <a:r>
              <a:rPr sz="1100" spc="100" dirty="0">
                <a:latin typeface="Times New Roman"/>
                <a:cs typeface="Times New Roman"/>
              </a:rPr>
              <a:t>log</a:t>
            </a:r>
            <a:r>
              <a:rPr sz="1100" spc="60" dirty="0">
                <a:latin typeface="Times New Roman"/>
                <a:cs typeface="Times New Roman"/>
              </a:rPr>
              <a:t> </a:t>
            </a:r>
            <a:r>
              <a:rPr sz="1100" spc="80" dirty="0">
                <a:latin typeface="Tahoma"/>
                <a:cs typeface="Tahoma"/>
              </a:rPr>
              <a:t>—</a:t>
            </a:r>
            <a:r>
              <a:rPr sz="1100" spc="-1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Dolt’s</a:t>
            </a:r>
            <a:r>
              <a:rPr sz="1100" spc="-10" dirty="0"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built-</a:t>
            </a:r>
            <a:r>
              <a:rPr sz="1100" dirty="0">
                <a:latin typeface="Tahoma"/>
                <a:cs typeface="Tahoma"/>
              </a:rPr>
              <a:t>in</a:t>
            </a:r>
            <a:r>
              <a:rPr sz="1100" spc="-5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commit</a:t>
            </a:r>
            <a:r>
              <a:rPr sz="1100" spc="-5" dirty="0">
                <a:latin typeface="Tahoma"/>
                <a:cs typeface="Tahoma"/>
              </a:rPr>
              <a:t> </a:t>
            </a:r>
            <a:r>
              <a:rPr sz="1100" spc="-30" dirty="0">
                <a:latin typeface="Tahoma"/>
                <a:cs typeface="Tahoma"/>
              </a:rPr>
              <a:t>history:</a:t>
            </a:r>
            <a:r>
              <a:rPr sz="1100" spc="105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commit</a:t>
            </a:r>
            <a:r>
              <a:rPr sz="1100" spc="-5" dirty="0">
                <a:latin typeface="Tahoma"/>
                <a:cs typeface="Tahoma"/>
              </a:rPr>
              <a:t> </a:t>
            </a:r>
            <a:r>
              <a:rPr sz="1100" spc="-40" dirty="0">
                <a:latin typeface="Tahoma"/>
                <a:cs typeface="Tahoma"/>
              </a:rPr>
              <a:t>hash,</a:t>
            </a:r>
            <a:r>
              <a:rPr sz="1100" spc="-10" dirty="0">
                <a:latin typeface="Tahoma"/>
                <a:cs typeface="Tahoma"/>
              </a:rPr>
              <a:t> </a:t>
            </a:r>
            <a:r>
              <a:rPr sz="1100" spc="-30" dirty="0">
                <a:latin typeface="Tahoma"/>
                <a:cs typeface="Tahoma"/>
              </a:rPr>
              <a:t>committer,</a:t>
            </a:r>
            <a:r>
              <a:rPr sz="1100" spc="-5" dirty="0">
                <a:latin typeface="Tahoma"/>
                <a:cs typeface="Tahoma"/>
              </a:rPr>
              <a:t> </a:t>
            </a:r>
            <a:r>
              <a:rPr sz="1100" spc="-45" dirty="0">
                <a:latin typeface="Tahoma"/>
                <a:cs typeface="Tahoma"/>
              </a:rPr>
              <a:t>e-</a:t>
            </a:r>
            <a:r>
              <a:rPr sz="1100" spc="-25" dirty="0">
                <a:latin typeface="Tahoma"/>
                <a:cs typeface="Tahoma"/>
              </a:rPr>
              <a:t>mail,</a:t>
            </a:r>
            <a:r>
              <a:rPr sz="1100" spc="-5" dirty="0">
                <a:latin typeface="Tahoma"/>
                <a:cs typeface="Tahoma"/>
              </a:rPr>
              <a:t> </a:t>
            </a:r>
            <a:r>
              <a:rPr sz="1100" spc="-30" dirty="0">
                <a:latin typeface="Tahoma"/>
                <a:cs typeface="Tahoma"/>
              </a:rPr>
              <a:t>timestamp, </a:t>
            </a:r>
            <a:r>
              <a:rPr sz="1100" spc="-10" dirty="0">
                <a:latin typeface="Tahoma"/>
                <a:cs typeface="Tahoma"/>
              </a:rPr>
              <a:t>message</a:t>
            </a:r>
            <a:endParaRPr sz="1100" dirty="0">
              <a:latin typeface="Tahoma"/>
              <a:cs typeface="Tahoma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87743" y="2010777"/>
            <a:ext cx="5584825" cy="198755"/>
          </a:xfrm>
          <a:custGeom>
            <a:avLst/>
            <a:gdLst/>
            <a:ahLst/>
            <a:cxnLst/>
            <a:rect l="l" t="t" r="r" b="b"/>
            <a:pathLst>
              <a:path w="5584825" h="198755">
                <a:moveTo>
                  <a:pt x="5533779" y="0"/>
                </a:moveTo>
                <a:lnTo>
                  <a:pt x="50800" y="0"/>
                </a:lnTo>
                <a:lnTo>
                  <a:pt x="31075" y="4008"/>
                </a:lnTo>
                <a:lnTo>
                  <a:pt x="14922" y="14922"/>
                </a:lnTo>
                <a:lnTo>
                  <a:pt x="4008" y="31075"/>
                </a:lnTo>
                <a:lnTo>
                  <a:pt x="0" y="50800"/>
                </a:lnTo>
                <a:lnTo>
                  <a:pt x="0" y="198367"/>
                </a:lnTo>
                <a:lnTo>
                  <a:pt x="5584580" y="198367"/>
                </a:lnTo>
                <a:lnTo>
                  <a:pt x="5584580" y="50800"/>
                </a:lnTo>
                <a:lnTo>
                  <a:pt x="5580571" y="31075"/>
                </a:lnTo>
                <a:lnTo>
                  <a:pt x="5569657" y="14922"/>
                </a:lnTo>
                <a:lnTo>
                  <a:pt x="5553504" y="4008"/>
                </a:lnTo>
                <a:lnTo>
                  <a:pt x="5533779" y="0"/>
                </a:lnTo>
                <a:close/>
              </a:path>
            </a:pathLst>
          </a:custGeom>
          <a:solidFill>
            <a:srgbClr val="8D131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 txBox="1"/>
          <p:nvPr/>
        </p:nvSpPr>
        <p:spPr>
          <a:xfrm>
            <a:off x="138544" y="2039238"/>
            <a:ext cx="535305" cy="15367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1145"/>
              </a:lnSpc>
            </a:pPr>
            <a:r>
              <a:rPr sz="1200" dirty="0">
                <a:solidFill>
                  <a:srgbClr val="FFFFFF"/>
                </a:solidFill>
                <a:latin typeface="Tahoma"/>
                <a:cs typeface="Tahoma"/>
              </a:rPr>
              <a:t>Key</a:t>
            </a:r>
            <a:r>
              <a:rPr sz="1200" spc="-65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1200" spc="-80" dirty="0">
                <a:solidFill>
                  <a:srgbClr val="FFFFFF"/>
                </a:solidFill>
                <a:latin typeface="Tahoma"/>
                <a:cs typeface="Tahoma"/>
              </a:rPr>
              <a:t>idea</a:t>
            </a:r>
            <a:endParaRPr sz="1200">
              <a:latin typeface="Tahoma"/>
              <a:cs typeface="Tahoma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38544" y="2067711"/>
            <a:ext cx="5584825" cy="589280"/>
          </a:xfrm>
          <a:prstGeom prst="rect">
            <a:avLst/>
          </a:prstGeom>
        </p:spPr>
        <p:txBody>
          <a:bodyPr vert="horz" wrap="square" lIns="0" tIns="150495" rIns="0" bIns="0" rtlCol="0">
            <a:spAutoFit/>
          </a:bodyPr>
          <a:lstStyle/>
          <a:p>
            <a:pPr marR="537210">
              <a:lnSpc>
                <a:spcPct val="102600"/>
              </a:lnSpc>
              <a:spcBef>
                <a:spcPts val="1185"/>
              </a:spcBef>
            </a:pPr>
            <a:r>
              <a:rPr sz="1100" dirty="0">
                <a:latin typeface="Tahoma"/>
                <a:cs typeface="Tahoma"/>
              </a:rPr>
              <a:t>Dolt’s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65" dirty="0">
                <a:latin typeface="Tahoma"/>
                <a:cs typeface="Tahoma"/>
              </a:rPr>
              <a:t>own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spc="-40" dirty="0">
                <a:latin typeface="Tahoma"/>
                <a:cs typeface="Tahoma"/>
              </a:rPr>
              <a:t>version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spc="-30" dirty="0">
                <a:latin typeface="Tahoma"/>
                <a:cs typeface="Tahoma"/>
              </a:rPr>
              <a:t>history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i="1" dirty="0">
                <a:latin typeface="Calibri"/>
                <a:cs typeface="Calibri"/>
              </a:rPr>
              <a:t>is</a:t>
            </a:r>
            <a:r>
              <a:rPr sz="1100" i="1" spc="70" dirty="0">
                <a:latin typeface="Calibri"/>
                <a:cs typeface="Calibri"/>
              </a:rPr>
              <a:t> </a:t>
            </a:r>
            <a:r>
              <a:rPr sz="1100" spc="-10" dirty="0">
                <a:latin typeface="Tahoma"/>
                <a:cs typeface="Tahoma"/>
              </a:rPr>
              <a:t>the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action </a:t>
            </a:r>
            <a:r>
              <a:rPr sz="1100" spc="-10" dirty="0">
                <a:latin typeface="Tahoma"/>
                <a:cs typeface="Tahoma"/>
              </a:rPr>
              <a:t>log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spc="80" dirty="0">
                <a:latin typeface="Tahoma"/>
                <a:cs typeface="Tahoma"/>
              </a:rPr>
              <a:t>—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no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spc="-50" dirty="0">
                <a:latin typeface="Tahoma"/>
                <a:cs typeface="Tahoma"/>
              </a:rPr>
              <a:t>separate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spc="-60" dirty="0">
                <a:latin typeface="Tahoma"/>
                <a:cs typeface="Tahoma"/>
              </a:rPr>
              <a:t>change-</a:t>
            </a:r>
            <a:r>
              <a:rPr sz="1100" spc="-55" dirty="0">
                <a:latin typeface="Tahoma"/>
                <a:cs typeface="Tahoma"/>
              </a:rPr>
              <a:t>management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spc="-45" dirty="0">
                <a:latin typeface="Tahoma"/>
                <a:cs typeface="Tahoma"/>
              </a:rPr>
              <a:t>system </a:t>
            </a:r>
            <a:r>
              <a:rPr sz="1100" spc="-10" dirty="0">
                <a:latin typeface="Tahoma"/>
                <a:cs typeface="Tahoma"/>
              </a:rPr>
              <a:t>required.</a:t>
            </a:r>
            <a:endParaRPr sz="1100">
              <a:latin typeface="Tahoma"/>
              <a:cs typeface="Tahoma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0" y="3130346"/>
            <a:ext cx="5760085" cy="109855"/>
            <a:chOff x="0" y="3130346"/>
            <a:chExt cx="5760085" cy="109855"/>
          </a:xfrm>
        </p:grpSpPr>
        <p:sp>
          <p:nvSpPr>
            <p:cNvPr id="19" name="object 19"/>
            <p:cNvSpPr/>
            <p:nvPr/>
          </p:nvSpPr>
          <p:spPr>
            <a:xfrm>
              <a:off x="0" y="3130346"/>
              <a:ext cx="1920239" cy="109855"/>
            </a:xfrm>
            <a:custGeom>
              <a:avLst/>
              <a:gdLst/>
              <a:ahLst/>
              <a:cxnLst/>
              <a:rect l="l" t="t" r="r" b="b"/>
              <a:pathLst>
                <a:path w="1920239" h="109855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A3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1919973" y="3130346"/>
              <a:ext cx="1920239" cy="109855"/>
            </a:xfrm>
            <a:custGeom>
              <a:avLst/>
              <a:gdLst/>
              <a:ahLst/>
              <a:cxnLst/>
              <a:rect l="l" t="t" r="r" b="b"/>
              <a:pathLst>
                <a:path w="1920239" h="109855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3839933" y="3130346"/>
              <a:ext cx="1920239" cy="109855"/>
            </a:xfrm>
            <a:custGeom>
              <a:avLst/>
              <a:gdLst/>
              <a:ahLst/>
              <a:cxnLst/>
              <a:rect l="l" t="t" r="r" b="b"/>
              <a:pathLst>
                <a:path w="1920239" h="109855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2367343" y="3135783"/>
            <a:ext cx="1025525" cy="1022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r>
              <a:rPr sz="600" dirty="0">
                <a:solidFill>
                  <a:srgbClr val="8E0000"/>
                </a:solidFill>
                <a:latin typeface="Arial"/>
                <a:cs typeface="Arial"/>
                <a:hlinkClick r:id="rId5" action="ppaction://hlinksldjump"/>
              </a:rPr>
              <a:t>Optimization</a:t>
            </a:r>
            <a:r>
              <a:rPr sz="600" spc="100" dirty="0">
                <a:solidFill>
                  <a:srgbClr val="8E0000"/>
                </a:solidFill>
                <a:latin typeface="Arial"/>
                <a:cs typeface="Arial"/>
                <a:hlinkClick r:id="rId5" action="ppaction://hlinksldjump"/>
              </a:rPr>
              <a:t> </a:t>
            </a:r>
            <a:r>
              <a:rPr sz="600" dirty="0">
                <a:solidFill>
                  <a:srgbClr val="8E0000"/>
                </a:solidFill>
                <a:latin typeface="Arial"/>
                <a:cs typeface="Arial"/>
                <a:hlinkClick r:id="rId5" action="ppaction://hlinksldjump"/>
              </a:rPr>
              <a:t>Action</a:t>
            </a:r>
            <a:r>
              <a:rPr sz="600" spc="105" dirty="0">
                <a:solidFill>
                  <a:srgbClr val="8E0000"/>
                </a:solidFill>
                <a:latin typeface="Arial"/>
                <a:cs typeface="Arial"/>
                <a:hlinkClick r:id="rId5" action="ppaction://hlinksldjump"/>
              </a:rPr>
              <a:t> </a:t>
            </a:r>
            <a:r>
              <a:rPr sz="600" spc="-10" dirty="0">
                <a:solidFill>
                  <a:srgbClr val="8E0000"/>
                </a:solidFill>
                <a:latin typeface="Arial"/>
                <a:cs typeface="Arial"/>
                <a:hlinkClick r:id="rId5" action="ppaction://hlinksldjump"/>
              </a:rPr>
              <a:t>Analyzer</a:t>
            </a:r>
            <a:endParaRPr sz="600">
              <a:latin typeface="Arial"/>
              <a:cs typeface="Arial"/>
            </a:endParaRPr>
          </a:p>
        </p:txBody>
      </p:sp>
      <p:sp>
        <p:nvSpPr>
          <p:cNvPr id="23" name="object 2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fld id="{81D60167-4931-47E6-BA6A-407CBD079E47}" type="slidenum">
              <a:rPr spc="-30" dirty="0"/>
              <a:t>28</a:t>
            </a:fld>
            <a:r>
              <a:rPr spc="-55" dirty="0"/>
              <a:t> </a:t>
            </a:r>
            <a:r>
              <a:rPr spc="150" dirty="0"/>
              <a:t>/</a:t>
            </a:r>
            <a:r>
              <a:rPr spc="-55" dirty="0"/>
              <a:t> </a:t>
            </a:r>
            <a:r>
              <a:rPr spc="-35" dirty="0"/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13175397"/>
      </p:ext>
    </p:extLst>
  </p:cSld>
  <p:clrMapOvr>
    <a:masterClrMapping/>
  </p:clrMapOvr>
  <p:transition>
    <p:cut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/>
              <a:t>Action</a:t>
            </a:r>
            <a:r>
              <a:rPr spc="-10" dirty="0"/>
              <a:t> </a:t>
            </a:r>
            <a:r>
              <a:rPr spc="-25" dirty="0"/>
              <a:t>Hunks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81089" y="1326984"/>
            <a:ext cx="65265" cy="65265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81089" y="1537017"/>
            <a:ext cx="65265" cy="65265"/>
          </a:xfrm>
          <a:prstGeom prst="rect">
            <a:avLst/>
          </a:prstGeom>
        </p:spPr>
      </p:pic>
      <p:sp>
        <p:nvSpPr>
          <p:cNvPr id="5" name="object 5"/>
          <p:cNvSpPr/>
          <p:nvPr/>
        </p:nvSpPr>
        <p:spPr>
          <a:xfrm>
            <a:off x="788047" y="1602282"/>
            <a:ext cx="43815" cy="0"/>
          </a:xfrm>
          <a:custGeom>
            <a:avLst/>
            <a:gdLst/>
            <a:ahLst/>
            <a:cxnLst/>
            <a:rect l="l" t="t" r="r" b="b"/>
            <a:pathLst>
              <a:path w="43815">
                <a:moveTo>
                  <a:pt x="0" y="0"/>
                </a:moveTo>
                <a:lnTo>
                  <a:pt x="43637" y="0"/>
                </a:lnTo>
              </a:path>
            </a:pathLst>
          </a:custGeom>
          <a:ln w="505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1276819" y="1602282"/>
            <a:ext cx="43815" cy="0"/>
          </a:xfrm>
          <a:custGeom>
            <a:avLst/>
            <a:gdLst/>
            <a:ahLst/>
            <a:cxnLst/>
            <a:rect l="l" t="t" r="r" b="b"/>
            <a:pathLst>
              <a:path w="43815">
                <a:moveTo>
                  <a:pt x="0" y="0"/>
                </a:moveTo>
                <a:lnTo>
                  <a:pt x="43637" y="0"/>
                </a:lnTo>
              </a:path>
            </a:pathLst>
          </a:custGeom>
          <a:ln w="505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402932" y="1199754"/>
            <a:ext cx="5069840" cy="655955"/>
          </a:xfrm>
          <a:prstGeom prst="rect">
            <a:avLst/>
          </a:prstGeom>
        </p:spPr>
        <p:txBody>
          <a:bodyPr vert="horz" wrap="square" lIns="0" tIns="5524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434"/>
              </a:spcBef>
            </a:pPr>
            <a:r>
              <a:rPr sz="1100" spc="-20" dirty="0">
                <a:latin typeface="Tahoma"/>
                <a:cs typeface="Tahoma"/>
              </a:rPr>
              <a:t>Commits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45" dirty="0">
                <a:latin typeface="Tahoma"/>
                <a:cs typeface="Tahoma"/>
              </a:rPr>
              <a:t>sharing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the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spc="-60" dirty="0">
                <a:latin typeface="Tahoma"/>
                <a:cs typeface="Tahoma"/>
              </a:rPr>
              <a:t>same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spc="-45" dirty="0">
                <a:latin typeface="Tahoma"/>
                <a:cs typeface="Tahoma"/>
              </a:rPr>
              <a:t>calendar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date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spc="-60" dirty="0">
                <a:latin typeface="Tahoma"/>
                <a:cs typeface="Tahoma"/>
              </a:rPr>
              <a:t>are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spc="-45" dirty="0">
                <a:latin typeface="Tahoma"/>
                <a:cs typeface="Tahoma"/>
              </a:rPr>
              <a:t>grouped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into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a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spc="-35" dirty="0">
                <a:latin typeface="Tahoma"/>
                <a:cs typeface="Tahoma"/>
              </a:rPr>
              <a:t>single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i="1" dirty="0">
                <a:latin typeface="Calibri"/>
                <a:cs typeface="Calibri"/>
              </a:rPr>
              <a:t>Action</a:t>
            </a:r>
            <a:r>
              <a:rPr sz="1100" i="1" spc="75" dirty="0">
                <a:latin typeface="Calibri"/>
                <a:cs typeface="Calibri"/>
              </a:rPr>
              <a:t> </a:t>
            </a:r>
            <a:r>
              <a:rPr sz="1100" i="1" spc="-20" dirty="0">
                <a:latin typeface="Calibri"/>
                <a:cs typeface="Calibri"/>
              </a:rPr>
              <a:t>Hunk</a:t>
            </a:r>
            <a:endParaRPr sz="1100">
              <a:latin typeface="Calibri"/>
              <a:cs typeface="Calibri"/>
            </a:endParaRPr>
          </a:p>
          <a:p>
            <a:pPr marL="12700" marR="5080">
              <a:lnSpc>
                <a:spcPct val="125299"/>
              </a:lnSpc>
            </a:pPr>
            <a:r>
              <a:rPr sz="1100" spc="120" dirty="0">
                <a:latin typeface="Times New Roman"/>
                <a:cs typeface="Times New Roman"/>
              </a:rPr>
              <a:t>build</a:t>
            </a:r>
            <a:r>
              <a:rPr sz="1100" spc="95" dirty="0">
                <a:latin typeface="Times New Roman"/>
                <a:cs typeface="Times New Roman"/>
              </a:rPr>
              <a:t> </a:t>
            </a:r>
            <a:r>
              <a:rPr sz="1100" spc="120" dirty="0">
                <a:latin typeface="Times New Roman"/>
                <a:cs typeface="Times New Roman"/>
              </a:rPr>
              <a:t>action</a:t>
            </a:r>
            <a:r>
              <a:rPr sz="1100" spc="100" dirty="0">
                <a:latin typeface="Times New Roman"/>
                <a:cs typeface="Times New Roman"/>
              </a:rPr>
              <a:t> </a:t>
            </a:r>
            <a:r>
              <a:rPr sz="1100" spc="90" dirty="0">
                <a:latin typeface="Times New Roman"/>
                <a:cs typeface="Times New Roman"/>
              </a:rPr>
              <a:t>hunks()</a:t>
            </a:r>
            <a:r>
              <a:rPr sz="1100" spc="55" dirty="0">
                <a:latin typeface="Times New Roman"/>
                <a:cs typeface="Times New Roman"/>
              </a:rPr>
              <a:t> </a:t>
            </a:r>
            <a:r>
              <a:rPr sz="1100" spc="-50" dirty="0">
                <a:latin typeface="Tahoma"/>
                <a:cs typeface="Tahoma"/>
              </a:rPr>
              <a:t>produces</a:t>
            </a:r>
            <a:r>
              <a:rPr sz="1100" spc="-10" dirty="0">
                <a:latin typeface="Tahoma"/>
                <a:cs typeface="Tahoma"/>
              </a:rPr>
              <a:t> </a:t>
            </a:r>
            <a:r>
              <a:rPr sz="1100" spc="-45" dirty="0">
                <a:latin typeface="Tahoma"/>
                <a:cs typeface="Tahoma"/>
              </a:rPr>
              <a:t>one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spc="-40" dirty="0">
                <a:latin typeface="Tahoma"/>
                <a:cs typeface="Tahoma"/>
              </a:rPr>
              <a:t>selectable</a:t>
            </a:r>
            <a:r>
              <a:rPr sz="1100" spc="-1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unit</a:t>
            </a:r>
            <a:r>
              <a:rPr sz="1100" spc="-1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of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spc="-50" dirty="0">
                <a:latin typeface="Tahoma"/>
                <a:cs typeface="Tahoma"/>
              </a:rPr>
              <a:t>change</a:t>
            </a:r>
            <a:r>
              <a:rPr sz="1100" spc="-10" dirty="0">
                <a:latin typeface="Tahoma"/>
                <a:cs typeface="Tahoma"/>
              </a:rPr>
              <a:t> </a:t>
            </a:r>
            <a:r>
              <a:rPr sz="1100" spc="-30" dirty="0">
                <a:latin typeface="Tahoma"/>
                <a:cs typeface="Tahoma"/>
              </a:rPr>
              <a:t>per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optimization</a:t>
            </a:r>
            <a:r>
              <a:rPr sz="1100" spc="-10" dirty="0">
                <a:latin typeface="Tahoma"/>
                <a:cs typeface="Tahoma"/>
              </a:rPr>
              <a:t> </a:t>
            </a:r>
            <a:r>
              <a:rPr sz="1100" spc="-30" dirty="0">
                <a:latin typeface="Tahoma"/>
                <a:cs typeface="Tahoma"/>
              </a:rPr>
              <a:t>event </a:t>
            </a:r>
            <a:r>
              <a:rPr sz="1100" spc="-10" dirty="0">
                <a:latin typeface="Tahoma"/>
                <a:cs typeface="Tahoma"/>
              </a:rPr>
              <a:t>Label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spc="-45" dirty="0">
                <a:latin typeface="Tahoma"/>
                <a:cs typeface="Tahoma"/>
              </a:rPr>
              <a:t>example:</a:t>
            </a:r>
            <a:r>
              <a:rPr sz="1100" spc="120" dirty="0">
                <a:latin typeface="Tahoma"/>
                <a:cs typeface="Tahoma"/>
              </a:rPr>
              <a:t> </a:t>
            </a:r>
            <a:r>
              <a:rPr sz="1100" spc="65" dirty="0">
                <a:latin typeface="Times New Roman"/>
                <a:cs typeface="Times New Roman"/>
              </a:rPr>
              <a:t>"2024-</a:t>
            </a:r>
            <a:r>
              <a:rPr sz="1100" spc="60" dirty="0">
                <a:latin typeface="Times New Roman"/>
                <a:cs typeface="Times New Roman"/>
              </a:rPr>
              <a:t>06-</a:t>
            </a:r>
            <a:r>
              <a:rPr sz="1100" spc="70" dirty="0">
                <a:latin typeface="Times New Roman"/>
                <a:cs typeface="Times New Roman"/>
              </a:rPr>
              <a:t>10</a:t>
            </a:r>
            <a:r>
              <a:rPr sz="1100" spc="275" dirty="0">
                <a:latin typeface="Times New Roman"/>
                <a:cs typeface="Times New Roman"/>
              </a:rPr>
              <a:t> </a:t>
            </a:r>
            <a:r>
              <a:rPr sz="1100" dirty="0">
                <a:latin typeface="Times New Roman"/>
                <a:cs typeface="Times New Roman"/>
              </a:rPr>
              <a:t>(Mon)</a:t>
            </a:r>
            <a:r>
              <a:rPr sz="1100" spc="270" dirty="0">
                <a:latin typeface="Times New Roman"/>
                <a:cs typeface="Times New Roman"/>
              </a:rPr>
              <a:t> </a:t>
            </a:r>
            <a:r>
              <a:rPr sz="1100" spc="-105" dirty="0">
                <a:latin typeface="Courier New"/>
                <a:cs typeface="Courier New"/>
              </a:rPr>
              <a:t>·</a:t>
            </a:r>
            <a:r>
              <a:rPr sz="1100" spc="-90" dirty="0">
                <a:latin typeface="Courier New"/>
                <a:cs typeface="Courier New"/>
              </a:rPr>
              <a:t> </a:t>
            </a:r>
            <a:r>
              <a:rPr sz="1100" dirty="0">
                <a:latin typeface="Times New Roman"/>
                <a:cs typeface="Times New Roman"/>
              </a:rPr>
              <a:t>3</a:t>
            </a:r>
            <a:r>
              <a:rPr sz="1100" spc="275" dirty="0">
                <a:latin typeface="Times New Roman"/>
                <a:cs typeface="Times New Roman"/>
              </a:rPr>
              <a:t> </a:t>
            </a:r>
            <a:r>
              <a:rPr sz="1100" spc="-10" dirty="0">
                <a:latin typeface="Times New Roman"/>
                <a:cs typeface="Times New Roman"/>
              </a:rPr>
              <a:t>commits"</a:t>
            </a:r>
            <a:endParaRPr sz="1100">
              <a:latin typeface="Times New Roman"/>
              <a:cs typeface="Times New Roman"/>
            </a:endParaRPr>
          </a:p>
        </p:txBody>
      </p:sp>
      <p:pic>
        <p:nvPicPr>
          <p:cNvPr id="8" name="object 8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281089" y="1747050"/>
            <a:ext cx="65265" cy="65265"/>
          </a:xfrm>
          <a:prstGeom prst="rect">
            <a:avLst/>
          </a:prstGeom>
        </p:spPr>
      </p:pic>
      <p:grpSp>
        <p:nvGrpSpPr>
          <p:cNvPr id="9" name="object 9"/>
          <p:cNvGrpSpPr/>
          <p:nvPr/>
        </p:nvGrpSpPr>
        <p:grpSpPr>
          <a:xfrm>
            <a:off x="0" y="3130346"/>
            <a:ext cx="5760085" cy="109855"/>
            <a:chOff x="0" y="3130346"/>
            <a:chExt cx="5760085" cy="109855"/>
          </a:xfrm>
        </p:grpSpPr>
        <p:sp>
          <p:nvSpPr>
            <p:cNvPr id="10" name="object 10"/>
            <p:cNvSpPr/>
            <p:nvPr/>
          </p:nvSpPr>
          <p:spPr>
            <a:xfrm>
              <a:off x="0" y="3130346"/>
              <a:ext cx="1920239" cy="109855"/>
            </a:xfrm>
            <a:custGeom>
              <a:avLst/>
              <a:gdLst/>
              <a:ahLst/>
              <a:cxnLst/>
              <a:rect l="l" t="t" r="r" b="b"/>
              <a:pathLst>
                <a:path w="1920239" h="109855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A3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1919973" y="3130346"/>
              <a:ext cx="1920239" cy="109855"/>
            </a:xfrm>
            <a:custGeom>
              <a:avLst/>
              <a:gdLst/>
              <a:ahLst/>
              <a:cxnLst/>
              <a:rect l="l" t="t" r="r" b="b"/>
              <a:pathLst>
                <a:path w="1920239" h="109855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3839946" y="3130346"/>
              <a:ext cx="1920239" cy="109855"/>
            </a:xfrm>
            <a:custGeom>
              <a:avLst/>
              <a:gdLst/>
              <a:ahLst/>
              <a:cxnLst/>
              <a:rect l="l" t="t" r="r" b="b"/>
              <a:pathLst>
                <a:path w="1920239" h="109855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/>
          <p:nvPr/>
        </p:nvSpPr>
        <p:spPr>
          <a:xfrm>
            <a:off x="2367343" y="3135783"/>
            <a:ext cx="1025525" cy="1022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r>
              <a:rPr sz="600" dirty="0">
                <a:solidFill>
                  <a:srgbClr val="8E0000"/>
                </a:solidFill>
                <a:latin typeface="Arial"/>
                <a:cs typeface="Arial"/>
                <a:hlinkClick r:id="rId5" action="ppaction://hlinksldjump"/>
              </a:rPr>
              <a:t>Optimization</a:t>
            </a:r>
            <a:r>
              <a:rPr sz="600" spc="100" dirty="0">
                <a:solidFill>
                  <a:srgbClr val="8E0000"/>
                </a:solidFill>
                <a:latin typeface="Arial"/>
                <a:cs typeface="Arial"/>
                <a:hlinkClick r:id="rId5" action="ppaction://hlinksldjump"/>
              </a:rPr>
              <a:t> </a:t>
            </a:r>
            <a:r>
              <a:rPr sz="600" dirty="0">
                <a:solidFill>
                  <a:srgbClr val="8E0000"/>
                </a:solidFill>
                <a:latin typeface="Arial"/>
                <a:cs typeface="Arial"/>
                <a:hlinkClick r:id="rId5" action="ppaction://hlinksldjump"/>
              </a:rPr>
              <a:t>Action</a:t>
            </a:r>
            <a:r>
              <a:rPr sz="600" spc="105" dirty="0">
                <a:solidFill>
                  <a:srgbClr val="8E0000"/>
                </a:solidFill>
                <a:latin typeface="Arial"/>
                <a:cs typeface="Arial"/>
                <a:hlinkClick r:id="rId5" action="ppaction://hlinksldjump"/>
              </a:rPr>
              <a:t> </a:t>
            </a:r>
            <a:r>
              <a:rPr sz="600" spc="-10" dirty="0">
                <a:solidFill>
                  <a:srgbClr val="8E0000"/>
                </a:solidFill>
                <a:latin typeface="Arial"/>
                <a:cs typeface="Arial"/>
                <a:hlinkClick r:id="rId5" action="ppaction://hlinksldjump"/>
              </a:rPr>
              <a:t>Analyzer</a:t>
            </a:r>
            <a:endParaRPr sz="600">
              <a:latin typeface="Arial"/>
              <a:cs typeface="Arial"/>
            </a:endParaRPr>
          </a:p>
        </p:txBody>
      </p:sp>
      <p:sp>
        <p:nvSpPr>
          <p:cNvPr id="14" name="object 1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fld id="{81D60167-4931-47E6-BA6A-407CBD079E47}" type="slidenum">
              <a:rPr spc="-30" dirty="0"/>
              <a:t>29</a:t>
            </a:fld>
            <a:r>
              <a:rPr spc="-55" dirty="0"/>
              <a:t> </a:t>
            </a:r>
            <a:r>
              <a:rPr spc="150" dirty="0"/>
              <a:t>/</a:t>
            </a:r>
            <a:r>
              <a:rPr spc="-55" dirty="0"/>
              <a:t> </a:t>
            </a:r>
            <a:r>
              <a:rPr spc="-35" dirty="0"/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3631024732"/>
      </p:ext>
    </p:extLst>
  </p:cSld>
  <p:clrMapOvr>
    <a:masterClrMapping/>
  </p:clrMapOvr>
  <p:transition>
    <p:cut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-12"/>
            <a:ext cx="5760085" cy="350520"/>
          </a:xfrm>
          <a:custGeom>
            <a:avLst/>
            <a:gdLst/>
            <a:ahLst/>
            <a:cxnLst/>
            <a:rect l="l" t="t" r="r" b="b"/>
            <a:pathLst>
              <a:path w="5760085" h="350520">
                <a:moveTo>
                  <a:pt x="5759996" y="0"/>
                </a:moveTo>
                <a:lnTo>
                  <a:pt x="0" y="0"/>
                </a:lnTo>
                <a:lnTo>
                  <a:pt x="0" y="350126"/>
                </a:lnTo>
                <a:lnTo>
                  <a:pt x="5759996" y="350126"/>
                </a:lnTo>
                <a:lnTo>
                  <a:pt x="5759996" y="0"/>
                </a:lnTo>
                <a:close/>
              </a:path>
            </a:pathLst>
          </a:custGeom>
          <a:solidFill>
            <a:srgbClr val="F2F2F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95300" y="59877"/>
            <a:ext cx="4006850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400" dirty="0">
                <a:solidFill>
                  <a:srgbClr val="CC0000"/>
                </a:solidFill>
                <a:latin typeface="Tahoma"/>
                <a:cs typeface="Tahoma"/>
              </a:rPr>
              <a:t>Action</a:t>
            </a:r>
            <a:r>
              <a:rPr sz="1400" spc="-45" dirty="0">
                <a:solidFill>
                  <a:srgbClr val="CC0000"/>
                </a:solidFill>
                <a:latin typeface="Tahoma"/>
                <a:cs typeface="Tahoma"/>
              </a:rPr>
              <a:t> </a:t>
            </a:r>
            <a:r>
              <a:rPr sz="1400" dirty="0">
                <a:solidFill>
                  <a:srgbClr val="CC0000"/>
                </a:solidFill>
                <a:latin typeface="Tahoma"/>
                <a:cs typeface="Tahoma"/>
              </a:rPr>
              <a:t>Hunk</a:t>
            </a:r>
            <a:r>
              <a:rPr sz="1400" spc="-40" dirty="0">
                <a:solidFill>
                  <a:srgbClr val="CC0000"/>
                </a:solidFill>
                <a:latin typeface="Tahoma"/>
                <a:cs typeface="Tahoma"/>
              </a:rPr>
              <a:t> </a:t>
            </a:r>
            <a:r>
              <a:rPr sz="1400" spc="-10" dirty="0">
                <a:solidFill>
                  <a:srgbClr val="CC0000"/>
                </a:solidFill>
                <a:latin typeface="Tahoma"/>
                <a:cs typeface="Tahoma"/>
              </a:rPr>
              <a:t>Distribution</a:t>
            </a:r>
            <a:r>
              <a:rPr sz="1400" spc="-45" dirty="0">
                <a:solidFill>
                  <a:srgbClr val="CC0000"/>
                </a:solidFill>
                <a:latin typeface="Tahoma"/>
                <a:cs typeface="Tahoma"/>
              </a:rPr>
              <a:t> </a:t>
            </a:r>
            <a:r>
              <a:rPr sz="1400" spc="125" dirty="0">
                <a:solidFill>
                  <a:srgbClr val="CC0000"/>
                </a:solidFill>
                <a:latin typeface="Tahoma"/>
                <a:cs typeface="Tahoma"/>
              </a:rPr>
              <a:t>—</a:t>
            </a:r>
            <a:r>
              <a:rPr sz="1400" spc="-40" dirty="0">
                <a:solidFill>
                  <a:srgbClr val="CC0000"/>
                </a:solidFill>
                <a:latin typeface="Tahoma"/>
                <a:cs typeface="Tahoma"/>
              </a:rPr>
              <a:t> </a:t>
            </a:r>
            <a:r>
              <a:rPr sz="1400" spc="-60" dirty="0">
                <a:solidFill>
                  <a:srgbClr val="CC0000"/>
                </a:solidFill>
                <a:latin typeface="Tahoma"/>
                <a:cs typeface="Tahoma"/>
              </a:rPr>
              <a:t>hover</a:t>
            </a:r>
            <a:r>
              <a:rPr sz="1400" spc="-45" dirty="0">
                <a:solidFill>
                  <a:srgbClr val="CC0000"/>
                </a:solidFill>
                <a:latin typeface="Tahoma"/>
                <a:cs typeface="Tahoma"/>
              </a:rPr>
              <a:t> </a:t>
            </a:r>
            <a:r>
              <a:rPr sz="1400" spc="-10" dirty="0">
                <a:solidFill>
                  <a:srgbClr val="CC0000"/>
                </a:solidFill>
                <a:latin typeface="Tahoma"/>
                <a:cs typeface="Tahoma"/>
              </a:rPr>
              <a:t>for</a:t>
            </a:r>
            <a:r>
              <a:rPr sz="1400" spc="-40" dirty="0">
                <a:solidFill>
                  <a:srgbClr val="CC0000"/>
                </a:solidFill>
                <a:latin typeface="Tahoma"/>
                <a:cs typeface="Tahoma"/>
              </a:rPr>
              <a:t> </a:t>
            </a:r>
            <a:r>
              <a:rPr sz="1400" spc="-10" dirty="0">
                <a:solidFill>
                  <a:srgbClr val="CC0000"/>
                </a:solidFill>
                <a:latin typeface="Tahoma"/>
                <a:cs typeface="Tahoma"/>
              </a:rPr>
              <a:t>commit</a:t>
            </a:r>
            <a:r>
              <a:rPr sz="1400" spc="-45" dirty="0">
                <a:solidFill>
                  <a:srgbClr val="CC0000"/>
                </a:solidFill>
                <a:latin typeface="Tahoma"/>
                <a:cs typeface="Tahoma"/>
              </a:rPr>
              <a:t> </a:t>
            </a:r>
            <a:r>
              <a:rPr sz="1400" spc="-10" dirty="0">
                <a:solidFill>
                  <a:srgbClr val="CC0000"/>
                </a:solidFill>
                <a:latin typeface="Tahoma"/>
                <a:cs typeface="Tahoma"/>
              </a:rPr>
              <a:t>details</a:t>
            </a:r>
            <a:endParaRPr sz="1400">
              <a:latin typeface="Tahoma"/>
              <a:cs typeface="Tahoma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49744" y="421746"/>
            <a:ext cx="4660270" cy="2621401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130346"/>
            <a:ext cx="5760085" cy="109855"/>
            <a:chOff x="0" y="3130346"/>
            <a:chExt cx="5760085" cy="109855"/>
          </a:xfrm>
        </p:grpSpPr>
        <p:sp>
          <p:nvSpPr>
            <p:cNvPr id="6" name="object 6"/>
            <p:cNvSpPr/>
            <p:nvPr/>
          </p:nvSpPr>
          <p:spPr>
            <a:xfrm>
              <a:off x="0" y="3130346"/>
              <a:ext cx="1920239" cy="109855"/>
            </a:xfrm>
            <a:custGeom>
              <a:avLst/>
              <a:gdLst/>
              <a:ahLst/>
              <a:cxnLst/>
              <a:rect l="l" t="t" r="r" b="b"/>
              <a:pathLst>
                <a:path w="1920239" h="109855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A3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1919973" y="3130346"/>
              <a:ext cx="1920239" cy="109855"/>
            </a:xfrm>
            <a:custGeom>
              <a:avLst/>
              <a:gdLst/>
              <a:ahLst/>
              <a:cxnLst/>
              <a:rect l="l" t="t" r="r" b="b"/>
              <a:pathLst>
                <a:path w="1920239" h="109855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3839946" y="3130346"/>
              <a:ext cx="1920239" cy="109855"/>
            </a:xfrm>
            <a:custGeom>
              <a:avLst/>
              <a:gdLst/>
              <a:ahLst/>
              <a:cxnLst/>
              <a:rect l="l" t="t" r="r" b="b"/>
              <a:pathLst>
                <a:path w="1920239" h="109855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2367343" y="3135783"/>
            <a:ext cx="1025525" cy="1022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r>
              <a:rPr sz="600" dirty="0">
                <a:solidFill>
                  <a:srgbClr val="8E0000"/>
                </a:solidFill>
                <a:latin typeface="Arial"/>
                <a:cs typeface="Arial"/>
                <a:hlinkClick r:id="rId3" action="ppaction://hlinksldjump"/>
              </a:rPr>
              <a:t>Optimization</a:t>
            </a:r>
            <a:r>
              <a:rPr sz="600" spc="100" dirty="0">
                <a:solidFill>
                  <a:srgbClr val="8E0000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600" dirty="0">
                <a:solidFill>
                  <a:srgbClr val="8E0000"/>
                </a:solidFill>
                <a:latin typeface="Arial"/>
                <a:cs typeface="Arial"/>
                <a:hlinkClick r:id="rId3" action="ppaction://hlinksldjump"/>
              </a:rPr>
              <a:t>Action</a:t>
            </a:r>
            <a:r>
              <a:rPr sz="600" spc="105" dirty="0">
                <a:solidFill>
                  <a:srgbClr val="8E0000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600" spc="-10" dirty="0">
                <a:solidFill>
                  <a:srgbClr val="8E0000"/>
                </a:solidFill>
                <a:latin typeface="Arial"/>
                <a:cs typeface="Arial"/>
                <a:hlinkClick r:id="rId3" action="ppaction://hlinksldjump"/>
              </a:rPr>
              <a:t>Analyzer</a:t>
            </a:r>
            <a:endParaRPr sz="600">
              <a:latin typeface="Arial"/>
              <a:cs typeface="Arial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fld id="{81D60167-4931-47E6-BA6A-407CBD079E47}" type="slidenum">
              <a:rPr spc="-30" dirty="0"/>
              <a:t>30</a:t>
            </a:fld>
            <a:r>
              <a:rPr spc="-55" dirty="0"/>
              <a:t> </a:t>
            </a:r>
            <a:r>
              <a:rPr spc="150" dirty="0"/>
              <a:t>/</a:t>
            </a:r>
            <a:r>
              <a:rPr spc="-55" dirty="0"/>
              <a:t> </a:t>
            </a:r>
            <a:r>
              <a:rPr spc="-35" dirty="0"/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595391930"/>
      </p:ext>
    </p:extLst>
  </p:cSld>
  <p:clrMapOvr>
    <a:masterClrMapping/>
  </p:clrMapOvr>
  <p:transition>
    <p:cut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-12"/>
            <a:ext cx="5760085" cy="350520"/>
          </a:xfrm>
          <a:custGeom>
            <a:avLst/>
            <a:gdLst/>
            <a:ahLst/>
            <a:cxnLst/>
            <a:rect l="l" t="t" r="r" b="b"/>
            <a:pathLst>
              <a:path w="5760085" h="350520">
                <a:moveTo>
                  <a:pt x="5759996" y="0"/>
                </a:moveTo>
                <a:lnTo>
                  <a:pt x="0" y="0"/>
                </a:lnTo>
                <a:lnTo>
                  <a:pt x="0" y="350126"/>
                </a:lnTo>
                <a:lnTo>
                  <a:pt x="5759996" y="350126"/>
                </a:lnTo>
                <a:lnTo>
                  <a:pt x="5759996" y="0"/>
                </a:lnTo>
                <a:close/>
              </a:path>
            </a:pathLst>
          </a:custGeom>
          <a:solidFill>
            <a:srgbClr val="F2F2F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95300" y="59877"/>
            <a:ext cx="2288540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400" dirty="0">
                <a:solidFill>
                  <a:srgbClr val="CC0000"/>
                </a:solidFill>
                <a:latin typeface="Tahoma"/>
                <a:cs typeface="Tahoma"/>
              </a:rPr>
              <a:t>KPI</a:t>
            </a:r>
            <a:r>
              <a:rPr sz="1400" spc="-25" dirty="0">
                <a:solidFill>
                  <a:srgbClr val="CC0000"/>
                </a:solidFill>
                <a:latin typeface="Tahoma"/>
                <a:cs typeface="Tahoma"/>
              </a:rPr>
              <a:t> Trend</a:t>
            </a:r>
            <a:r>
              <a:rPr sz="1400" spc="-20" dirty="0">
                <a:solidFill>
                  <a:srgbClr val="CC0000"/>
                </a:solidFill>
                <a:latin typeface="Tahoma"/>
                <a:cs typeface="Tahoma"/>
              </a:rPr>
              <a:t> </a:t>
            </a:r>
            <a:r>
              <a:rPr sz="1400" spc="125" dirty="0">
                <a:solidFill>
                  <a:srgbClr val="CC0000"/>
                </a:solidFill>
                <a:latin typeface="Tahoma"/>
                <a:cs typeface="Tahoma"/>
              </a:rPr>
              <a:t>—</a:t>
            </a:r>
            <a:r>
              <a:rPr sz="1400" spc="-20" dirty="0">
                <a:solidFill>
                  <a:srgbClr val="CC0000"/>
                </a:solidFill>
                <a:latin typeface="Tahoma"/>
                <a:cs typeface="Tahoma"/>
              </a:rPr>
              <a:t> </a:t>
            </a:r>
            <a:r>
              <a:rPr sz="1400" spc="-35" dirty="0">
                <a:solidFill>
                  <a:srgbClr val="CC0000"/>
                </a:solidFill>
                <a:latin typeface="Tahoma"/>
                <a:cs typeface="Tahoma"/>
              </a:rPr>
              <a:t>Before</a:t>
            </a:r>
            <a:r>
              <a:rPr sz="1400" spc="-25" dirty="0">
                <a:solidFill>
                  <a:srgbClr val="CC0000"/>
                </a:solidFill>
                <a:latin typeface="Tahoma"/>
                <a:cs typeface="Tahoma"/>
              </a:rPr>
              <a:t> </a:t>
            </a:r>
            <a:r>
              <a:rPr sz="1400" dirty="0">
                <a:solidFill>
                  <a:srgbClr val="CC0000"/>
                </a:solidFill>
                <a:latin typeface="Tahoma"/>
                <a:cs typeface="Tahoma"/>
              </a:rPr>
              <a:t>vs.</a:t>
            </a:r>
            <a:r>
              <a:rPr sz="1400" spc="114" dirty="0">
                <a:solidFill>
                  <a:srgbClr val="CC0000"/>
                </a:solidFill>
                <a:latin typeface="Tahoma"/>
                <a:cs typeface="Tahoma"/>
              </a:rPr>
              <a:t> </a:t>
            </a:r>
            <a:r>
              <a:rPr sz="1400" spc="-10" dirty="0">
                <a:solidFill>
                  <a:srgbClr val="CC0000"/>
                </a:solidFill>
                <a:latin typeface="Tahoma"/>
                <a:cs typeface="Tahoma"/>
              </a:rPr>
              <a:t>After</a:t>
            </a:r>
            <a:endParaRPr sz="1400">
              <a:latin typeface="Tahoma"/>
              <a:cs typeface="Tahoma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49744" y="421746"/>
            <a:ext cx="4660270" cy="2621401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130346"/>
            <a:ext cx="5760085" cy="109855"/>
            <a:chOff x="0" y="3130346"/>
            <a:chExt cx="5760085" cy="109855"/>
          </a:xfrm>
        </p:grpSpPr>
        <p:sp>
          <p:nvSpPr>
            <p:cNvPr id="6" name="object 6"/>
            <p:cNvSpPr/>
            <p:nvPr/>
          </p:nvSpPr>
          <p:spPr>
            <a:xfrm>
              <a:off x="0" y="3130346"/>
              <a:ext cx="1920239" cy="109855"/>
            </a:xfrm>
            <a:custGeom>
              <a:avLst/>
              <a:gdLst/>
              <a:ahLst/>
              <a:cxnLst/>
              <a:rect l="l" t="t" r="r" b="b"/>
              <a:pathLst>
                <a:path w="1920239" h="109855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A3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1919973" y="3130346"/>
              <a:ext cx="1920239" cy="109855"/>
            </a:xfrm>
            <a:custGeom>
              <a:avLst/>
              <a:gdLst/>
              <a:ahLst/>
              <a:cxnLst/>
              <a:rect l="l" t="t" r="r" b="b"/>
              <a:pathLst>
                <a:path w="1920239" h="109855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3839946" y="3130346"/>
              <a:ext cx="1920239" cy="109855"/>
            </a:xfrm>
            <a:custGeom>
              <a:avLst/>
              <a:gdLst/>
              <a:ahLst/>
              <a:cxnLst/>
              <a:rect l="l" t="t" r="r" b="b"/>
              <a:pathLst>
                <a:path w="1920239" h="109855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2367343" y="3135783"/>
            <a:ext cx="1025525" cy="1022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r>
              <a:rPr sz="600" dirty="0">
                <a:solidFill>
                  <a:srgbClr val="8E0000"/>
                </a:solidFill>
                <a:latin typeface="Arial"/>
                <a:cs typeface="Arial"/>
                <a:hlinkClick r:id="rId3" action="ppaction://hlinksldjump"/>
              </a:rPr>
              <a:t>Optimization</a:t>
            </a:r>
            <a:r>
              <a:rPr sz="600" spc="100" dirty="0">
                <a:solidFill>
                  <a:srgbClr val="8E0000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600" dirty="0">
                <a:solidFill>
                  <a:srgbClr val="8E0000"/>
                </a:solidFill>
                <a:latin typeface="Arial"/>
                <a:cs typeface="Arial"/>
                <a:hlinkClick r:id="rId3" action="ppaction://hlinksldjump"/>
              </a:rPr>
              <a:t>Action</a:t>
            </a:r>
            <a:r>
              <a:rPr sz="600" spc="105" dirty="0">
                <a:solidFill>
                  <a:srgbClr val="8E0000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600" spc="-10" dirty="0">
                <a:solidFill>
                  <a:srgbClr val="8E0000"/>
                </a:solidFill>
                <a:latin typeface="Arial"/>
                <a:cs typeface="Arial"/>
                <a:hlinkClick r:id="rId3" action="ppaction://hlinksldjump"/>
              </a:rPr>
              <a:t>Analyzer</a:t>
            </a:r>
            <a:endParaRPr sz="600">
              <a:latin typeface="Arial"/>
              <a:cs typeface="Arial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fld id="{81D60167-4931-47E6-BA6A-407CBD079E47}" type="slidenum">
              <a:rPr spc="-30" dirty="0"/>
              <a:t>31</a:t>
            </a:fld>
            <a:r>
              <a:rPr spc="-55" dirty="0"/>
              <a:t> </a:t>
            </a:r>
            <a:r>
              <a:rPr spc="150" dirty="0"/>
              <a:t>/</a:t>
            </a:r>
            <a:r>
              <a:rPr spc="-55" dirty="0"/>
              <a:t> </a:t>
            </a:r>
            <a:r>
              <a:rPr spc="-35" dirty="0"/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846557219"/>
      </p:ext>
    </p:extLst>
  </p:cSld>
  <p:clrMapOvr>
    <a:masterClrMapping/>
  </p:clrMapOvr>
  <p:transition>
    <p:cut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-12"/>
            <a:ext cx="5760085" cy="350520"/>
          </a:xfrm>
          <a:custGeom>
            <a:avLst/>
            <a:gdLst/>
            <a:ahLst/>
            <a:cxnLst/>
            <a:rect l="l" t="t" r="r" b="b"/>
            <a:pathLst>
              <a:path w="5760085" h="350520">
                <a:moveTo>
                  <a:pt x="5759996" y="0"/>
                </a:moveTo>
                <a:lnTo>
                  <a:pt x="0" y="0"/>
                </a:lnTo>
                <a:lnTo>
                  <a:pt x="0" y="350126"/>
                </a:lnTo>
                <a:lnTo>
                  <a:pt x="5759996" y="350126"/>
                </a:lnTo>
                <a:lnTo>
                  <a:pt x="5759996" y="0"/>
                </a:lnTo>
                <a:close/>
              </a:path>
            </a:pathLst>
          </a:custGeom>
          <a:solidFill>
            <a:srgbClr val="F2F2F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95300" y="59877"/>
            <a:ext cx="2350135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400" spc="-45" dirty="0">
                <a:solidFill>
                  <a:srgbClr val="CC0000"/>
                </a:solidFill>
                <a:latin typeface="Tahoma"/>
                <a:cs typeface="Tahoma"/>
              </a:rPr>
              <a:t>Interval</a:t>
            </a:r>
            <a:r>
              <a:rPr sz="1400" spc="-20" dirty="0">
                <a:solidFill>
                  <a:srgbClr val="CC0000"/>
                </a:solidFill>
                <a:latin typeface="Tahoma"/>
                <a:cs typeface="Tahoma"/>
              </a:rPr>
              <a:t> </a:t>
            </a:r>
            <a:r>
              <a:rPr sz="1400" dirty="0">
                <a:solidFill>
                  <a:srgbClr val="CC0000"/>
                </a:solidFill>
                <a:latin typeface="Tahoma"/>
                <a:cs typeface="Tahoma"/>
              </a:rPr>
              <a:t>Delta</a:t>
            </a:r>
            <a:r>
              <a:rPr sz="1400" spc="-25" dirty="0">
                <a:solidFill>
                  <a:srgbClr val="CC0000"/>
                </a:solidFill>
                <a:latin typeface="Tahoma"/>
                <a:cs typeface="Tahoma"/>
              </a:rPr>
              <a:t> </a:t>
            </a:r>
            <a:r>
              <a:rPr sz="1400" dirty="0">
                <a:solidFill>
                  <a:srgbClr val="CC0000"/>
                </a:solidFill>
                <a:latin typeface="Tahoma"/>
                <a:cs typeface="Tahoma"/>
              </a:rPr>
              <a:t>(After</a:t>
            </a:r>
            <a:r>
              <a:rPr sz="1400" spc="-20" dirty="0">
                <a:solidFill>
                  <a:srgbClr val="CC0000"/>
                </a:solidFill>
                <a:latin typeface="Tahoma"/>
                <a:cs typeface="Tahoma"/>
              </a:rPr>
              <a:t> </a:t>
            </a:r>
            <a:r>
              <a:rPr sz="1400" i="1" spc="300" dirty="0">
                <a:solidFill>
                  <a:srgbClr val="CC0000"/>
                </a:solidFill>
                <a:latin typeface="Arial"/>
                <a:cs typeface="Arial"/>
              </a:rPr>
              <a:t>−</a:t>
            </a:r>
            <a:r>
              <a:rPr sz="1400" i="1" spc="30" dirty="0">
                <a:solidFill>
                  <a:srgbClr val="CC0000"/>
                </a:solidFill>
                <a:latin typeface="Arial"/>
                <a:cs typeface="Arial"/>
              </a:rPr>
              <a:t> </a:t>
            </a:r>
            <a:r>
              <a:rPr sz="1400" spc="-25" dirty="0">
                <a:solidFill>
                  <a:srgbClr val="CC0000"/>
                </a:solidFill>
                <a:latin typeface="Tahoma"/>
                <a:cs typeface="Tahoma"/>
              </a:rPr>
              <a:t>Before)</a:t>
            </a:r>
            <a:endParaRPr sz="1400">
              <a:latin typeface="Tahoma"/>
              <a:cs typeface="Tahoma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49744" y="930157"/>
            <a:ext cx="4660521" cy="1350381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130346"/>
            <a:ext cx="5760085" cy="109855"/>
            <a:chOff x="0" y="3130346"/>
            <a:chExt cx="5760085" cy="109855"/>
          </a:xfrm>
        </p:grpSpPr>
        <p:sp>
          <p:nvSpPr>
            <p:cNvPr id="6" name="object 6"/>
            <p:cNvSpPr/>
            <p:nvPr/>
          </p:nvSpPr>
          <p:spPr>
            <a:xfrm>
              <a:off x="0" y="3130346"/>
              <a:ext cx="1920239" cy="109855"/>
            </a:xfrm>
            <a:custGeom>
              <a:avLst/>
              <a:gdLst/>
              <a:ahLst/>
              <a:cxnLst/>
              <a:rect l="l" t="t" r="r" b="b"/>
              <a:pathLst>
                <a:path w="1920239" h="109855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A3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1919973" y="3130346"/>
              <a:ext cx="1920239" cy="109855"/>
            </a:xfrm>
            <a:custGeom>
              <a:avLst/>
              <a:gdLst/>
              <a:ahLst/>
              <a:cxnLst/>
              <a:rect l="l" t="t" r="r" b="b"/>
              <a:pathLst>
                <a:path w="1920239" h="109855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3839946" y="3130346"/>
              <a:ext cx="1920239" cy="109855"/>
            </a:xfrm>
            <a:custGeom>
              <a:avLst/>
              <a:gdLst/>
              <a:ahLst/>
              <a:cxnLst/>
              <a:rect l="l" t="t" r="r" b="b"/>
              <a:pathLst>
                <a:path w="1920239" h="109855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2367343" y="3135783"/>
            <a:ext cx="1025525" cy="1022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r>
              <a:rPr sz="600" dirty="0">
                <a:solidFill>
                  <a:srgbClr val="8E0000"/>
                </a:solidFill>
                <a:latin typeface="Arial"/>
                <a:cs typeface="Arial"/>
                <a:hlinkClick r:id="rId3" action="ppaction://hlinksldjump"/>
              </a:rPr>
              <a:t>Optimization</a:t>
            </a:r>
            <a:r>
              <a:rPr sz="600" spc="100" dirty="0">
                <a:solidFill>
                  <a:srgbClr val="8E0000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600" dirty="0">
                <a:solidFill>
                  <a:srgbClr val="8E0000"/>
                </a:solidFill>
                <a:latin typeface="Arial"/>
                <a:cs typeface="Arial"/>
                <a:hlinkClick r:id="rId3" action="ppaction://hlinksldjump"/>
              </a:rPr>
              <a:t>Action</a:t>
            </a:r>
            <a:r>
              <a:rPr sz="600" spc="105" dirty="0">
                <a:solidFill>
                  <a:srgbClr val="8E0000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600" spc="-10" dirty="0">
                <a:solidFill>
                  <a:srgbClr val="8E0000"/>
                </a:solidFill>
                <a:latin typeface="Arial"/>
                <a:cs typeface="Arial"/>
                <a:hlinkClick r:id="rId3" action="ppaction://hlinksldjump"/>
              </a:rPr>
              <a:t>Analyzer</a:t>
            </a:r>
            <a:endParaRPr sz="600">
              <a:latin typeface="Arial"/>
              <a:cs typeface="Arial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fld id="{81D60167-4931-47E6-BA6A-407CBD079E47}" type="slidenum">
              <a:rPr spc="-30" dirty="0"/>
              <a:t>32</a:t>
            </a:fld>
            <a:r>
              <a:rPr spc="-55" dirty="0"/>
              <a:t> </a:t>
            </a:r>
            <a:r>
              <a:rPr spc="150" dirty="0"/>
              <a:t>/</a:t>
            </a:r>
            <a:r>
              <a:rPr spc="-55" dirty="0"/>
              <a:t> </a:t>
            </a:r>
            <a:r>
              <a:rPr spc="-35" dirty="0"/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389510299"/>
      </p:ext>
    </p:extLst>
  </p:cSld>
  <p:clrMapOvr>
    <a:masterClrMapping/>
  </p:clrMapOvr>
  <p:transition>
    <p:cut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-12"/>
            <a:ext cx="5760085" cy="350520"/>
          </a:xfrm>
          <a:custGeom>
            <a:avLst/>
            <a:gdLst/>
            <a:ahLst/>
            <a:cxnLst/>
            <a:rect l="l" t="t" r="r" b="b"/>
            <a:pathLst>
              <a:path w="5760085" h="350520">
                <a:moveTo>
                  <a:pt x="5759996" y="0"/>
                </a:moveTo>
                <a:lnTo>
                  <a:pt x="0" y="0"/>
                </a:lnTo>
                <a:lnTo>
                  <a:pt x="0" y="350126"/>
                </a:lnTo>
                <a:lnTo>
                  <a:pt x="5759996" y="350126"/>
                </a:lnTo>
                <a:lnTo>
                  <a:pt x="5759996" y="0"/>
                </a:lnTo>
                <a:close/>
              </a:path>
            </a:pathLst>
          </a:custGeom>
          <a:solidFill>
            <a:srgbClr val="F2F2F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95300" y="59877"/>
            <a:ext cx="2099945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400" dirty="0">
                <a:solidFill>
                  <a:srgbClr val="CC0000"/>
                </a:solidFill>
                <a:latin typeface="Tahoma"/>
                <a:cs typeface="Tahoma"/>
              </a:rPr>
              <a:t>KPI</a:t>
            </a:r>
            <a:r>
              <a:rPr sz="1400" spc="20" dirty="0">
                <a:solidFill>
                  <a:srgbClr val="CC0000"/>
                </a:solidFill>
                <a:latin typeface="Tahoma"/>
                <a:cs typeface="Tahoma"/>
              </a:rPr>
              <a:t> </a:t>
            </a:r>
            <a:r>
              <a:rPr sz="1400" spc="-50" dirty="0">
                <a:solidFill>
                  <a:srgbClr val="CC0000"/>
                </a:solidFill>
                <a:latin typeface="Tahoma"/>
                <a:cs typeface="Tahoma"/>
              </a:rPr>
              <a:t>Impact</a:t>
            </a:r>
            <a:r>
              <a:rPr sz="1400" spc="20" dirty="0">
                <a:solidFill>
                  <a:srgbClr val="CC0000"/>
                </a:solidFill>
                <a:latin typeface="Tahoma"/>
                <a:cs typeface="Tahoma"/>
              </a:rPr>
              <a:t> </a:t>
            </a:r>
            <a:r>
              <a:rPr sz="1400" spc="-45" dirty="0">
                <a:solidFill>
                  <a:srgbClr val="CC0000"/>
                </a:solidFill>
                <a:latin typeface="Tahoma"/>
                <a:cs typeface="Tahoma"/>
              </a:rPr>
              <a:t>Summary</a:t>
            </a:r>
            <a:r>
              <a:rPr sz="1400" spc="20" dirty="0">
                <a:solidFill>
                  <a:srgbClr val="CC0000"/>
                </a:solidFill>
                <a:latin typeface="Tahoma"/>
                <a:cs typeface="Tahoma"/>
              </a:rPr>
              <a:t> </a:t>
            </a:r>
            <a:r>
              <a:rPr sz="1400" spc="-20" dirty="0">
                <a:solidFill>
                  <a:srgbClr val="CC0000"/>
                </a:solidFill>
                <a:latin typeface="Tahoma"/>
                <a:cs typeface="Tahoma"/>
              </a:rPr>
              <a:t>Table</a:t>
            </a:r>
            <a:endParaRPr sz="1400" dirty="0">
              <a:latin typeface="Tahoma"/>
              <a:cs typeface="Tahoma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49744" y="421746"/>
            <a:ext cx="4660270" cy="2621401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130346"/>
            <a:ext cx="5760085" cy="109855"/>
            <a:chOff x="0" y="3130346"/>
            <a:chExt cx="5760085" cy="109855"/>
          </a:xfrm>
        </p:grpSpPr>
        <p:sp>
          <p:nvSpPr>
            <p:cNvPr id="6" name="object 6"/>
            <p:cNvSpPr/>
            <p:nvPr/>
          </p:nvSpPr>
          <p:spPr>
            <a:xfrm>
              <a:off x="0" y="3130346"/>
              <a:ext cx="1920239" cy="109855"/>
            </a:xfrm>
            <a:custGeom>
              <a:avLst/>
              <a:gdLst/>
              <a:ahLst/>
              <a:cxnLst/>
              <a:rect l="l" t="t" r="r" b="b"/>
              <a:pathLst>
                <a:path w="1920239" h="109855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A3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1919973" y="3130346"/>
              <a:ext cx="1920239" cy="109855"/>
            </a:xfrm>
            <a:custGeom>
              <a:avLst/>
              <a:gdLst/>
              <a:ahLst/>
              <a:cxnLst/>
              <a:rect l="l" t="t" r="r" b="b"/>
              <a:pathLst>
                <a:path w="1920239" h="109855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3839946" y="3130346"/>
              <a:ext cx="1920239" cy="109855"/>
            </a:xfrm>
            <a:custGeom>
              <a:avLst/>
              <a:gdLst/>
              <a:ahLst/>
              <a:cxnLst/>
              <a:rect l="l" t="t" r="r" b="b"/>
              <a:pathLst>
                <a:path w="1920239" h="109855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2367343" y="3135783"/>
            <a:ext cx="1025525" cy="1022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r>
              <a:rPr sz="600" dirty="0">
                <a:solidFill>
                  <a:srgbClr val="8E0000"/>
                </a:solidFill>
                <a:latin typeface="Arial"/>
                <a:cs typeface="Arial"/>
                <a:hlinkClick r:id="rId3" action="ppaction://hlinksldjump"/>
              </a:rPr>
              <a:t>Optimization</a:t>
            </a:r>
            <a:r>
              <a:rPr sz="600" spc="100" dirty="0">
                <a:solidFill>
                  <a:srgbClr val="8E0000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600" dirty="0">
                <a:solidFill>
                  <a:srgbClr val="8E0000"/>
                </a:solidFill>
                <a:latin typeface="Arial"/>
                <a:cs typeface="Arial"/>
                <a:hlinkClick r:id="rId3" action="ppaction://hlinksldjump"/>
              </a:rPr>
              <a:t>Action</a:t>
            </a:r>
            <a:r>
              <a:rPr sz="600" spc="105" dirty="0">
                <a:solidFill>
                  <a:srgbClr val="8E0000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600" spc="-10" dirty="0">
                <a:solidFill>
                  <a:srgbClr val="8E0000"/>
                </a:solidFill>
                <a:latin typeface="Arial"/>
                <a:cs typeface="Arial"/>
                <a:hlinkClick r:id="rId3" action="ppaction://hlinksldjump"/>
              </a:rPr>
              <a:t>Analyzer</a:t>
            </a:r>
            <a:endParaRPr sz="600">
              <a:latin typeface="Arial"/>
              <a:cs typeface="Arial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fld id="{81D60167-4931-47E6-BA6A-407CBD079E47}" type="slidenum">
              <a:rPr spc="-30" dirty="0"/>
              <a:t>33</a:t>
            </a:fld>
            <a:r>
              <a:rPr spc="-55" dirty="0"/>
              <a:t> </a:t>
            </a:r>
            <a:r>
              <a:rPr spc="150" dirty="0"/>
              <a:t>/</a:t>
            </a:r>
            <a:r>
              <a:rPr spc="-55" dirty="0"/>
              <a:t> </a:t>
            </a:r>
            <a:r>
              <a:rPr spc="-35" dirty="0"/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3225215296"/>
      </p:ext>
    </p:extLst>
  </p:cSld>
  <p:clrMapOvr>
    <a:masterClrMapping/>
  </p:clrMapOvr>
  <p:transition>
    <p:cut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/>
              <a:t>The</a:t>
            </a:r>
            <a:r>
              <a:rPr spc="-80" dirty="0"/>
              <a:t> </a:t>
            </a:r>
            <a:r>
              <a:rPr spc="-30" dirty="0"/>
              <a:t>Five-</a:t>
            </a:r>
            <a:r>
              <a:rPr dirty="0"/>
              <a:t>Step</a:t>
            </a:r>
            <a:r>
              <a:rPr spc="-75" dirty="0"/>
              <a:t> </a:t>
            </a:r>
            <a:r>
              <a:rPr dirty="0"/>
              <a:t>Analyst</a:t>
            </a:r>
            <a:r>
              <a:rPr spc="-75" dirty="0"/>
              <a:t> </a:t>
            </a:r>
            <a:r>
              <a:rPr spc="-35" dirty="0"/>
              <a:t>Workflow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1167442" y="552012"/>
            <a:ext cx="3425190" cy="311150"/>
            <a:chOff x="1167442" y="552012"/>
            <a:chExt cx="3425190" cy="311150"/>
          </a:xfrm>
        </p:grpSpPr>
        <p:sp>
          <p:nvSpPr>
            <p:cNvPr id="4" name="object 4"/>
            <p:cNvSpPr/>
            <p:nvPr/>
          </p:nvSpPr>
          <p:spPr>
            <a:xfrm>
              <a:off x="1169982" y="554552"/>
              <a:ext cx="3420110" cy="306070"/>
            </a:xfrm>
            <a:custGeom>
              <a:avLst/>
              <a:gdLst/>
              <a:ahLst/>
              <a:cxnLst/>
              <a:rect l="l" t="t" r="r" b="b"/>
              <a:pathLst>
                <a:path w="3420110" h="306069">
                  <a:moveTo>
                    <a:pt x="3369433" y="0"/>
                  </a:moveTo>
                  <a:lnTo>
                    <a:pt x="50610" y="0"/>
                  </a:lnTo>
                  <a:lnTo>
                    <a:pt x="30910" y="3977"/>
                  </a:lnTo>
                  <a:lnTo>
                    <a:pt x="14823" y="14823"/>
                  </a:lnTo>
                  <a:lnTo>
                    <a:pt x="3977" y="30910"/>
                  </a:lnTo>
                  <a:lnTo>
                    <a:pt x="0" y="50610"/>
                  </a:lnTo>
                  <a:lnTo>
                    <a:pt x="0" y="255394"/>
                  </a:lnTo>
                  <a:lnTo>
                    <a:pt x="3977" y="275095"/>
                  </a:lnTo>
                  <a:lnTo>
                    <a:pt x="14823" y="291182"/>
                  </a:lnTo>
                  <a:lnTo>
                    <a:pt x="30910" y="302028"/>
                  </a:lnTo>
                  <a:lnTo>
                    <a:pt x="50610" y="306005"/>
                  </a:lnTo>
                  <a:lnTo>
                    <a:pt x="3369433" y="306005"/>
                  </a:lnTo>
                  <a:lnTo>
                    <a:pt x="3389133" y="302028"/>
                  </a:lnTo>
                  <a:lnTo>
                    <a:pt x="3405220" y="291182"/>
                  </a:lnTo>
                  <a:lnTo>
                    <a:pt x="3416066" y="275095"/>
                  </a:lnTo>
                  <a:lnTo>
                    <a:pt x="3420043" y="255394"/>
                  </a:lnTo>
                  <a:lnTo>
                    <a:pt x="3420043" y="50610"/>
                  </a:lnTo>
                  <a:lnTo>
                    <a:pt x="3416066" y="30910"/>
                  </a:lnTo>
                  <a:lnTo>
                    <a:pt x="3405220" y="14823"/>
                  </a:lnTo>
                  <a:lnTo>
                    <a:pt x="3389133" y="3977"/>
                  </a:lnTo>
                  <a:lnTo>
                    <a:pt x="3369433" y="0"/>
                  </a:lnTo>
                  <a:close/>
                </a:path>
              </a:pathLst>
            </a:custGeom>
            <a:solidFill>
              <a:srgbClr val="E7F6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1169982" y="554552"/>
              <a:ext cx="3420110" cy="306070"/>
            </a:xfrm>
            <a:custGeom>
              <a:avLst/>
              <a:gdLst/>
              <a:ahLst/>
              <a:cxnLst/>
              <a:rect l="l" t="t" r="r" b="b"/>
              <a:pathLst>
                <a:path w="3420110" h="306069">
                  <a:moveTo>
                    <a:pt x="3369433" y="0"/>
                  </a:moveTo>
                  <a:lnTo>
                    <a:pt x="50610" y="0"/>
                  </a:lnTo>
                  <a:lnTo>
                    <a:pt x="30910" y="3977"/>
                  </a:lnTo>
                  <a:lnTo>
                    <a:pt x="14823" y="14823"/>
                  </a:lnTo>
                  <a:lnTo>
                    <a:pt x="3977" y="30910"/>
                  </a:lnTo>
                  <a:lnTo>
                    <a:pt x="0" y="50610"/>
                  </a:lnTo>
                  <a:lnTo>
                    <a:pt x="0" y="255394"/>
                  </a:lnTo>
                  <a:lnTo>
                    <a:pt x="3977" y="275095"/>
                  </a:lnTo>
                  <a:lnTo>
                    <a:pt x="14823" y="291182"/>
                  </a:lnTo>
                  <a:lnTo>
                    <a:pt x="30910" y="302028"/>
                  </a:lnTo>
                  <a:lnTo>
                    <a:pt x="50610" y="306005"/>
                  </a:lnTo>
                  <a:lnTo>
                    <a:pt x="3369433" y="306005"/>
                  </a:lnTo>
                  <a:lnTo>
                    <a:pt x="3389133" y="302028"/>
                  </a:lnTo>
                  <a:lnTo>
                    <a:pt x="3405220" y="291182"/>
                  </a:lnTo>
                  <a:lnTo>
                    <a:pt x="3416066" y="275095"/>
                  </a:lnTo>
                  <a:lnTo>
                    <a:pt x="3420043" y="255394"/>
                  </a:lnTo>
                  <a:lnTo>
                    <a:pt x="3420043" y="50610"/>
                  </a:lnTo>
                  <a:lnTo>
                    <a:pt x="3416066" y="30910"/>
                  </a:lnTo>
                  <a:lnTo>
                    <a:pt x="3405220" y="14823"/>
                  </a:lnTo>
                  <a:lnTo>
                    <a:pt x="3389133" y="3977"/>
                  </a:lnTo>
                  <a:lnTo>
                    <a:pt x="3369433" y="0"/>
                  </a:lnTo>
                  <a:close/>
                </a:path>
              </a:pathLst>
            </a:custGeom>
            <a:ln w="506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1794294" y="617828"/>
            <a:ext cx="2171700" cy="135293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b="1" baseline="3472" dirty="0">
                <a:latin typeface="Arial"/>
                <a:cs typeface="Arial"/>
              </a:rPr>
              <a:t>1</a:t>
            </a:r>
            <a:r>
              <a:rPr lang="en-US" sz="1200" b="1" baseline="3472" dirty="0">
                <a:latin typeface="Arial"/>
                <a:cs typeface="Arial"/>
              </a:rPr>
              <a:t>-</a:t>
            </a:r>
            <a:r>
              <a:rPr sz="1200" b="1" spc="502" baseline="3472" dirty="0">
                <a:latin typeface="Arial"/>
                <a:cs typeface="Arial"/>
              </a:rPr>
              <a:t> </a:t>
            </a:r>
            <a:r>
              <a:rPr sz="800" dirty="0">
                <a:latin typeface="Arial"/>
                <a:cs typeface="Arial"/>
              </a:rPr>
              <a:t>Action</a:t>
            </a:r>
            <a:r>
              <a:rPr sz="800" spc="55" dirty="0">
                <a:latin typeface="Arial"/>
                <a:cs typeface="Arial"/>
              </a:rPr>
              <a:t> </a:t>
            </a:r>
            <a:r>
              <a:rPr sz="800" dirty="0">
                <a:latin typeface="Arial"/>
                <a:cs typeface="Arial"/>
              </a:rPr>
              <a:t>Timeline</a:t>
            </a:r>
            <a:r>
              <a:rPr sz="800" spc="55" dirty="0">
                <a:latin typeface="Arial"/>
                <a:cs typeface="Arial"/>
              </a:rPr>
              <a:t> </a:t>
            </a:r>
            <a:r>
              <a:rPr sz="800" dirty="0">
                <a:latin typeface="Arial"/>
                <a:cs typeface="Arial"/>
              </a:rPr>
              <a:t>—</a:t>
            </a:r>
            <a:r>
              <a:rPr sz="800" spc="55" dirty="0">
                <a:latin typeface="Arial"/>
                <a:cs typeface="Arial"/>
              </a:rPr>
              <a:t> </a:t>
            </a:r>
            <a:r>
              <a:rPr sz="800" spc="-30" dirty="0">
                <a:latin typeface="Arial"/>
                <a:cs typeface="Arial"/>
              </a:rPr>
              <a:t>browse</a:t>
            </a:r>
            <a:r>
              <a:rPr sz="800" spc="55" dirty="0">
                <a:latin typeface="Arial"/>
                <a:cs typeface="Arial"/>
              </a:rPr>
              <a:t> </a:t>
            </a:r>
            <a:r>
              <a:rPr sz="800" dirty="0">
                <a:latin typeface="Arial"/>
                <a:cs typeface="Arial"/>
              </a:rPr>
              <a:t>all</a:t>
            </a:r>
            <a:r>
              <a:rPr sz="800" spc="55" dirty="0">
                <a:latin typeface="Arial"/>
                <a:cs typeface="Arial"/>
              </a:rPr>
              <a:t> </a:t>
            </a:r>
            <a:r>
              <a:rPr sz="800" dirty="0">
                <a:latin typeface="Arial"/>
                <a:cs typeface="Arial"/>
              </a:rPr>
              <a:t>Action</a:t>
            </a:r>
            <a:r>
              <a:rPr sz="800" spc="55" dirty="0">
                <a:latin typeface="Arial"/>
                <a:cs typeface="Arial"/>
              </a:rPr>
              <a:t> </a:t>
            </a:r>
            <a:r>
              <a:rPr sz="800" spc="-10" dirty="0">
                <a:latin typeface="Arial"/>
                <a:cs typeface="Arial"/>
              </a:rPr>
              <a:t>Hunks</a:t>
            </a:r>
            <a:endParaRPr sz="800" dirty="0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1167442" y="1007080"/>
            <a:ext cx="3425190" cy="311150"/>
            <a:chOff x="1167442" y="1007080"/>
            <a:chExt cx="3425190" cy="311150"/>
          </a:xfrm>
        </p:grpSpPr>
        <p:sp>
          <p:nvSpPr>
            <p:cNvPr id="8" name="object 8"/>
            <p:cNvSpPr/>
            <p:nvPr/>
          </p:nvSpPr>
          <p:spPr>
            <a:xfrm>
              <a:off x="1169982" y="1009620"/>
              <a:ext cx="3420110" cy="306070"/>
            </a:xfrm>
            <a:custGeom>
              <a:avLst/>
              <a:gdLst/>
              <a:ahLst/>
              <a:cxnLst/>
              <a:rect l="l" t="t" r="r" b="b"/>
              <a:pathLst>
                <a:path w="3420110" h="306069">
                  <a:moveTo>
                    <a:pt x="3369433" y="0"/>
                  </a:moveTo>
                  <a:lnTo>
                    <a:pt x="50610" y="0"/>
                  </a:lnTo>
                  <a:lnTo>
                    <a:pt x="30910" y="3977"/>
                  </a:lnTo>
                  <a:lnTo>
                    <a:pt x="14823" y="14823"/>
                  </a:lnTo>
                  <a:lnTo>
                    <a:pt x="3977" y="30910"/>
                  </a:lnTo>
                  <a:lnTo>
                    <a:pt x="0" y="50610"/>
                  </a:lnTo>
                  <a:lnTo>
                    <a:pt x="0" y="255395"/>
                  </a:lnTo>
                  <a:lnTo>
                    <a:pt x="3977" y="275095"/>
                  </a:lnTo>
                  <a:lnTo>
                    <a:pt x="14823" y="291182"/>
                  </a:lnTo>
                  <a:lnTo>
                    <a:pt x="30910" y="302028"/>
                  </a:lnTo>
                  <a:lnTo>
                    <a:pt x="50610" y="306005"/>
                  </a:lnTo>
                  <a:lnTo>
                    <a:pt x="3369433" y="306005"/>
                  </a:lnTo>
                  <a:lnTo>
                    <a:pt x="3389133" y="302028"/>
                  </a:lnTo>
                  <a:lnTo>
                    <a:pt x="3405220" y="291182"/>
                  </a:lnTo>
                  <a:lnTo>
                    <a:pt x="3416066" y="275095"/>
                  </a:lnTo>
                  <a:lnTo>
                    <a:pt x="3420043" y="255395"/>
                  </a:lnTo>
                  <a:lnTo>
                    <a:pt x="3420043" y="50610"/>
                  </a:lnTo>
                  <a:lnTo>
                    <a:pt x="3416066" y="30910"/>
                  </a:lnTo>
                  <a:lnTo>
                    <a:pt x="3405220" y="14823"/>
                  </a:lnTo>
                  <a:lnTo>
                    <a:pt x="3389133" y="3977"/>
                  </a:lnTo>
                  <a:lnTo>
                    <a:pt x="3369433" y="0"/>
                  </a:lnTo>
                  <a:close/>
                </a:path>
              </a:pathLst>
            </a:custGeom>
            <a:solidFill>
              <a:srgbClr val="E7F6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1169982" y="1009620"/>
              <a:ext cx="3420110" cy="306070"/>
            </a:xfrm>
            <a:custGeom>
              <a:avLst/>
              <a:gdLst/>
              <a:ahLst/>
              <a:cxnLst/>
              <a:rect l="l" t="t" r="r" b="b"/>
              <a:pathLst>
                <a:path w="3420110" h="306069">
                  <a:moveTo>
                    <a:pt x="3369433" y="0"/>
                  </a:moveTo>
                  <a:lnTo>
                    <a:pt x="50610" y="0"/>
                  </a:lnTo>
                  <a:lnTo>
                    <a:pt x="30910" y="3977"/>
                  </a:lnTo>
                  <a:lnTo>
                    <a:pt x="14823" y="14823"/>
                  </a:lnTo>
                  <a:lnTo>
                    <a:pt x="3977" y="30910"/>
                  </a:lnTo>
                  <a:lnTo>
                    <a:pt x="0" y="50610"/>
                  </a:lnTo>
                  <a:lnTo>
                    <a:pt x="0" y="255395"/>
                  </a:lnTo>
                  <a:lnTo>
                    <a:pt x="3977" y="275095"/>
                  </a:lnTo>
                  <a:lnTo>
                    <a:pt x="14823" y="291182"/>
                  </a:lnTo>
                  <a:lnTo>
                    <a:pt x="30910" y="302028"/>
                  </a:lnTo>
                  <a:lnTo>
                    <a:pt x="50610" y="306005"/>
                  </a:lnTo>
                  <a:lnTo>
                    <a:pt x="3369433" y="306005"/>
                  </a:lnTo>
                  <a:lnTo>
                    <a:pt x="3389133" y="302028"/>
                  </a:lnTo>
                  <a:lnTo>
                    <a:pt x="3405220" y="291182"/>
                  </a:lnTo>
                  <a:lnTo>
                    <a:pt x="3416066" y="275095"/>
                  </a:lnTo>
                  <a:lnTo>
                    <a:pt x="3420043" y="255395"/>
                  </a:lnTo>
                  <a:lnTo>
                    <a:pt x="3420043" y="50610"/>
                  </a:lnTo>
                  <a:lnTo>
                    <a:pt x="3416066" y="30910"/>
                  </a:lnTo>
                  <a:lnTo>
                    <a:pt x="3405220" y="14823"/>
                  </a:lnTo>
                  <a:lnTo>
                    <a:pt x="3389133" y="3977"/>
                  </a:lnTo>
                  <a:lnTo>
                    <a:pt x="3369433" y="0"/>
                  </a:lnTo>
                  <a:close/>
                </a:path>
              </a:pathLst>
            </a:custGeom>
            <a:ln w="506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1514411" y="1072894"/>
            <a:ext cx="2731135" cy="135293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b="1" baseline="3472" dirty="0">
                <a:latin typeface="Arial"/>
                <a:cs typeface="Arial"/>
              </a:rPr>
              <a:t>2</a:t>
            </a:r>
            <a:r>
              <a:rPr lang="en-US" sz="1200" b="1" baseline="3472" dirty="0">
                <a:latin typeface="Arial"/>
                <a:cs typeface="Arial"/>
              </a:rPr>
              <a:t>-</a:t>
            </a:r>
            <a:r>
              <a:rPr sz="1200" b="1" spc="457" baseline="3472" dirty="0">
                <a:latin typeface="Arial"/>
                <a:cs typeface="Arial"/>
              </a:rPr>
              <a:t> </a:t>
            </a:r>
            <a:r>
              <a:rPr sz="800" spc="-10" dirty="0">
                <a:latin typeface="Arial"/>
                <a:cs typeface="Arial"/>
              </a:rPr>
              <a:t>Select</a:t>
            </a:r>
            <a:r>
              <a:rPr sz="800" spc="40" dirty="0">
                <a:latin typeface="Arial"/>
                <a:cs typeface="Arial"/>
              </a:rPr>
              <a:t> </a:t>
            </a:r>
            <a:r>
              <a:rPr sz="800" dirty="0">
                <a:latin typeface="Arial"/>
                <a:cs typeface="Arial"/>
              </a:rPr>
              <a:t>Action</a:t>
            </a:r>
            <a:r>
              <a:rPr sz="800" spc="40" dirty="0">
                <a:latin typeface="Arial"/>
                <a:cs typeface="Arial"/>
              </a:rPr>
              <a:t> </a:t>
            </a:r>
            <a:r>
              <a:rPr sz="800" dirty="0">
                <a:latin typeface="Arial"/>
                <a:cs typeface="Arial"/>
              </a:rPr>
              <a:t>Hunk</a:t>
            </a:r>
            <a:r>
              <a:rPr sz="800" spc="40" dirty="0">
                <a:latin typeface="Arial"/>
                <a:cs typeface="Arial"/>
              </a:rPr>
              <a:t> </a:t>
            </a:r>
            <a:r>
              <a:rPr sz="800" spc="190" dirty="0">
                <a:latin typeface="Arial"/>
                <a:cs typeface="Arial"/>
              </a:rPr>
              <a:t>+</a:t>
            </a:r>
            <a:r>
              <a:rPr sz="800" spc="40" dirty="0">
                <a:latin typeface="Arial"/>
                <a:cs typeface="Arial"/>
              </a:rPr>
              <a:t> </a:t>
            </a:r>
            <a:r>
              <a:rPr sz="800" dirty="0">
                <a:latin typeface="Arial"/>
                <a:cs typeface="Arial"/>
              </a:rPr>
              <a:t>KPI</a:t>
            </a:r>
            <a:r>
              <a:rPr sz="800" spc="40" dirty="0">
                <a:latin typeface="Arial"/>
                <a:cs typeface="Arial"/>
              </a:rPr>
              <a:t> </a:t>
            </a:r>
            <a:r>
              <a:rPr sz="800" spc="190" dirty="0">
                <a:latin typeface="Arial"/>
                <a:cs typeface="Arial"/>
              </a:rPr>
              <a:t>+</a:t>
            </a:r>
            <a:r>
              <a:rPr sz="800" spc="45" dirty="0">
                <a:latin typeface="Arial"/>
                <a:cs typeface="Arial"/>
              </a:rPr>
              <a:t> </a:t>
            </a:r>
            <a:r>
              <a:rPr sz="800" spc="-10" dirty="0">
                <a:latin typeface="Arial"/>
                <a:cs typeface="Arial"/>
              </a:rPr>
              <a:t>evaluation</a:t>
            </a:r>
            <a:r>
              <a:rPr sz="800" spc="40" dirty="0">
                <a:latin typeface="Arial"/>
                <a:cs typeface="Arial"/>
              </a:rPr>
              <a:t> </a:t>
            </a:r>
            <a:r>
              <a:rPr sz="800" dirty="0">
                <a:latin typeface="Arial"/>
                <a:cs typeface="Arial"/>
              </a:rPr>
              <a:t>window</a:t>
            </a:r>
            <a:r>
              <a:rPr sz="800" spc="40" dirty="0">
                <a:latin typeface="Arial"/>
                <a:cs typeface="Arial"/>
              </a:rPr>
              <a:t> </a:t>
            </a:r>
            <a:r>
              <a:rPr sz="800" spc="-10" dirty="0">
                <a:latin typeface="Arial"/>
                <a:cs typeface="Arial"/>
              </a:rPr>
              <a:t>options</a:t>
            </a:r>
            <a:endParaRPr sz="800" dirty="0">
              <a:latin typeface="Arial"/>
              <a:cs typeface="Arial"/>
            </a:endParaRPr>
          </a:p>
        </p:txBody>
      </p:sp>
      <p:grpSp>
        <p:nvGrpSpPr>
          <p:cNvPr id="11" name="object 11"/>
          <p:cNvGrpSpPr/>
          <p:nvPr/>
        </p:nvGrpSpPr>
        <p:grpSpPr>
          <a:xfrm>
            <a:off x="1167442" y="1462149"/>
            <a:ext cx="3425190" cy="311150"/>
            <a:chOff x="1167442" y="1462149"/>
            <a:chExt cx="3425190" cy="311150"/>
          </a:xfrm>
        </p:grpSpPr>
        <p:sp>
          <p:nvSpPr>
            <p:cNvPr id="12" name="object 12"/>
            <p:cNvSpPr/>
            <p:nvPr/>
          </p:nvSpPr>
          <p:spPr>
            <a:xfrm>
              <a:off x="1169982" y="1464689"/>
              <a:ext cx="3420110" cy="306070"/>
            </a:xfrm>
            <a:custGeom>
              <a:avLst/>
              <a:gdLst/>
              <a:ahLst/>
              <a:cxnLst/>
              <a:rect l="l" t="t" r="r" b="b"/>
              <a:pathLst>
                <a:path w="3420110" h="306069">
                  <a:moveTo>
                    <a:pt x="3369433" y="0"/>
                  </a:moveTo>
                  <a:lnTo>
                    <a:pt x="50610" y="0"/>
                  </a:lnTo>
                  <a:lnTo>
                    <a:pt x="30910" y="3977"/>
                  </a:lnTo>
                  <a:lnTo>
                    <a:pt x="14823" y="14823"/>
                  </a:lnTo>
                  <a:lnTo>
                    <a:pt x="3977" y="30910"/>
                  </a:lnTo>
                  <a:lnTo>
                    <a:pt x="0" y="50610"/>
                  </a:lnTo>
                  <a:lnTo>
                    <a:pt x="0" y="255394"/>
                  </a:lnTo>
                  <a:lnTo>
                    <a:pt x="3977" y="275094"/>
                  </a:lnTo>
                  <a:lnTo>
                    <a:pt x="14823" y="291182"/>
                  </a:lnTo>
                  <a:lnTo>
                    <a:pt x="30910" y="302028"/>
                  </a:lnTo>
                  <a:lnTo>
                    <a:pt x="50610" y="306005"/>
                  </a:lnTo>
                  <a:lnTo>
                    <a:pt x="3369433" y="306005"/>
                  </a:lnTo>
                  <a:lnTo>
                    <a:pt x="3389133" y="302028"/>
                  </a:lnTo>
                  <a:lnTo>
                    <a:pt x="3405220" y="291182"/>
                  </a:lnTo>
                  <a:lnTo>
                    <a:pt x="3416066" y="275094"/>
                  </a:lnTo>
                  <a:lnTo>
                    <a:pt x="3420043" y="255394"/>
                  </a:lnTo>
                  <a:lnTo>
                    <a:pt x="3420043" y="50610"/>
                  </a:lnTo>
                  <a:lnTo>
                    <a:pt x="3416066" y="30910"/>
                  </a:lnTo>
                  <a:lnTo>
                    <a:pt x="3405220" y="14823"/>
                  </a:lnTo>
                  <a:lnTo>
                    <a:pt x="3389133" y="3977"/>
                  </a:lnTo>
                  <a:lnTo>
                    <a:pt x="3369433" y="0"/>
                  </a:lnTo>
                  <a:close/>
                </a:path>
              </a:pathLst>
            </a:custGeom>
            <a:solidFill>
              <a:srgbClr val="E7F6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1169982" y="1464689"/>
              <a:ext cx="3420110" cy="306070"/>
            </a:xfrm>
            <a:custGeom>
              <a:avLst/>
              <a:gdLst/>
              <a:ahLst/>
              <a:cxnLst/>
              <a:rect l="l" t="t" r="r" b="b"/>
              <a:pathLst>
                <a:path w="3420110" h="306069">
                  <a:moveTo>
                    <a:pt x="3369433" y="0"/>
                  </a:moveTo>
                  <a:lnTo>
                    <a:pt x="50610" y="0"/>
                  </a:lnTo>
                  <a:lnTo>
                    <a:pt x="30910" y="3977"/>
                  </a:lnTo>
                  <a:lnTo>
                    <a:pt x="14823" y="14823"/>
                  </a:lnTo>
                  <a:lnTo>
                    <a:pt x="3977" y="30910"/>
                  </a:lnTo>
                  <a:lnTo>
                    <a:pt x="0" y="50610"/>
                  </a:lnTo>
                  <a:lnTo>
                    <a:pt x="0" y="255394"/>
                  </a:lnTo>
                  <a:lnTo>
                    <a:pt x="3977" y="275094"/>
                  </a:lnTo>
                  <a:lnTo>
                    <a:pt x="14823" y="291182"/>
                  </a:lnTo>
                  <a:lnTo>
                    <a:pt x="30910" y="302028"/>
                  </a:lnTo>
                  <a:lnTo>
                    <a:pt x="50610" y="306005"/>
                  </a:lnTo>
                  <a:lnTo>
                    <a:pt x="3369433" y="306005"/>
                  </a:lnTo>
                  <a:lnTo>
                    <a:pt x="3389133" y="302028"/>
                  </a:lnTo>
                  <a:lnTo>
                    <a:pt x="3405220" y="291182"/>
                  </a:lnTo>
                  <a:lnTo>
                    <a:pt x="3416066" y="275094"/>
                  </a:lnTo>
                  <a:lnTo>
                    <a:pt x="3420043" y="255394"/>
                  </a:lnTo>
                  <a:lnTo>
                    <a:pt x="3420043" y="50610"/>
                  </a:lnTo>
                  <a:lnTo>
                    <a:pt x="3416066" y="30910"/>
                  </a:lnTo>
                  <a:lnTo>
                    <a:pt x="3405220" y="14823"/>
                  </a:lnTo>
                  <a:lnTo>
                    <a:pt x="3389133" y="3977"/>
                  </a:lnTo>
                  <a:lnTo>
                    <a:pt x="3369433" y="0"/>
                  </a:lnTo>
                  <a:close/>
                </a:path>
              </a:pathLst>
            </a:custGeom>
            <a:ln w="506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" name="object 14"/>
          <p:cNvSpPr txBox="1"/>
          <p:nvPr/>
        </p:nvSpPr>
        <p:spPr>
          <a:xfrm>
            <a:off x="1549996" y="1529065"/>
            <a:ext cx="2660650" cy="135293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b="1" baseline="3472" dirty="0">
                <a:latin typeface="Arial"/>
                <a:cs typeface="Arial"/>
              </a:rPr>
              <a:t>3</a:t>
            </a:r>
            <a:r>
              <a:rPr lang="en-US" sz="1200" b="1" baseline="3472" dirty="0">
                <a:latin typeface="Arial"/>
                <a:cs typeface="Arial"/>
              </a:rPr>
              <a:t>-</a:t>
            </a:r>
            <a:r>
              <a:rPr sz="1200" b="1" spc="434" baseline="3472" dirty="0">
                <a:latin typeface="Arial"/>
                <a:cs typeface="Arial"/>
              </a:rPr>
              <a:t> </a:t>
            </a:r>
            <a:r>
              <a:rPr sz="800" dirty="0">
                <a:latin typeface="Arial"/>
                <a:cs typeface="Arial"/>
              </a:rPr>
              <a:t>KPI</a:t>
            </a:r>
            <a:r>
              <a:rPr sz="800" spc="35" dirty="0">
                <a:latin typeface="Arial"/>
                <a:cs typeface="Arial"/>
              </a:rPr>
              <a:t> </a:t>
            </a:r>
            <a:r>
              <a:rPr sz="800" dirty="0">
                <a:latin typeface="Arial"/>
                <a:cs typeface="Arial"/>
              </a:rPr>
              <a:t>Trend</a:t>
            </a:r>
            <a:r>
              <a:rPr sz="800" spc="35" dirty="0">
                <a:latin typeface="Arial"/>
                <a:cs typeface="Arial"/>
              </a:rPr>
              <a:t> </a:t>
            </a:r>
            <a:r>
              <a:rPr sz="800" dirty="0">
                <a:latin typeface="Arial"/>
                <a:cs typeface="Arial"/>
              </a:rPr>
              <a:t>—</a:t>
            </a:r>
            <a:r>
              <a:rPr sz="800" spc="35" dirty="0">
                <a:latin typeface="Arial"/>
                <a:cs typeface="Arial"/>
              </a:rPr>
              <a:t> </a:t>
            </a:r>
            <a:r>
              <a:rPr sz="800" spc="-10" dirty="0">
                <a:latin typeface="Arial"/>
                <a:cs typeface="Arial"/>
              </a:rPr>
              <a:t>Before</a:t>
            </a:r>
            <a:r>
              <a:rPr sz="800" spc="35" dirty="0">
                <a:latin typeface="Arial"/>
                <a:cs typeface="Arial"/>
              </a:rPr>
              <a:t> </a:t>
            </a:r>
            <a:r>
              <a:rPr sz="800" dirty="0">
                <a:latin typeface="Arial"/>
                <a:cs typeface="Arial"/>
              </a:rPr>
              <a:t>vs.</a:t>
            </a:r>
            <a:r>
              <a:rPr sz="800" spc="120" dirty="0">
                <a:latin typeface="Arial"/>
                <a:cs typeface="Arial"/>
              </a:rPr>
              <a:t> </a:t>
            </a:r>
            <a:r>
              <a:rPr sz="800" dirty="0">
                <a:latin typeface="Arial"/>
                <a:cs typeface="Arial"/>
              </a:rPr>
              <a:t>After</a:t>
            </a:r>
            <a:r>
              <a:rPr sz="800" spc="35" dirty="0">
                <a:latin typeface="Arial"/>
                <a:cs typeface="Arial"/>
              </a:rPr>
              <a:t> </a:t>
            </a:r>
            <a:r>
              <a:rPr sz="800" spc="-10" dirty="0">
                <a:latin typeface="Arial"/>
                <a:cs typeface="Arial"/>
              </a:rPr>
              <a:t>(aggregated</a:t>
            </a:r>
            <a:r>
              <a:rPr sz="800" spc="35" dirty="0">
                <a:latin typeface="Arial"/>
                <a:cs typeface="Arial"/>
              </a:rPr>
              <a:t> </a:t>
            </a:r>
            <a:r>
              <a:rPr sz="800" dirty="0">
                <a:latin typeface="Arial"/>
                <a:cs typeface="Arial"/>
              </a:rPr>
              <a:t>or</a:t>
            </a:r>
            <a:r>
              <a:rPr sz="800" spc="35" dirty="0">
                <a:latin typeface="Arial"/>
                <a:cs typeface="Arial"/>
              </a:rPr>
              <a:t> </a:t>
            </a:r>
            <a:r>
              <a:rPr sz="800" spc="-20" dirty="0">
                <a:latin typeface="Arial"/>
                <a:cs typeface="Arial"/>
              </a:rPr>
              <a:t>per-day)</a:t>
            </a:r>
            <a:endParaRPr sz="800" dirty="0">
              <a:latin typeface="Arial"/>
              <a:cs typeface="Arial"/>
            </a:endParaRPr>
          </a:p>
        </p:txBody>
      </p:sp>
      <p:grpSp>
        <p:nvGrpSpPr>
          <p:cNvPr id="15" name="object 15"/>
          <p:cNvGrpSpPr/>
          <p:nvPr/>
        </p:nvGrpSpPr>
        <p:grpSpPr>
          <a:xfrm>
            <a:off x="1167442" y="1917217"/>
            <a:ext cx="3425190" cy="311150"/>
            <a:chOff x="1167442" y="1917217"/>
            <a:chExt cx="3425190" cy="311150"/>
          </a:xfrm>
        </p:grpSpPr>
        <p:sp>
          <p:nvSpPr>
            <p:cNvPr id="16" name="object 16"/>
            <p:cNvSpPr/>
            <p:nvPr/>
          </p:nvSpPr>
          <p:spPr>
            <a:xfrm>
              <a:off x="1169982" y="1919757"/>
              <a:ext cx="3420110" cy="306070"/>
            </a:xfrm>
            <a:custGeom>
              <a:avLst/>
              <a:gdLst/>
              <a:ahLst/>
              <a:cxnLst/>
              <a:rect l="l" t="t" r="r" b="b"/>
              <a:pathLst>
                <a:path w="3420110" h="306069">
                  <a:moveTo>
                    <a:pt x="3369433" y="0"/>
                  </a:moveTo>
                  <a:lnTo>
                    <a:pt x="50610" y="0"/>
                  </a:lnTo>
                  <a:lnTo>
                    <a:pt x="30910" y="3977"/>
                  </a:lnTo>
                  <a:lnTo>
                    <a:pt x="14823" y="14823"/>
                  </a:lnTo>
                  <a:lnTo>
                    <a:pt x="3977" y="30910"/>
                  </a:lnTo>
                  <a:lnTo>
                    <a:pt x="0" y="50610"/>
                  </a:lnTo>
                  <a:lnTo>
                    <a:pt x="0" y="255394"/>
                  </a:lnTo>
                  <a:lnTo>
                    <a:pt x="3977" y="275095"/>
                  </a:lnTo>
                  <a:lnTo>
                    <a:pt x="14823" y="291182"/>
                  </a:lnTo>
                  <a:lnTo>
                    <a:pt x="30910" y="302028"/>
                  </a:lnTo>
                  <a:lnTo>
                    <a:pt x="50610" y="306005"/>
                  </a:lnTo>
                  <a:lnTo>
                    <a:pt x="3369433" y="306005"/>
                  </a:lnTo>
                  <a:lnTo>
                    <a:pt x="3389133" y="302028"/>
                  </a:lnTo>
                  <a:lnTo>
                    <a:pt x="3405220" y="291182"/>
                  </a:lnTo>
                  <a:lnTo>
                    <a:pt x="3416066" y="275095"/>
                  </a:lnTo>
                  <a:lnTo>
                    <a:pt x="3420043" y="255394"/>
                  </a:lnTo>
                  <a:lnTo>
                    <a:pt x="3420043" y="50610"/>
                  </a:lnTo>
                  <a:lnTo>
                    <a:pt x="3416066" y="30910"/>
                  </a:lnTo>
                  <a:lnTo>
                    <a:pt x="3405220" y="14823"/>
                  </a:lnTo>
                  <a:lnTo>
                    <a:pt x="3389133" y="3977"/>
                  </a:lnTo>
                  <a:lnTo>
                    <a:pt x="3369433" y="0"/>
                  </a:lnTo>
                  <a:close/>
                </a:path>
              </a:pathLst>
            </a:custGeom>
            <a:solidFill>
              <a:srgbClr val="E7F6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1169982" y="1919757"/>
              <a:ext cx="3420110" cy="306070"/>
            </a:xfrm>
            <a:custGeom>
              <a:avLst/>
              <a:gdLst/>
              <a:ahLst/>
              <a:cxnLst/>
              <a:rect l="l" t="t" r="r" b="b"/>
              <a:pathLst>
                <a:path w="3420110" h="306069">
                  <a:moveTo>
                    <a:pt x="3369433" y="0"/>
                  </a:moveTo>
                  <a:lnTo>
                    <a:pt x="50610" y="0"/>
                  </a:lnTo>
                  <a:lnTo>
                    <a:pt x="30910" y="3977"/>
                  </a:lnTo>
                  <a:lnTo>
                    <a:pt x="14823" y="14823"/>
                  </a:lnTo>
                  <a:lnTo>
                    <a:pt x="3977" y="30910"/>
                  </a:lnTo>
                  <a:lnTo>
                    <a:pt x="0" y="50610"/>
                  </a:lnTo>
                  <a:lnTo>
                    <a:pt x="0" y="255394"/>
                  </a:lnTo>
                  <a:lnTo>
                    <a:pt x="3977" y="275095"/>
                  </a:lnTo>
                  <a:lnTo>
                    <a:pt x="14823" y="291182"/>
                  </a:lnTo>
                  <a:lnTo>
                    <a:pt x="30910" y="302028"/>
                  </a:lnTo>
                  <a:lnTo>
                    <a:pt x="50610" y="306005"/>
                  </a:lnTo>
                  <a:lnTo>
                    <a:pt x="3369433" y="306005"/>
                  </a:lnTo>
                  <a:lnTo>
                    <a:pt x="3389133" y="302028"/>
                  </a:lnTo>
                  <a:lnTo>
                    <a:pt x="3405220" y="291182"/>
                  </a:lnTo>
                  <a:lnTo>
                    <a:pt x="3416066" y="275095"/>
                  </a:lnTo>
                  <a:lnTo>
                    <a:pt x="3420043" y="255394"/>
                  </a:lnTo>
                  <a:lnTo>
                    <a:pt x="3420043" y="50610"/>
                  </a:lnTo>
                  <a:lnTo>
                    <a:pt x="3416066" y="30910"/>
                  </a:lnTo>
                  <a:lnTo>
                    <a:pt x="3405220" y="14823"/>
                  </a:lnTo>
                  <a:lnTo>
                    <a:pt x="3389133" y="3977"/>
                  </a:lnTo>
                  <a:lnTo>
                    <a:pt x="3369433" y="0"/>
                  </a:lnTo>
                  <a:close/>
                </a:path>
              </a:pathLst>
            </a:custGeom>
            <a:ln w="506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8" name="object 18"/>
          <p:cNvSpPr txBox="1"/>
          <p:nvPr/>
        </p:nvSpPr>
        <p:spPr>
          <a:xfrm>
            <a:off x="1614309" y="1983014"/>
            <a:ext cx="2531745" cy="135293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b="1" baseline="3472" dirty="0">
                <a:latin typeface="Arial"/>
                <a:cs typeface="Arial"/>
              </a:rPr>
              <a:t>4</a:t>
            </a:r>
            <a:r>
              <a:rPr lang="en-US" sz="1200" b="1" baseline="3472" dirty="0">
                <a:latin typeface="Arial"/>
                <a:cs typeface="Arial"/>
              </a:rPr>
              <a:t>-</a:t>
            </a:r>
            <a:r>
              <a:rPr sz="1200" b="1" spc="457" baseline="3472" dirty="0">
                <a:latin typeface="Arial"/>
                <a:cs typeface="Arial"/>
              </a:rPr>
              <a:t> </a:t>
            </a:r>
            <a:r>
              <a:rPr sz="800" dirty="0">
                <a:latin typeface="Arial"/>
                <a:cs typeface="Arial"/>
              </a:rPr>
              <a:t>Interval</a:t>
            </a:r>
            <a:r>
              <a:rPr sz="800" spc="40" dirty="0">
                <a:latin typeface="Arial"/>
                <a:cs typeface="Arial"/>
              </a:rPr>
              <a:t> </a:t>
            </a:r>
            <a:r>
              <a:rPr sz="800" dirty="0">
                <a:latin typeface="Arial"/>
                <a:cs typeface="Arial"/>
              </a:rPr>
              <a:t>Delta</a:t>
            </a:r>
            <a:r>
              <a:rPr sz="800" spc="40" dirty="0">
                <a:latin typeface="Arial"/>
                <a:cs typeface="Arial"/>
              </a:rPr>
              <a:t> </a:t>
            </a:r>
            <a:r>
              <a:rPr sz="800" dirty="0">
                <a:latin typeface="Arial"/>
                <a:cs typeface="Arial"/>
              </a:rPr>
              <a:t>—</a:t>
            </a:r>
            <a:r>
              <a:rPr sz="800" spc="40" dirty="0">
                <a:latin typeface="Arial"/>
                <a:cs typeface="Arial"/>
              </a:rPr>
              <a:t> </a:t>
            </a:r>
            <a:r>
              <a:rPr sz="800" dirty="0">
                <a:latin typeface="Arial"/>
                <a:cs typeface="Arial"/>
              </a:rPr>
              <a:t>After</a:t>
            </a:r>
            <a:r>
              <a:rPr sz="800" spc="45" dirty="0">
                <a:latin typeface="Arial"/>
                <a:cs typeface="Arial"/>
              </a:rPr>
              <a:t> </a:t>
            </a:r>
            <a:r>
              <a:rPr sz="800" dirty="0">
                <a:latin typeface="Arial"/>
                <a:cs typeface="Arial"/>
              </a:rPr>
              <a:t>minus</a:t>
            </a:r>
            <a:r>
              <a:rPr sz="800" spc="40" dirty="0">
                <a:latin typeface="Arial"/>
                <a:cs typeface="Arial"/>
              </a:rPr>
              <a:t> </a:t>
            </a:r>
            <a:r>
              <a:rPr sz="800" spc="-10" dirty="0">
                <a:latin typeface="Arial"/>
                <a:cs typeface="Arial"/>
              </a:rPr>
              <a:t>Before,</a:t>
            </a:r>
            <a:r>
              <a:rPr sz="800" spc="40" dirty="0">
                <a:latin typeface="Arial"/>
                <a:cs typeface="Arial"/>
              </a:rPr>
              <a:t> </a:t>
            </a:r>
            <a:r>
              <a:rPr sz="800" dirty="0">
                <a:latin typeface="Arial"/>
                <a:cs typeface="Arial"/>
              </a:rPr>
              <a:t>polarity-</a:t>
            </a:r>
            <a:r>
              <a:rPr sz="800" spc="-20" dirty="0">
                <a:latin typeface="Arial"/>
                <a:cs typeface="Arial"/>
              </a:rPr>
              <a:t>coded</a:t>
            </a:r>
            <a:endParaRPr sz="800" dirty="0">
              <a:latin typeface="Arial"/>
              <a:cs typeface="Arial"/>
            </a:endParaRPr>
          </a:p>
        </p:txBody>
      </p:sp>
      <p:grpSp>
        <p:nvGrpSpPr>
          <p:cNvPr id="19" name="object 19"/>
          <p:cNvGrpSpPr/>
          <p:nvPr/>
        </p:nvGrpSpPr>
        <p:grpSpPr>
          <a:xfrm>
            <a:off x="1167451" y="863088"/>
            <a:ext cx="3425190" cy="1820545"/>
            <a:chOff x="1167451" y="863088"/>
            <a:chExt cx="3425190" cy="1820545"/>
          </a:xfrm>
        </p:grpSpPr>
        <p:sp>
          <p:nvSpPr>
            <p:cNvPr id="20" name="object 20"/>
            <p:cNvSpPr/>
            <p:nvPr/>
          </p:nvSpPr>
          <p:spPr>
            <a:xfrm>
              <a:off x="1169982" y="2374826"/>
              <a:ext cx="3420110" cy="306070"/>
            </a:xfrm>
            <a:custGeom>
              <a:avLst/>
              <a:gdLst/>
              <a:ahLst/>
              <a:cxnLst/>
              <a:rect l="l" t="t" r="r" b="b"/>
              <a:pathLst>
                <a:path w="3420110" h="306069">
                  <a:moveTo>
                    <a:pt x="3369433" y="0"/>
                  </a:moveTo>
                  <a:lnTo>
                    <a:pt x="50610" y="0"/>
                  </a:lnTo>
                  <a:lnTo>
                    <a:pt x="30910" y="3977"/>
                  </a:lnTo>
                  <a:lnTo>
                    <a:pt x="14823" y="14823"/>
                  </a:lnTo>
                  <a:lnTo>
                    <a:pt x="3977" y="30910"/>
                  </a:lnTo>
                  <a:lnTo>
                    <a:pt x="0" y="50610"/>
                  </a:lnTo>
                  <a:lnTo>
                    <a:pt x="0" y="255395"/>
                  </a:lnTo>
                  <a:lnTo>
                    <a:pt x="3977" y="275095"/>
                  </a:lnTo>
                  <a:lnTo>
                    <a:pt x="14823" y="291182"/>
                  </a:lnTo>
                  <a:lnTo>
                    <a:pt x="30910" y="302028"/>
                  </a:lnTo>
                  <a:lnTo>
                    <a:pt x="50610" y="306005"/>
                  </a:lnTo>
                  <a:lnTo>
                    <a:pt x="3369433" y="306005"/>
                  </a:lnTo>
                  <a:lnTo>
                    <a:pt x="3389133" y="302028"/>
                  </a:lnTo>
                  <a:lnTo>
                    <a:pt x="3405220" y="291182"/>
                  </a:lnTo>
                  <a:lnTo>
                    <a:pt x="3416066" y="275095"/>
                  </a:lnTo>
                  <a:lnTo>
                    <a:pt x="3420043" y="255395"/>
                  </a:lnTo>
                  <a:lnTo>
                    <a:pt x="3420043" y="50610"/>
                  </a:lnTo>
                  <a:lnTo>
                    <a:pt x="3416066" y="30910"/>
                  </a:lnTo>
                  <a:lnTo>
                    <a:pt x="3405220" y="14823"/>
                  </a:lnTo>
                  <a:lnTo>
                    <a:pt x="3389133" y="3977"/>
                  </a:lnTo>
                  <a:lnTo>
                    <a:pt x="3369433" y="0"/>
                  </a:lnTo>
                  <a:close/>
                </a:path>
              </a:pathLst>
            </a:custGeom>
            <a:solidFill>
              <a:srgbClr val="E7F6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1169982" y="2374826"/>
              <a:ext cx="3420110" cy="306070"/>
            </a:xfrm>
            <a:custGeom>
              <a:avLst/>
              <a:gdLst/>
              <a:ahLst/>
              <a:cxnLst/>
              <a:rect l="l" t="t" r="r" b="b"/>
              <a:pathLst>
                <a:path w="3420110" h="306069">
                  <a:moveTo>
                    <a:pt x="3369433" y="0"/>
                  </a:moveTo>
                  <a:lnTo>
                    <a:pt x="50610" y="0"/>
                  </a:lnTo>
                  <a:lnTo>
                    <a:pt x="30910" y="3977"/>
                  </a:lnTo>
                  <a:lnTo>
                    <a:pt x="14823" y="14823"/>
                  </a:lnTo>
                  <a:lnTo>
                    <a:pt x="3977" y="30910"/>
                  </a:lnTo>
                  <a:lnTo>
                    <a:pt x="0" y="50610"/>
                  </a:lnTo>
                  <a:lnTo>
                    <a:pt x="0" y="255395"/>
                  </a:lnTo>
                  <a:lnTo>
                    <a:pt x="3977" y="275095"/>
                  </a:lnTo>
                  <a:lnTo>
                    <a:pt x="14823" y="291182"/>
                  </a:lnTo>
                  <a:lnTo>
                    <a:pt x="30910" y="302028"/>
                  </a:lnTo>
                  <a:lnTo>
                    <a:pt x="50610" y="306005"/>
                  </a:lnTo>
                  <a:lnTo>
                    <a:pt x="3369433" y="306005"/>
                  </a:lnTo>
                  <a:lnTo>
                    <a:pt x="3389133" y="302028"/>
                  </a:lnTo>
                  <a:lnTo>
                    <a:pt x="3405220" y="291182"/>
                  </a:lnTo>
                  <a:lnTo>
                    <a:pt x="3416066" y="275095"/>
                  </a:lnTo>
                  <a:lnTo>
                    <a:pt x="3420043" y="255395"/>
                  </a:lnTo>
                  <a:lnTo>
                    <a:pt x="3420043" y="50610"/>
                  </a:lnTo>
                  <a:lnTo>
                    <a:pt x="3416066" y="30910"/>
                  </a:lnTo>
                  <a:lnTo>
                    <a:pt x="3405220" y="14823"/>
                  </a:lnTo>
                  <a:lnTo>
                    <a:pt x="3389133" y="3977"/>
                  </a:lnTo>
                  <a:lnTo>
                    <a:pt x="3369433" y="0"/>
                  </a:lnTo>
                  <a:close/>
                </a:path>
              </a:pathLst>
            </a:custGeom>
            <a:ln w="506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2880004" y="863088"/>
              <a:ext cx="0" cy="77470"/>
            </a:xfrm>
            <a:custGeom>
              <a:avLst/>
              <a:gdLst/>
              <a:ahLst/>
              <a:cxnLst/>
              <a:rect l="l" t="t" r="r" b="b"/>
              <a:pathLst>
                <a:path h="77469">
                  <a:moveTo>
                    <a:pt x="0" y="0"/>
                  </a:moveTo>
                  <a:lnTo>
                    <a:pt x="0" y="77061"/>
                  </a:lnTo>
                </a:path>
              </a:pathLst>
            </a:custGeom>
            <a:ln w="1012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2861815" y="940150"/>
              <a:ext cx="36830" cy="46355"/>
            </a:xfrm>
            <a:custGeom>
              <a:avLst/>
              <a:gdLst/>
              <a:ahLst/>
              <a:cxnLst/>
              <a:rect l="l" t="t" r="r" b="b"/>
              <a:pathLst>
                <a:path w="36830" h="46355">
                  <a:moveTo>
                    <a:pt x="36377" y="0"/>
                  </a:moveTo>
                  <a:lnTo>
                    <a:pt x="0" y="0"/>
                  </a:lnTo>
                  <a:lnTo>
                    <a:pt x="6329" y="12960"/>
                  </a:lnTo>
                  <a:lnTo>
                    <a:pt x="11840" y="26743"/>
                  </a:lnTo>
                  <a:lnTo>
                    <a:pt x="15977" y="38672"/>
                  </a:lnTo>
                  <a:lnTo>
                    <a:pt x="18188" y="46072"/>
                  </a:lnTo>
                  <a:lnTo>
                    <a:pt x="20399" y="38672"/>
                  </a:lnTo>
                  <a:lnTo>
                    <a:pt x="24536" y="26743"/>
                  </a:lnTo>
                  <a:lnTo>
                    <a:pt x="30047" y="12960"/>
                  </a:lnTo>
                  <a:lnTo>
                    <a:pt x="36377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4"/>
            <p:cNvSpPr/>
            <p:nvPr/>
          </p:nvSpPr>
          <p:spPr>
            <a:xfrm>
              <a:off x="2861815" y="940150"/>
              <a:ext cx="36830" cy="46355"/>
            </a:xfrm>
            <a:custGeom>
              <a:avLst/>
              <a:gdLst/>
              <a:ahLst/>
              <a:cxnLst/>
              <a:rect l="l" t="t" r="r" b="b"/>
              <a:pathLst>
                <a:path w="36830" h="46355">
                  <a:moveTo>
                    <a:pt x="18188" y="46072"/>
                  </a:moveTo>
                  <a:lnTo>
                    <a:pt x="20399" y="38672"/>
                  </a:lnTo>
                  <a:lnTo>
                    <a:pt x="24536" y="26743"/>
                  </a:lnTo>
                  <a:lnTo>
                    <a:pt x="30047" y="12960"/>
                  </a:lnTo>
                  <a:lnTo>
                    <a:pt x="36377" y="0"/>
                  </a:lnTo>
                  <a:lnTo>
                    <a:pt x="0" y="0"/>
                  </a:lnTo>
                  <a:lnTo>
                    <a:pt x="6329" y="12960"/>
                  </a:lnTo>
                  <a:lnTo>
                    <a:pt x="11840" y="26743"/>
                  </a:lnTo>
                  <a:lnTo>
                    <a:pt x="15977" y="38672"/>
                  </a:lnTo>
                  <a:lnTo>
                    <a:pt x="18188" y="46072"/>
                  </a:lnTo>
                  <a:close/>
                </a:path>
              </a:pathLst>
            </a:custGeom>
            <a:ln w="1012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2880004" y="1318156"/>
              <a:ext cx="0" cy="77470"/>
            </a:xfrm>
            <a:custGeom>
              <a:avLst/>
              <a:gdLst/>
              <a:ahLst/>
              <a:cxnLst/>
              <a:rect l="l" t="t" r="r" b="b"/>
              <a:pathLst>
                <a:path h="77469">
                  <a:moveTo>
                    <a:pt x="0" y="0"/>
                  </a:moveTo>
                  <a:lnTo>
                    <a:pt x="0" y="77061"/>
                  </a:lnTo>
                </a:path>
              </a:pathLst>
            </a:custGeom>
            <a:ln w="1012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2861815" y="1395218"/>
              <a:ext cx="36830" cy="46355"/>
            </a:xfrm>
            <a:custGeom>
              <a:avLst/>
              <a:gdLst/>
              <a:ahLst/>
              <a:cxnLst/>
              <a:rect l="l" t="t" r="r" b="b"/>
              <a:pathLst>
                <a:path w="36830" h="46355">
                  <a:moveTo>
                    <a:pt x="36377" y="0"/>
                  </a:moveTo>
                  <a:lnTo>
                    <a:pt x="0" y="0"/>
                  </a:lnTo>
                  <a:lnTo>
                    <a:pt x="6329" y="12960"/>
                  </a:lnTo>
                  <a:lnTo>
                    <a:pt x="11840" y="26743"/>
                  </a:lnTo>
                  <a:lnTo>
                    <a:pt x="15977" y="38672"/>
                  </a:lnTo>
                  <a:lnTo>
                    <a:pt x="18188" y="46072"/>
                  </a:lnTo>
                  <a:lnTo>
                    <a:pt x="20399" y="38672"/>
                  </a:lnTo>
                  <a:lnTo>
                    <a:pt x="24536" y="26743"/>
                  </a:lnTo>
                  <a:lnTo>
                    <a:pt x="30047" y="12960"/>
                  </a:lnTo>
                  <a:lnTo>
                    <a:pt x="36377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2861815" y="1395218"/>
              <a:ext cx="36830" cy="46355"/>
            </a:xfrm>
            <a:custGeom>
              <a:avLst/>
              <a:gdLst/>
              <a:ahLst/>
              <a:cxnLst/>
              <a:rect l="l" t="t" r="r" b="b"/>
              <a:pathLst>
                <a:path w="36830" h="46355">
                  <a:moveTo>
                    <a:pt x="18188" y="46072"/>
                  </a:moveTo>
                  <a:lnTo>
                    <a:pt x="20399" y="38672"/>
                  </a:lnTo>
                  <a:lnTo>
                    <a:pt x="24536" y="26743"/>
                  </a:lnTo>
                  <a:lnTo>
                    <a:pt x="30047" y="12960"/>
                  </a:lnTo>
                  <a:lnTo>
                    <a:pt x="36377" y="0"/>
                  </a:lnTo>
                  <a:lnTo>
                    <a:pt x="0" y="0"/>
                  </a:lnTo>
                  <a:lnTo>
                    <a:pt x="6329" y="12960"/>
                  </a:lnTo>
                  <a:lnTo>
                    <a:pt x="11840" y="26743"/>
                  </a:lnTo>
                  <a:lnTo>
                    <a:pt x="15977" y="38672"/>
                  </a:lnTo>
                  <a:lnTo>
                    <a:pt x="18188" y="46072"/>
                  </a:lnTo>
                  <a:close/>
                </a:path>
              </a:pathLst>
            </a:custGeom>
            <a:ln w="1012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8" name="object 28"/>
            <p:cNvSpPr/>
            <p:nvPr/>
          </p:nvSpPr>
          <p:spPr>
            <a:xfrm>
              <a:off x="2880004" y="1773225"/>
              <a:ext cx="0" cy="77470"/>
            </a:xfrm>
            <a:custGeom>
              <a:avLst/>
              <a:gdLst/>
              <a:ahLst/>
              <a:cxnLst/>
              <a:rect l="l" t="t" r="r" b="b"/>
              <a:pathLst>
                <a:path h="77469">
                  <a:moveTo>
                    <a:pt x="0" y="0"/>
                  </a:moveTo>
                  <a:lnTo>
                    <a:pt x="0" y="77061"/>
                  </a:lnTo>
                </a:path>
              </a:pathLst>
            </a:custGeom>
            <a:ln w="1012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" name="object 29"/>
            <p:cNvSpPr/>
            <p:nvPr/>
          </p:nvSpPr>
          <p:spPr>
            <a:xfrm>
              <a:off x="2861815" y="1850287"/>
              <a:ext cx="36830" cy="46355"/>
            </a:xfrm>
            <a:custGeom>
              <a:avLst/>
              <a:gdLst/>
              <a:ahLst/>
              <a:cxnLst/>
              <a:rect l="l" t="t" r="r" b="b"/>
              <a:pathLst>
                <a:path w="36830" h="46355">
                  <a:moveTo>
                    <a:pt x="36377" y="0"/>
                  </a:moveTo>
                  <a:lnTo>
                    <a:pt x="0" y="0"/>
                  </a:lnTo>
                  <a:lnTo>
                    <a:pt x="6329" y="12960"/>
                  </a:lnTo>
                  <a:lnTo>
                    <a:pt x="11840" y="26743"/>
                  </a:lnTo>
                  <a:lnTo>
                    <a:pt x="15977" y="38672"/>
                  </a:lnTo>
                  <a:lnTo>
                    <a:pt x="18188" y="46072"/>
                  </a:lnTo>
                  <a:lnTo>
                    <a:pt x="20399" y="38672"/>
                  </a:lnTo>
                  <a:lnTo>
                    <a:pt x="24536" y="26743"/>
                  </a:lnTo>
                  <a:lnTo>
                    <a:pt x="30047" y="12960"/>
                  </a:lnTo>
                  <a:lnTo>
                    <a:pt x="36377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0" name="object 30"/>
            <p:cNvSpPr/>
            <p:nvPr/>
          </p:nvSpPr>
          <p:spPr>
            <a:xfrm>
              <a:off x="2861815" y="1850287"/>
              <a:ext cx="36830" cy="46355"/>
            </a:xfrm>
            <a:custGeom>
              <a:avLst/>
              <a:gdLst/>
              <a:ahLst/>
              <a:cxnLst/>
              <a:rect l="l" t="t" r="r" b="b"/>
              <a:pathLst>
                <a:path w="36830" h="46355">
                  <a:moveTo>
                    <a:pt x="18188" y="46072"/>
                  </a:moveTo>
                  <a:lnTo>
                    <a:pt x="20399" y="38672"/>
                  </a:lnTo>
                  <a:lnTo>
                    <a:pt x="24536" y="26743"/>
                  </a:lnTo>
                  <a:lnTo>
                    <a:pt x="30047" y="12960"/>
                  </a:lnTo>
                  <a:lnTo>
                    <a:pt x="36377" y="0"/>
                  </a:lnTo>
                  <a:lnTo>
                    <a:pt x="0" y="0"/>
                  </a:lnTo>
                  <a:lnTo>
                    <a:pt x="6329" y="12960"/>
                  </a:lnTo>
                  <a:lnTo>
                    <a:pt x="11840" y="26743"/>
                  </a:lnTo>
                  <a:lnTo>
                    <a:pt x="15977" y="38672"/>
                  </a:lnTo>
                  <a:lnTo>
                    <a:pt x="18188" y="46072"/>
                  </a:lnTo>
                  <a:close/>
                </a:path>
              </a:pathLst>
            </a:custGeom>
            <a:ln w="1012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" name="object 31"/>
            <p:cNvSpPr/>
            <p:nvPr/>
          </p:nvSpPr>
          <p:spPr>
            <a:xfrm>
              <a:off x="2880004" y="2228294"/>
              <a:ext cx="0" cy="77470"/>
            </a:xfrm>
            <a:custGeom>
              <a:avLst/>
              <a:gdLst/>
              <a:ahLst/>
              <a:cxnLst/>
              <a:rect l="l" t="t" r="r" b="b"/>
              <a:pathLst>
                <a:path h="77469">
                  <a:moveTo>
                    <a:pt x="0" y="0"/>
                  </a:moveTo>
                  <a:lnTo>
                    <a:pt x="0" y="77061"/>
                  </a:lnTo>
                </a:path>
              </a:pathLst>
            </a:custGeom>
            <a:ln w="1012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2861815" y="2305356"/>
              <a:ext cx="36830" cy="46355"/>
            </a:xfrm>
            <a:custGeom>
              <a:avLst/>
              <a:gdLst/>
              <a:ahLst/>
              <a:cxnLst/>
              <a:rect l="l" t="t" r="r" b="b"/>
              <a:pathLst>
                <a:path w="36830" h="46355">
                  <a:moveTo>
                    <a:pt x="36377" y="0"/>
                  </a:moveTo>
                  <a:lnTo>
                    <a:pt x="0" y="0"/>
                  </a:lnTo>
                  <a:lnTo>
                    <a:pt x="6329" y="12960"/>
                  </a:lnTo>
                  <a:lnTo>
                    <a:pt x="11840" y="26743"/>
                  </a:lnTo>
                  <a:lnTo>
                    <a:pt x="15977" y="38672"/>
                  </a:lnTo>
                  <a:lnTo>
                    <a:pt x="18188" y="46072"/>
                  </a:lnTo>
                  <a:lnTo>
                    <a:pt x="20399" y="38672"/>
                  </a:lnTo>
                  <a:lnTo>
                    <a:pt x="24536" y="26743"/>
                  </a:lnTo>
                  <a:lnTo>
                    <a:pt x="30047" y="12960"/>
                  </a:lnTo>
                  <a:lnTo>
                    <a:pt x="36377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2861815" y="2305356"/>
              <a:ext cx="36830" cy="46355"/>
            </a:xfrm>
            <a:custGeom>
              <a:avLst/>
              <a:gdLst/>
              <a:ahLst/>
              <a:cxnLst/>
              <a:rect l="l" t="t" r="r" b="b"/>
              <a:pathLst>
                <a:path w="36830" h="46355">
                  <a:moveTo>
                    <a:pt x="18188" y="46072"/>
                  </a:moveTo>
                  <a:lnTo>
                    <a:pt x="20399" y="38672"/>
                  </a:lnTo>
                  <a:lnTo>
                    <a:pt x="24536" y="26743"/>
                  </a:lnTo>
                  <a:lnTo>
                    <a:pt x="30047" y="12960"/>
                  </a:lnTo>
                  <a:lnTo>
                    <a:pt x="36377" y="0"/>
                  </a:lnTo>
                  <a:lnTo>
                    <a:pt x="0" y="0"/>
                  </a:lnTo>
                  <a:lnTo>
                    <a:pt x="6329" y="12960"/>
                  </a:lnTo>
                  <a:lnTo>
                    <a:pt x="11840" y="26743"/>
                  </a:lnTo>
                  <a:lnTo>
                    <a:pt x="15977" y="38672"/>
                  </a:lnTo>
                  <a:lnTo>
                    <a:pt x="18188" y="46072"/>
                  </a:lnTo>
                  <a:close/>
                </a:path>
              </a:pathLst>
            </a:custGeom>
            <a:ln w="1012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4" name="object 34"/>
          <p:cNvSpPr txBox="1"/>
          <p:nvPr/>
        </p:nvSpPr>
        <p:spPr>
          <a:xfrm>
            <a:off x="1475371" y="2438081"/>
            <a:ext cx="2809875" cy="42037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274955">
              <a:lnSpc>
                <a:spcPct val="100000"/>
              </a:lnSpc>
              <a:spcBef>
                <a:spcPts val="95"/>
              </a:spcBef>
            </a:pPr>
            <a:r>
              <a:rPr sz="1200" b="1" baseline="3472" dirty="0">
                <a:latin typeface="Arial"/>
                <a:cs typeface="Arial"/>
              </a:rPr>
              <a:t>5</a:t>
            </a:r>
            <a:r>
              <a:rPr lang="en-US" sz="1200" b="1" baseline="3472" dirty="0">
                <a:latin typeface="Arial"/>
                <a:cs typeface="Arial"/>
              </a:rPr>
              <a:t>-</a:t>
            </a:r>
            <a:r>
              <a:rPr sz="1200" b="1" spc="427" baseline="3472" dirty="0">
                <a:latin typeface="Arial"/>
                <a:cs typeface="Arial"/>
              </a:rPr>
              <a:t> </a:t>
            </a:r>
            <a:r>
              <a:rPr sz="800" dirty="0">
                <a:latin typeface="Arial"/>
                <a:cs typeface="Arial"/>
              </a:rPr>
              <a:t>KPI</a:t>
            </a:r>
            <a:r>
              <a:rPr sz="800" spc="30" dirty="0">
                <a:latin typeface="Arial"/>
                <a:cs typeface="Arial"/>
              </a:rPr>
              <a:t> </a:t>
            </a:r>
            <a:r>
              <a:rPr sz="800" dirty="0">
                <a:latin typeface="Arial"/>
                <a:cs typeface="Arial"/>
              </a:rPr>
              <a:t>Impact</a:t>
            </a:r>
            <a:r>
              <a:rPr sz="800" spc="30" dirty="0">
                <a:latin typeface="Arial"/>
                <a:cs typeface="Arial"/>
              </a:rPr>
              <a:t> </a:t>
            </a:r>
            <a:r>
              <a:rPr sz="800" spc="-10" dirty="0">
                <a:latin typeface="Arial"/>
                <a:cs typeface="Arial"/>
              </a:rPr>
              <a:t>Summary</a:t>
            </a:r>
            <a:r>
              <a:rPr sz="800" spc="30" dirty="0">
                <a:latin typeface="Arial"/>
                <a:cs typeface="Arial"/>
              </a:rPr>
              <a:t> </a:t>
            </a:r>
            <a:r>
              <a:rPr sz="800" dirty="0">
                <a:latin typeface="Arial"/>
                <a:cs typeface="Arial"/>
              </a:rPr>
              <a:t>—</a:t>
            </a:r>
            <a:r>
              <a:rPr sz="800" spc="30" dirty="0">
                <a:latin typeface="Arial"/>
                <a:cs typeface="Arial"/>
              </a:rPr>
              <a:t> </a:t>
            </a:r>
            <a:r>
              <a:rPr sz="800" dirty="0">
                <a:latin typeface="Arial"/>
                <a:cs typeface="Arial"/>
              </a:rPr>
              <a:t>all</a:t>
            </a:r>
            <a:r>
              <a:rPr sz="800" spc="35" dirty="0">
                <a:latin typeface="Arial"/>
                <a:cs typeface="Arial"/>
              </a:rPr>
              <a:t> </a:t>
            </a:r>
            <a:r>
              <a:rPr sz="800" dirty="0">
                <a:latin typeface="Arial"/>
                <a:cs typeface="Arial"/>
              </a:rPr>
              <a:t>metrics,</a:t>
            </a:r>
            <a:r>
              <a:rPr sz="800" spc="30" dirty="0">
                <a:latin typeface="Arial"/>
                <a:cs typeface="Arial"/>
              </a:rPr>
              <a:t> </a:t>
            </a:r>
            <a:r>
              <a:rPr sz="800" spc="-10" dirty="0">
                <a:latin typeface="Arial"/>
                <a:cs typeface="Arial"/>
              </a:rPr>
              <a:t>one</a:t>
            </a:r>
            <a:r>
              <a:rPr sz="800" spc="30" dirty="0">
                <a:latin typeface="Arial"/>
                <a:cs typeface="Arial"/>
              </a:rPr>
              <a:t> </a:t>
            </a:r>
            <a:r>
              <a:rPr sz="800" spc="-10" dirty="0">
                <a:latin typeface="Arial"/>
                <a:cs typeface="Arial"/>
              </a:rPr>
              <a:t>table</a:t>
            </a:r>
            <a:endParaRPr sz="8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150"/>
              </a:spcBef>
            </a:pPr>
            <a:endParaRPr sz="800" dirty="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</a:pPr>
            <a:r>
              <a:rPr sz="900" dirty="0">
                <a:latin typeface="Arial"/>
                <a:cs typeface="Arial"/>
              </a:rPr>
              <a:t>The</a:t>
            </a:r>
            <a:r>
              <a:rPr sz="900" spc="5" dirty="0">
                <a:latin typeface="Arial"/>
                <a:cs typeface="Arial"/>
              </a:rPr>
              <a:t> </a:t>
            </a:r>
            <a:r>
              <a:rPr sz="900" spc="-20" dirty="0">
                <a:latin typeface="Arial"/>
                <a:cs typeface="Arial"/>
              </a:rPr>
              <a:t>five-</a:t>
            </a:r>
            <a:r>
              <a:rPr sz="900" spc="-25" dirty="0">
                <a:latin typeface="Arial"/>
                <a:cs typeface="Arial"/>
              </a:rPr>
              <a:t>wstep</a:t>
            </a:r>
            <a:r>
              <a:rPr sz="900" spc="5" dirty="0">
                <a:latin typeface="Arial"/>
                <a:cs typeface="Arial"/>
              </a:rPr>
              <a:t> </a:t>
            </a:r>
            <a:r>
              <a:rPr sz="900" spc="-10" dirty="0">
                <a:latin typeface="Arial"/>
                <a:cs typeface="Arial"/>
              </a:rPr>
              <a:t>analyst</a:t>
            </a:r>
            <a:r>
              <a:rPr sz="900" spc="5" dirty="0">
                <a:latin typeface="Arial"/>
                <a:cs typeface="Arial"/>
              </a:rPr>
              <a:t> </a:t>
            </a:r>
            <a:r>
              <a:rPr sz="900" spc="-10" dirty="0">
                <a:latin typeface="Arial"/>
                <a:cs typeface="Arial"/>
              </a:rPr>
              <a:t>workflow</a:t>
            </a:r>
            <a:r>
              <a:rPr sz="900" spc="10" dirty="0">
                <a:latin typeface="Arial"/>
                <a:cs typeface="Arial"/>
              </a:rPr>
              <a:t> </a:t>
            </a:r>
            <a:r>
              <a:rPr sz="900" spc="-25" dirty="0">
                <a:latin typeface="Arial"/>
                <a:cs typeface="Arial"/>
              </a:rPr>
              <a:t>implemented</a:t>
            </a:r>
            <a:r>
              <a:rPr sz="900" spc="5" dirty="0">
                <a:latin typeface="Arial"/>
                <a:cs typeface="Arial"/>
              </a:rPr>
              <a:t> </a:t>
            </a:r>
            <a:r>
              <a:rPr sz="900" dirty="0">
                <a:latin typeface="Arial"/>
                <a:cs typeface="Arial"/>
              </a:rPr>
              <a:t>in</a:t>
            </a:r>
            <a:r>
              <a:rPr sz="900" spc="5" dirty="0">
                <a:latin typeface="Arial"/>
                <a:cs typeface="Arial"/>
              </a:rPr>
              <a:t> </a:t>
            </a:r>
            <a:r>
              <a:rPr sz="900" spc="-10" dirty="0">
                <a:latin typeface="Trebuchet MS"/>
                <a:cs typeface="Trebuchet MS"/>
              </a:rPr>
              <a:t>app.py</a:t>
            </a:r>
            <a:r>
              <a:rPr sz="900" spc="-10" dirty="0">
                <a:latin typeface="Arial"/>
                <a:cs typeface="Arial"/>
              </a:rPr>
              <a:t>.</a:t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5" name="object 35"/>
          <p:cNvGrpSpPr/>
          <p:nvPr/>
        </p:nvGrpSpPr>
        <p:grpSpPr>
          <a:xfrm>
            <a:off x="0" y="3130346"/>
            <a:ext cx="5760085" cy="109855"/>
            <a:chOff x="0" y="3130346"/>
            <a:chExt cx="5760085" cy="109855"/>
          </a:xfrm>
        </p:grpSpPr>
        <p:sp>
          <p:nvSpPr>
            <p:cNvPr id="36" name="object 36"/>
            <p:cNvSpPr/>
            <p:nvPr/>
          </p:nvSpPr>
          <p:spPr>
            <a:xfrm>
              <a:off x="0" y="3130346"/>
              <a:ext cx="1920239" cy="109855"/>
            </a:xfrm>
            <a:custGeom>
              <a:avLst/>
              <a:gdLst/>
              <a:ahLst/>
              <a:cxnLst/>
              <a:rect l="l" t="t" r="r" b="b"/>
              <a:pathLst>
                <a:path w="1920239" h="109855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A3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7" name="object 37"/>
            <p:cNvSpPr/>
            <p:nvPr/>
          </p:nvSpPr>
          <p:spPr>
            <a:xfrm>
              <a:off x="1919973" y="3130346"/>
              <a:ext cx="1920239" cy="109855"/>
            </a:xfrm>
            <a:custGeom>
              <a:avLst/>
              <a:gdLst/>
              <a:ahLst/>
              <a:cxnLst/>
              <a:rect l="l" t="t" r="r" b="b"/>
              <a:pathLst>
                <a:path w="1920239" h="109855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3839946" y="3130346"/>
              <a:ext cx="1920239" cy="109855"/>
            </a:xfrm>
            <a:custGeom>
              <a:avLst/>
              <a:gdLst/>
              <a:ahLst/>
              <a:cxnLst/>
              <a:rect l="l" t="t" r="r" b="b"/>
              <a:pathLst>
                <a:path w="1920239" h="109855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9" name="object 39"/>
          <p:cNvSpPr txBox="1"/>
          <p:nvPr/>
        </p:nvSpPr>
        <p:spPr>
          <a:xfrm>
            <a:off x="2367343" y="3135783"/>
            <a:ext cx="1025525" cy="1022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r>
              <a:rPr sz="600" dirty="0">
                <a:solidFill>
                  <a:srgbClr val="8E0000"/>
                </a:solidFill>
                <a:latin typeface="Arial"/>
                <a:cs typeface="Arial"/>
                <a:hlinkClick r:id="rId2" action="ppaction://hlinksldjump"/>
              </a:rPr>
              <a:t>Optimization</a:t>
            </a:r>
            <a:r>
              <a:rPr sz="600" spc="100" dirty="0">
                <a:solidFill>
                  <a:srgbClr val="8E0000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sz="600" dirty="0">
                <a:solidFill>
                  <a:srgbClr val="8E0000"/>
                </a:solidFill>
                <a:latin typeface="Arial"/>
                <a:cs typeface="Arial"/>
                <a:hlinkClick r:id="rId2" action="ppaction://hlinksldjump"/>
              </a:rPr>
              <a:t>Action</a:t>
            </a:r>
            <a:r>
              <a:rPr sz="600" spc="105" dirty="0">
                <a:solidFill>
                  <a:srgbClr val="8E0000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sz="600" spc="-10" dirty="0">
                <a:solidFill>
                  <a:srgbClr val="8E0000"/>
                </a:solidFill>
                <a:latin typeface="Arial"/>
                <a:cs typeface="Arial"/>
                <a:hlinkClick r:id="rId2" action="ppaction://hlinksldjump"/>
              </a:rPr>
              <a:t>Analyzer</a:t>
            </a:r>
            <a:endParaRPr sz="600">
              <a:latin typeface="Arial"/>
              <a:cs typeface="Arial"/>
            </a:endParaRPr>
          </a:p>
        </p:txBody>
      </p:sp>
      <p:sp>
        <p:nvSpPr>
          <p:cNvPr id="40" name="object 4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fld id="{81D60167-4931-47E6-BA6A-407CBD079E47}" type="slidenum">
              <a:rPr spc="-30" dirty="0"/>
              <a:t>34</a:t>
            </a:fld>
            <a:r>
              <a:rPr spc="-55" dirty="0"/>
              <a:t> </a:t>
            </a:r>
            <a:r>
              <a:rPr spc="150" dirty="0"/>
              <a:t>/</a:t>
            </a:r>
            <a:r>
              <a:rPr spc="-55" dirty="0"/>
              <a:t> </a:t>
            </a:r>
            <a:r>
              <a:rPr spc="-35" dirty="0"/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945845418"/>
      </p:ext>
    </p:extLst>
  </p:cSld>
  <p:clrMapOvr>
    <a:masterClrMapping/>
  </p:clrMapOvr>
  <p:transition>
    <p:cut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63500" y="77196"/>
            <a:ext cx="1289685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pc="-35" dirty="0"/>
              <a:t>Workflow</a:t>
            </a:r>
            <a:r>
              <a:rPr spc="-55" dirty="0"/>
              <a:t> </a:t>
            </a:r>
            <a:r>
              <a:rPr spc="-10" dirty="0"/>
              <a:t>Details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33019" y="1037599"/>
            <a:ext cx="114214" cy="114214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257263" y="1024666"/>
            <a:ext cx="66040" cy="11683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600" spc="-50" dirty="0">
                <a:solidFill>
                  <a:srgbClr val="FFFFFF"/>
                </a:solidFill>
                <a:latin typeface="Arial"/>
                <a:cs typeface="Arial"/>
              </a:rPr>
              <a:t>1</a:t>
            </a:r>
            <a:endParaRPr sz="600">
              <a:latin typeface="Arial"/>
              <a:cs typeface="Arial"/>
            </a:endParaRPr>
          </a:p>
        </p:txBody>
      </p:sp>
      <p:sp>
        <p:nvSpPr>
          <p:cNvPr id="5" name="object 5"/>
          <p:cNvSpPr txBox="1">
            <a:spLocks noGrp="1"/>
          </p:cNvSpPr>
          <p:nvPr>
            <p:ph type="body" idx="1"/>
          </p:nvPr>
        </p:nvSpPr>
        <p:spPr>
          <a:xfrm>
            <a:off x="385991" y="934490"/>
            <a:ext cx="5240109" cy="1737995"/>
          </a:xfrm>
          <a:prstGeom prst="rect">
            <a:avLst/>
          </a:prstGeom>
        </p:spPr>
        <p:txBody>
          <a:bodyPr vert="horz" wrap="square" lIns="0" tIns="882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95"/>
              </a:spcBef>
            </a:pPr>
            <a:r>
              <a:rPr b="1" spc="-10" dirty="0">
                <a:latin typeface="Arial"/>
                <a:cs typeface="Arial"/>
              </a:rPr>
              <a:t>Action</a:t>
            </a:r>
            <a:r>
              <a:rPr b="1" spc="35" dirty="0">
                <a:latin typeface="Arial"/>
                <a:cs typeface="Arial"/>
              </a:rPr>
              <a:t> </a:t>
            </a:r>
            <a:r>
              <a:rPr b="1" spc="-10" dirty="0">
                <a:latin typeface="Arial"/>
                <a:cs typeface="Arial"/>
              </a:rPr>
              <a:t>Timeline</a:t>
            </a:r>
            <a:r>
              <a:rPr b="1" spc="10" dirty="0">
                <a:latin typeface="Arial"/>
                <a:cs typeface="Arial"/>
              </a:rPr>
              <a:t> </a:t>
            </a:r>
            <a:r>
              <a:rPr spc="80" dirty="0"/>
              <a:t>—</a:t>
            </a:r>
            <a:r>
              <a:rPr spc="-20" dirty="0"/>
              <a:t> </a:t>
            </a:r>
            <a:r>
              <a:rPr spc="-25" dirty="0"/>
              <a:t>visual </a:t>
            </a:r>
            <a:r>
              <a:rPr spc="-20" dirty="0"/>
              <a:t>context</a:t>
            </a:r>
            <a:r>
              <a:rPr spc="-25" dirty="0"/>
              <a:t> </a:t>
            </a:r>
            <a:r>
              <a:rPr dirty="0"/>
              <a:t>on</a:t>
            </a:r>
            <a:r>
              <a:rPr spc="-25" dirty="0"/>
              <a:t> </a:t>
            </a:r>
            <a:r>
              <a:rPr dirty="0"/>
              <a:t>all</a:t>
            </a:r>
            <a:r>
              <a:rPr spc="-20" dirty="0"/>
              <a:t> past</a:t>
            </a:r>
            <a:r>
              <a:rPr spc="-25" dirty="0"/>
              <a:t> </a:t>
            </a:r>
            <a:r>
              <a:rPr spc="-20" dirty="0"/>
              <a:t>optimization</a:t>
            </a:r>
            <a:r>
              <a:rPr spc="-25" dirty="0"/>
              <a:t> </a:t>
            </a:r>
            <a:r>
              <a:rPr spc="-10" dirty="0"/>
              <a:t>actions</a:t>
            </a:r>
          </a:p>
          <a:p>
            <a:pPr marL="12700" marR="5080">
              <a:lnSpc>
                <a:spcPct val="100000"/>
              </a:lnSpc>
              <a:spcBef>
                <a:spcPts val="590"/>
              </a:spcBef>
            </a:pPr>
            <a:r>
              <a:rPr b="1" dirty="0">
                <a:latin typeface="Arial"/>
                <a:cs typeface="Arial"/>
              </a:rPr>
              <a:t>Hunk</a:t>
            </a:r>
            <a:r>
              <a:rPr b="1" spc="50" dirty="0">
                <a:latin typeface="Arial"/>
                <a:cs typeface="Arial"/>
              </a:rPr>
              <a:t> </a:t>
            </a:r>
            <a:r>
              <a:rPr b="1" spc="100" dirty="0">
                <a:latin typeface="Arial"/>
                <a:cs typeface="Arial"/>
              </a:rPr>
              <a:t>&amp;</a:t>
            </a:r>
            <a:r>
              <a:rPr b="1" spc="50" dirty="0">
                <a:latin typeface="Arial"/>
                <a:cs typeface="Arial"/>
              </a:rPr>
              <a:t> </a:t>
            </a:r>
            <a:r>
              <a:rPr b="1" spc="-20" dirty="0">
                <a:latin typeface="Arial"/>
                <a:cs typeface="Arial"/>
              </a:rPr>
              <a:t>Window</a:t>
            </a:r>
            <a:r>
              <a:rPr b="1" spc="55" dirty="0">
                <a:latin typeface="Arial"/>
                <a:cs typeface="Arial"/>
              </a:rPr>
              <a:t> </a:t>
            </a:r>
            <a:r>
              <a:rPr b="1" spc="-30" dirty="0">
                <a:latin typeface="Arial"/>
                <a:cs typeface="Arial"/>
              </a:rPr>
              <a:t>Selection</a:t>
            </a:r>
            <a:r>
              <a:rPr b="1" spc="20" dirty="0">
                <a:latin typeface="Arial"/>
                <a:cs typeface="Arial"/>
              </a:rPr>
              <a:t> </a:t>
            </a:r>
            <a:r>
              <a:rPr spc="80" dirty="0"/>
              <a:t>—</a:t>
            </a:r>
            <a:r>
              <a:rPr spc="-10" dirty="0"/>
              <a:t> </a:t>
            </a:r>
            <a:r>
              <a:rPr spc="-20" dirty="0"/>
              <a:t>metric</a:t>
            </a:r>
            <a:r>
              <a:rPr spc="-15" dirty="0"/>
              <a:t> </a:t>
            </a:r>
            <a:r>
              <a:rPr spc="-10" dirty="0"/>
              <a:t>tiles</a:t>
            </a:r>
            <a:r>
              <a:rPr spc="-15" dirty="0"/>
              <a:t> </a:t>
            </a:r>
            <a:r>
              <a:rPr dirty="0"/>
              <a:t>+</a:t>
            </a:r>
            <a:r>
              <a:rPr spc="-10" dirty="0"/>
              <a:t> </a:t>
            </a:r>
            <a:r>
              <a:rPr spc="-45" dirty="0"/>
              <a:t>expandable</a:t>
            </a:r>
            <a:r>
              <a:rPr spc="-20" dirty="0"/>
              <a:t> </a:t>
            </a:r>
            <a:r>
              <a:rPr dirty="0"/>
              <a:t>Dolt</a:t>
            </a:r>
            <a:r>
              <a:rPr spc="-15" dirty="0"/>
              <a:t> </a:t>
            </a:r>
            <a:r>
              <a:rPr dirty="0"/>
              <a:t>diff</a:t>
            </a:r>
            <a:r>
              <a:rPr spc="-15" dirty="0"/>
              <a:t> </a:t>
            </a:r>
            <a:r>
              <a:rPr spc="-40" dirty="0"/>
              <a:t>panel</a:t>
            </a:r>
            <a:r>
              <a:rPr spc="-10" dirty="0"/>
              <a:t> </a:t>
            </a:r>
            <a:r>
              <a:rPr spc="-20" dirty="0"/>
              <a:t>(table,</a:t>
            </a:r>
            <a:r>
              <a:rPr spc="-10" dirty="0"/>
              <a:t> </a:t>
            </a:r>
            <a:r>
              <a:rPr spc="-30" dirty="0"/>
              <a:t>column,</a:t>
            </a:r>
            <a:r>
              <a:rPr spc="-10" dirty="0"/>
              <a:t> from/to value)</a:t>
            </a:r>
          </a:p>
          <a:p>
            <a:pPr marL="12700">
              <a:lnSpc>
                <a:spcPct val="100000"/>
              </a:lnSpc>
              <a:spcBef>
                <a:spcPts val="590"/>
              </a:spcBef>
            </a:pPr>
            <a:r>
              <a:rPr b="1" dirty="0">
                <a:latin typeface="Arial"/>
                <a:cs typeface="Arial"/>
              </a:rPr>
              <a:t>KPI</a:t>
            </a:r>
            <a:r>
              <a:rPr b="1" spc="60" dirty="0">
                <a:latin typeface="Arial"/>
                <a:cs typeface="Arial"/>
              </a:rPr>
              <a:t> </a:t>
            </a:r>
            <a:r>
              <a:rPr b="1" spc="-10" dirty="0">
                <a:latin typeface="Arial"/>
                <a:cs typeface="Arial"/>
              </a:rPr>
              <a:t>Trend</a:t>
            </a:r>
            <a:r>
              <a:rPr b="1" spc="35" dirty="0">
                <a:latin typeface="Arial"/>
                <a:cs typeface="Arial"/>
              </a:rPr>
              <a:t> </a:t>
            </a:r>
            <a:r>
              <a:rPr spc="80" dirty="0"/>
              <a:t>—</a:t>
            </a:r>
            <a:r>
              <a:rPr dirty="0"/>
              <a:t> </a:t>
            </a:r>
            <a:r>
              <a:rPr spc="-50" dirty="0"/>
              <a:t>aggregated</a:t>
            </a:r>
            <a:r>
              <a:rPr dirty="0"/>
              <a:t> </a:t>
            </a:r>
            <a:r>
              <a:rPr spc="-10" dirty="0"/>
              <a:t>or</a:t>
            </a:r>
            <a:r>
              <a:rPr spc="5" dirty="0"/>
              <a:t> </a:t>
            </a:r>
            <a:r>
              <a:rPr spc="-40" dirty="0"/>
              <a:t>per-</a:t>
            </a:r>
            <a:r>
              <a:rPr spc="-65" dirty="0"/>
              <a:t>weekday</a:t>
            </a:r>
            <a:r>
              <a:rPr spc="-5" dirty="0"/>
              <a:t> </a:t>
            </a:r>
            <a:r>
              <a:rPr spc="-25" dirty="0"/>
              <a:t>individual</a:t>
            </a:r>
            <a:r>
              <a:rPr dirty="0"/>
              <a:t> </a:t>
            </a:r>
            <a:r>
              <a:rPr spc="-40" dirty="0"/>
              <a:t>curves,</a:t>
            </a:r>
            <a:r>
              <a:rPr dirty="0"/>
              <a:t> with</a:t>
            </a:r>
            <a:r>
              <a:rPr spc="5" dirty="0"/>
              <a:t> </a:t>
            </a:r>
            <a:r>
              <a:rPr dirty="0"/>
              <a:t>a</a:t>
            </a:r>
            <a:r>
              <a:rPr spc="-5" dirty="0"/>
              <a:t> </a:t>
            </a:r>
            <a:r>
              <a:rPr spc="-35" dirty="0"/>
              <a:t>time-of-</a:t>
            </a:r>
            <a:r>
              <a:rPr spc="-40" dirty="0"/>
              <a:t>day</a:t>
            </a:r>
            <a:r>
              <a:rPr spc="-5" dirty="0"/>
              <a:t> </a:t>
            </a:r>
            <a:r>
              <a:rPr spc="-20" dirty="0"/>
              <a:t>zoom</a:t>
            </a:r>
            <a:r>
              <a:rPr spc="-5" dirty="0"/>
              <a:t> </a:t>
            </a:r>
            <a:r>
              <a:rPr spc="-10" dirty="0"/>
              <a:t>slider</a:t>
            </a:r>
          </a:p>
          <a:p>
            <a:pPr marL="12700">
              <a:lnSpc>
                <a:spcPct val="100000"/>
              </a:lnSpc>
              <a:spcBef>
                <a:spcPts val="595"/>
              </a:spcBef>
            </a:pPr>
            <a:r>
              <a:rPr b="1" dirty="0">
                <a:latin typeface="Arial"/>
                <a:cs typeface="Arial"/>
              </a:rPr>
              <a:t>Interval</a:t>
            </a:r>
            <a:r>
              <a:rPr b="1" spc="50" dirty="0">
                <a:latin typeface="Arial"/>
                <a:cs typeface="Arial"/>
              </a:rPr>
              <a:t> </a:t>
            </a:r>
            <a:r>
              <a:rPr b="1" dirty="0">
                <a:latin typeface="Arial"/>
                <a:cs typeface="Arial"/>
              </a:rPr>
              <a:t>Delta</a:t>
            </a:r>
            <a:r>
              <a:rPr b="1" spc="25" dirty="0">
                <a:latin typeface="Arial"/>
                <a:cs typeface="Arial"/>
              </a:rPr>
              <a:t> </a:t>
            </a:r>
            <a:r>
              <a:rPr spc="80" dirty="0"/>
              <a:t>—</a:t>
            </a:r>
            <a:r>
              <a:rPr spc="-10" dirty="0"/>
              <a:t> </a:t>
            </a:r>
            <a:r>
              <a:rPr spc="-30" dirty="0"/>
              <a:t>polarity-coded</a:t>
            </a:r>
            <a:r>
              <a:rPr spc="-10" dirty="0"/>
              <a:t> </a:t>
            </a:r>
            <a:r>
              <a:rPr spc="-35" dirty="0"/>
              <a:t>magnitude</a:t>
            </a:r>
            <a:r>
              <a:rPr spc="-10" dirty="0"/>
              <a:t> </a:t>
            </a:r>
            <a:r>
              <a:rPr dirty="0"/>
              <a:t>of</a:t>
            </a:r>
            <a:r>
              <a:rPr spc="-10" dirty="0"/>
              <a:t> </a:t>
            </a:r>
            <a:r>
              <a:rPr spc="-55" dirty="0"/>
              <a:t>change</a:t>
            </a:r>
            <a:r>
              <a:rPr spc="-15" dirty="0"/>
              <a:t> </a:t>
            </a:r>
            <a:r>
              <a:rPr spc="-20" dirty="0"/>
              <a:t>per</a:t>
            </a:r>
            <a:r>
              <a:rPr spc="-10" dirty="0"/>
              <a:t> interval</a:t>
            </a:r>
          </a:p>
          <a:p>
            <a:pPr marL="12700">
              <a:lnSpc>
                <a:spcPct val="100000"/>
              </a:lnSpc>
              <a:spcBef>
                <a:spcPts val="590"/>
              </a:spcBef>
            </a:pPr>
            <a:r>
              <a:rPr b="1" dirty="0">
                <a:latin typeface="Arial"/>
                <a:cs typeface="Arial"/>
              </a:rPr>
              <a:t>Impact</a:t>
            </a:r>
            <a:r>
              <a:rPr b="1" spc="70" dirty="0">
                <a:latin typeface="Arial"/>
                <a:cs typeface="Arial"/>
              </a:rPr>
              <a:t> </a:t>
            </a:r>
            <a:r>
              <a:rPr b="1" spc="-35" dirty="0">
                <a:latin typeface="Arial"/>
                <a:cs typeface="Arial"/>
              </a:rPr>
              <a:t>Summary</a:t>
            </a:r>
            <a:r>
              <a:rPr b="1" spc="55" dirty="0">
                <a:latin typeface="Arial"/>
                <a:cs typeface="Arial"/>
              </a:rPr>
              <a:t> </a:t>
            </a:r>
            <a:r>
              <a:rPr spc="80" dirty="0"/>
              <a:t>—</a:t>
            </a:r>
            <a:r>
              <a:rPr spc="10" dirty="0"/>
              <a:t> </a:t>
            </a:r>
            <a:r>
              <a:rPr spc="-40" dirty="0"/>
              <a:t>Improved/Degraded/No-</a:t>
            </a:r>
            <a:r>
              <a:rPr spc="-20" dirty="0"/>
              <a:t>Change</a:t>
            </a:r>
            <a:r>
              <a:rPr spc="5" dirty="0"/>
              <a:t> </a:t>
            </a:r>
            <a:r>
              <a:rPr spc="-20" dirty="0"/>
              <a:t>verdict</a:t>
            </a:r>
            <a:r>
              <a:rPr spc="5" dirty="0"/>
              <a:t> </a:t>
            </a:r>
            <a:r>
              <a:rPr spc="-10" dirty="0"/>
              <a:t>for</a:t>
            </a:r>
            <a:r>
              <a:rPr spc="10" dirty="0"/>
              <a:t> </a:t>
            </a:r>
            <a:r>
              <a:rPr spc="-55" dirty="0"/>
              <a:t>every</a:t>
            </a:r>
            <a:r>
              <a:rPr spc="5" dirty="0"/>
              <a:t> </a:t>
            </a:r>
            <a:r>
              <a:rPr dirty="0"/>
              <a:t>KPI</a:t>
            </a:r>
            <a:r>
              <a:rPr spc="5" dirty="0"/>
              <a:t> </a:t>
            </a:r>
            <a:r>
              <a:rPr dirty="0"/>
              <a:t>at</a:t>
            </a:r>
            <a:r>
              <a:rPr spc="10" dirty="0"/>
              <a:t> </a:t>
            </a:r>
            <a:r>
              <a:rPr spc="-20" dirty="0"/>
              <a:t>once</a:t>
            </a:r>
          </a:p>
        </p:txBody>
      </p:sp>
      <p:pic>
        <p:nvPicPr>
          <p:cNvPr id="6" name="object 6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37844" y="1337242"/>
            <a:ext cx="114214" cy="114214"/>
          </a:xfrm>
          <a:prstGeom prst="rect">
            <a:avLst/>
          </a:prstGeom>
        </p:spPr>
      </p:pic>
      <p:sp>
        <p:nvSpPr>
          <p:cNvPr id="7" name="object 7"/>
          <p:cNvSpPr txBox="1"/>
          <p:nvPr/>
        </p:nvSpPr>
        <p:spPr>
          <a:xfrm>
            <a:off x="262088" y="1324322"/>
            <a:ext cx="66040" cy="11683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600" spc="-50" dirty="0">
                <a:solidFill>
                  <a:srgbClr val="FFFFFF"/>
                </a:solidFill>
                <a:latin typeface="Arial"/>
                <a:cs typeface="Arial"/>
              </a:rPr>
              <a:t>2</a:t>
            </a:r>
            <a:endParaRPr sz="600" dirty="0">
              <a:latin typeface="Arial"/>
              <a:cs typeface="Arial"/>
            </a:endParaRPr>
          </a:p>
        </p:txBody>
      </p:sp>
      <p:pic>
        <p:nvPicPr>
          <p:cNvPr id="8" name="object 8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228154" y="1706828"/>
            <a:ext cx="114214" cy="114214"/>
          </a:xfrm>
          <a:prstGeom prst="rect">
            <a:avLst/>
          </a:prstGeom>
        </p:spPr>
      </p:pic>
      <p:sp>
        <p:nvSpPr>
          <p:cNvPr id="9" name="object 9"/>
          <p:cNvSpPr txBox="1"/>
          <p:nvPr/>
        </p:nvSpPr>
        <p:spPr>
          <a:xfrm>
            <a:off x="252398" y="1693908"/>
            <a:ext cx="66040" cy="11683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600" spc="-50" dirty="0">
                <a:solidFill>
                  <a:srgbClr val="FFFFFF"/>
                </a:solidFill>
                <a:latin typeface="Arial"/>
                <a:cs typeface="Arial"/>
              </a:rPr>
              <a:t>3</a:t>
            </a:r>
            <a:endParaRPr sz="600" dirty="0">
              <a:latin typeface="Arial"/>
              <a:cs typeface="Arial"/>
            </a:endParaRPr>
          </a:p>
        </p:txBody>
      </p:sp>
      <p:pic>
        <p:nvPicPr>
          <p:cNvPr id="10" name="object 10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229348" y="2390088"/>
            <a:ext cx="114214" cy="114214"/>
          </a:xfrm>
          <a:prstGeom prst="rect">
            <a:avLst/>
          </a:prstGeom>
        </p:spPr>
      </p:pic>
      <p:sp>
        <p:nvSpPr>
          <p:cNvPr id="11" name="object 11"/>
          <p:cNvSpPr txBox="1"/>
          <p:nvPr/>
        </p:nvSpPr>
        <p:spPr>
          <a:xfrm>
            <a:off x="253592" y="2377155"/>
            <a:ext cx="66040" cy="19684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600" spc="-50" dirty="0">
                <a:solidFill>
                  <a:srgbClr val="FFFFFF"/>
                </a:solidFill>
                <a:latin typeface="Arial"/>
                <a:cs typeface="Arial"/>
              </a:rPr>
              <a:t>5</a:t>
            </a:r>
            <a:r>
              <a:rPr sz="600" spc="-50" dirty="0">
                <a:solidFill>
                  <a:srgbClr val="FFFFFF"/>
                </a:solidFill>
                <a:latin typeface="Arial"/>
                <a:cs typeface="Arial"/>
              </a:rPr>
              <a:t>4</a:t>
            </a:r>
            <a:endParaRPr sz="600" dirty="0">
              <a:latin typeface="Arial"/>
              <a:cs typeface="Arial"/>
            </a:endParaRPr>
          </a:p>
        </p:txBody>
      </p:sp>
      <p:pic>
        <p:nvPicPr>
          <p:cNvPr id="12" name="object 12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233019" y="2100411"/>
            <a:ext cx="114214" cy="114214"/>
          </a:xfrm>
          <a:prstGeom prst="rect">
            <a:avLst/>
          </a:prstGeom>
        </p:spPr>
      </p:pic>
      <p:sp>
        <p:nvSpPr>
          <p:cNvPr id="13" name="object 13"/>
          <p:cNvSpPr txBox="1"/>
          <p:nvPr/>
        </p:nvSpPr>
        <p:spPr>
          <a:xfrm>
            <a:off x="257263" y="2087478"/>
            <a:ext cx="66040" cy="104516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600" spc="-50" dirty="0">
                <a:solidFill>
                  <a:srgbClr val="FFFFFF"/>
                </a:solidFill>
                <a:latin typeface="Arial"/>
                <a:cs typeface="Arial"/>
              </a:rPr>
              <a:t>4</a:t>
            </a:r>
            <a:endParaRPr sz="600" dirty="0">
              <a:latin typeface="Arial"/>
              <a:cs typeface="Arial"/>
            </a:endParaRPr>
          </a:p>
        </p:txBody>
      </p:sp>
      <p:grpSp>
        <p:nvGrpSpPr>
          <p:cNvPr id="14" name="object 14"/>
          <p:cNvGrpSpPr/>
          <p:nvPr/>
        </p:nvGrpSpPr>
        <p:grpSpPr>
          <a:xfrm>
            <a:off x="0" y="3130346"/>
            <a:ext cx="5760085" cy="109855"/>
            <a:chOff x="0" y="3130346"/>
            <a:chExt cx="5760085" cy="109855"/>
          </a:xfrm>
        </p:grpSpPr>
        <p:sp>
          <p:nvSpPr>
            <p:cNvPr id="15" name="object 15"/>
            <p:cNvSpPr/>
            <p:nvPr/>
          </p:nvSpPr>
          <p:spPr>
            <a:xfrm>
              <a:off x="0" y="3130346"/>
              <a:ext cx="1920239" cy="109855"/>
            </a:xfrm>
            <a:custGeom>
              <a:avLst/>
              <a:gdLst/>
              <a:ahLst/>
              <a:cxnLst/>
              <a:rect l="l" t="t" r="r" b="b"/>
              <a:pathLst>
                <a:path w="1920239" h="109855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A3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1919973" y="3130346"/>
              <a:ext cx="1920239" cy="109855"/>
            </a:xfrm>
            <a:custGeom>
              <a:avLst/>
              <a:gdLst/>
              <a:ahLst/>
              <a:cxnLst/>
              <a:rect l="l" t="t" r="r" b="b"/>
              <a:pathLst>
                <a:path w="1920239" h="109855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3839946" y="3130346"/>
              <a:ext cx="1920239" cy="109855"/>
            </a:xfrm>
            <a:custGeom>
              <a:avLst/>
              <a:gdLst/>
              <a:ahLst/>
              <a:cxnLst/>
              <a:rect l="l" t="t" r="r" b="b"/>
              <a:pathLst>
                <a:path w="1920239" h="109855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8" name="object 18"/>
          <p:cNvSpPr txBox="1"/>
          <p:nvPr/>
        </p:nvSpPr>
        <p:spPr>
          <a:xfrm>
            <a:off x="2367343" y="3135783"/>
            <a:ext cx="1025525" cy="1022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r>
              <a:rPr sz="600" dirty="0">
                <a:solidFill>
                  <a:srgbClr val="8E0000"/>
                </a:solidFill>
                <a:latin typeface="Arial"/>
                <a:cs typeface="Arial"/>
                <a:hlinkClick r:id="rId7" action="ppaction://hlinksldjump"/>
              </a:rPr>
              <a:t>Optimization</a:t>
            </a:r>
            <a:r>
              <a:rPr sz="600" spc="100" dirty="0">
                <a:solidFill>
                  <a:srgbClr val="8E0000"/>
                </a:solidFill>
                <a:latin typeface="Arial"/>
                <a:cs typeface="Arial"/>
                <a:hlinkClick r:id="rId7" action="ppaction://hlinksldjump"/>
              </a:rPr>
              <a:t> </a:t>
            </a:r>
            <a:r>
              <a:rPr sz="600" dirty="0">
                <a:solidFill>
                  <a:srgbClr val="8E0000"/>
                </a:solidFill>
                <a:latin typeface="Arial"/>
                <a:cs typeface="Arial"/>
                <a:hlinkClick r:id="rId7" action="ppaction://hlinksldjump"/>
              </a:rPr>
              <a:t>Action</a:t>
            </a:r>
            <a:r>
              <a:rPr sz="600" spc="105" dirty="0">
                <a:solidFill>
                  <a:srgbClr val="8E0000"/>
                </a:solidFill>
                <a:latin typeface="Arial"/>
                <a:cs typeface="Arial"/>
                <a:hlinkClick r:id="rId7" action="ppaction://hlinksldjump"/>
              </a:rPr>
              <a:t> </a:t>
            </a:r>
            <a:r>
              <a:rPr sz="600" spc="-10" dirty="0">
                <a:solidFill>
                  <a:srgbClr val="8E0000"/>
                </a:solidFill>
                <a:latin typeface="Arial"/>
                <a:cs typeface="Arial"/>
                <a:hlinkClick r:id="rId7" action="ppaction://hlinksldjump"/>
              </a:rPr>
              <a:t>Analyzer</a:t>
            </a:r>
            <a:endParaRPr sz="600">
              <a:latin typeface="Arial"/>
              <a:cs typeface="Arial"/>
            </a:endParaRPr>
          </a:p>
        </p:txBody>
      </p:sp>
      <p:sp>
        <p:nvSpPr>
          <p:cNvPr id="19" name="object 19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fld id="{81D60167-4931-47E6-BA6A-407CBD079E47}" type="slidenum">
              <a:rPr spc="-30" dirty="0"/>
              <a:t>35</a:t>
            </a:fld>
            <a:r>
              <a:rPr spc="-55" dirty="0"/>
              <a:t> </a:t>
            </a:r>
            <a:r>
              <a:rPr spc="150" dirty="0"/>
              <a:t>/</a:t>
            </a:r>
            <a:r>
              <a:rPr spc="-55" dirty="0"/>
              <a:t> </a:t>
            </a:r>
            <a:r>
              <a:rPr spc="-35" dirty="0"/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3255606129"/>
      </p:ext>
    </p:extLst>
  </p:cSld>
  <p:clrMapOvr>
    <a:masterClrMapping/>
  </p:clrMapOvr>
  <p:transition>
    <p:cut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/>
          <p:nvPr/>
        </p:nvSpPr>
        <p:spPr>
          <a:xfrm>
            <a:off x="95300" y="59877"/>
            <a:ext cx="721360" cy="232756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400" spc="-50" dirty="0">
                <a:solidFill>
                  <a:schemeClr val="bg1"/>
                </a:solidFill>
                <a:latin typeface="Tahoma"/>
                <a:cs typeface="Tahoma"/>
              </a:rPr>
              <a:t>Summary</a:t>
            </a:r>
            <a:endParaRPr sz="1400" dirty="0">
              <a:solidFill>
                <a:schemeClr val="bg1"/>
              </a:solidFill>
              <a:latin typeface="Tahoma"/>
              <a:cs typeface="Tahoma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57378" y="1241425"/>
            <a:ext cx="65265" cy="81990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402932" y="1174710"/>
            <a:ext cx="5230495" cy="784225"/>
          </a:xfrm>
          <a:prstGeom prst="rect">
            <a:avLst/>
          </a:prstGeom>
        </p:spPr>
        <p:txBody>
          <a:bodyPr vert="horz" wrap="square" lIns="0" tIns="6985" rIns="0" bIns="0" rtlCol="0">
            <a:spAutoFit/>
          </a:bodyPr>
          <a:lstStyle/>
          <a:p>
            <a:pPr marL="12700" marR="387350">
              <a:lnSpc>
                <a:spcPct val="102600"/>
              </a:lnSpc>
              <a:spcBef>
                <a:spcPts val="55"/>
              </a:spcBef>
            </a:pPr>
            <a:r>
              <a:rPr sz="1100" dirty="0">
                <a:latin typeface="Tahoma"/>
                <a:cs typeface="Tahoma"/>
              </a:rPr>
              <a:t>Pairs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a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spc="-45" dirty="0">
                <a:latin typeface="Tahoma"/>
                <a:cs typeface="Tahoma"/>
              </a:rPr>
              <a:t>version-</a:t>
            </a:r>
            <a:r>
              <a:rPr sz="1100" spc="-35" dirty="0">
                <a:latin typeface="Tahoma"/>
                <a:cs typeface="Tahoma"/>
              </a:rPr>
              <a:t>controlled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spc="-45" dirty="0">
                <a:latin typeface="Tahoma"/>
                <a:cs typeface="Tahoma"/>
              </a:rPr>
              <a:t>database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with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a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spc="-55" dirty="0">
                <a:latin typeface="Tahoma"/>
                <a:cs typeface="Tahoma"/>
              </a:rPr>
              <a:t>seasonality-</a:t>
            </a:r>
            <a:r>
              <a:rPr sz="1100" spc="-75" dirty="0">
                <a:latin typeface="Tahoma"/>
                <a:cs typeface="Tahoma"/>
              </a:rPr>
              <a:t>aware</a:t>
            </a:r>
            <a:r>
              <a:rPr sz="1100" spc="-10" dirty="0">
                <a:latin typeface="Tahoma"/>
                <a:cs typeface="Tahoma"/>
              </a:rPr>
              <a:t> </a:t>
            </a:r>
            <a:r>
              <a:rPr sz="1100" spc="-45" dirty="0">
                <a:latin typeface="Tahoma"/>
                <a:cs typeface="Tahoma"/>
              </a:rPr>
              <a:t>comparison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spc="-50" dirty="0">
                <a:latin typeface="Tahoma"/>
                <a:cs typeface="Tahoma"/>
              </a:rPr>
              <a:t>engine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and </a:t>
            </a:r>
            <a:r>
              <a:rPr sz="1100" spc="-30" dirty="0">
                <a:latin typeface="Tahoma"/>
                <a:cs typeface="Tahoma"/>
              </a:rPr>
              <a:t>interactive</a:t>
            </a:r>
            <a:r>
              <a:rPr sz="1100" spc="-5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visualization</a:t>
            </a:r>
            <a:endParaRPr sz="1100">
              <a:latin typeface="Tahoma"/>
              <a:cs typeface="Tahoma"/>
            </a:endParaRPr>
          </a:p>
          <a:p>
            <a:pPr marL="12700" marR="5080">
              <a:lnSpc>
                <a:spcPct val="125299"/>
              </a:lnSpc>
            </a:pPr>
            <a:r>
              <a:rPr sz="1100" spc="-40" dirty="0">
                <a:latin typeface="Tahoma"/>
                <a:cs typeface="Tahoma"/>
              </a:rPr>
              <a:t>Turns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40" dirty="0">
                <a:latin typeface="Tahoma"/>
                <a:cs typeface="Tahoma"/>
              </a:rPr>
              <a:t>manual,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spc="-60" dirty="0">
                <a:latin typeface="Tahoma"/>
                <a:cs typeface="Tahoma"/>
              </a:rPr>
              <a:t>error-</a:t>
            </a:r>
            <a:r>
              <a:rPr sz="1100" spc="-65" dirty="0">
                <a:latin typeface="Tahoma"/>
                <a:cs typeface="Tahoma"/>
              </a:rPr>
              <a:t>prone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impact </a:t>
            </a:r>
            <a:r>
              <a:rPr sz="1100" spc="-60" dirty="0">
                <a:latin typeface="Tahoma"/>
                <a:cs typeface="Tahoma"/>
              </a:rPr>
              <a:t>assessment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into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a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45" dirty="0">
                <a:latin typeface="Tahoma"/>
                <a:cs typeface="Tahoma"/>
              </a:rPr>
              <a:t>repeatable,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spc="-35" dirty="0">
                <a:latin typeface="Tahoma"/>
                <a:cs typeface="Tahoma"/>
              </a:rPr>
              <a:t>auditable,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spc="-55" dirty="0">
                <a:latin typeface="Tahoma"/>
                <a:cs typeface="Tahoma"/>
              </a:rPr>
              <a:t>self-</a:t>
            </a:r>
            <a:r>
              <a:rPr sz="1100" spc="-50" dirty="0">
                <a:latin typeface="Tahoma"/>
                <a:cs typeface="Tahoma"/>
              </a:rPr>
              <a:t>service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tool </a:t>
            </a:r>
            <a:r>
              <a:rPr sz="1100" spc="-45" dirty="0">
                <a:latin typeface="Tahoma"/>
                <a:cs typeface="Tahoma"/>
              </a:rPr>
              <a:t>Answers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the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central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spc="-40" dirty="0">
                <a:latin typeface="Tahoma"/>
                <a:cs typeface="Tahoma"/>
              </a:rPr>
              <a:t>question:</a:t>
            </a:r>
            <a:r>
              <a:rPr sz="1100" spc="85" dirty="0">
                <a:latin typeface="Tahoma"/>
                <a:cs typeface="Tahoma"/>
              </a:rPr>
              <a:t> </a:t>
            </a:r>
            <a:r>
              <a:rPr sz="1100" i="1" dirty="0">
                <a:latin typeface="Calibri"/>
                <a:cs typeface="Calibri"/>
              </a:rPr>
              <a:t>did</a:t>
            </a:r>
            <a:r>
              <a:rPr sz="1100" i="1" spc="70" dirty="0">
                <a:latin typeface="Calibri"/>
                <a:cs typeface="Calibri"/>
              </a:rPr>
              <a:t> </a:t>
            </a:r>
            <a:r>
              <a:rPr sz="1100" i="1" dirty="0">
                <a:latin typeface="Calibri"/>
                <a:cs typeface="Calibri"/>
              </a:rPr>
              <a:t>this</a:t>
            </a:r>
            <a:r>
              <a:rPr sz="1100" i="1" spc="70" dirty="0">
                <a:latin typeface="Calibri"/>
                <a:cs typeface="Calibri"/>
              </a:rPr>
              <a:t> </a:t>
            </a:r>
            <a:r>
              <a:rPr sz="1100" i="1" dirty="0">
                <a:latin typeface="Calibri"/>
                <a:cs typeface="Calibri"/>
              </a:rPr>
              <a:t>change</a:t>
            </a:r>
            <a:r>
              <a:rPr sz="1100" i="1" spc="75" dirty="0">
                <a:latin typeface="Calibri"/>
                <a:cs typeface="Calibri"/>
              </a:rPr>
              <a:t> </a:t>
            </a:r>
            <a:r>
              <a:rPr sz="1100" i="1" dirty="0">
                <a:latin typeface="Calibri"/>
                <a:cs typeface="Calibri"/>
              </a:rPr>
              <a:t>actually</a:t>
            </a:r>
            <a:r>
              <a:rPr sz="1100" i="1" spc="70" dirty="0">
                <a:latin typeface="Calibri"/>
                <a:cs typeface="Calibri"/>
              </a:rPr>
              <a:t> </a:t>
            </a:r>
            <a:r>
              <a:rPr sz="1100" i="1" spc="-20" dirty="0">
                <a:latin typeface="Calibri"/>
                <a:cs typeface="Calibri"/>
              </a:rPr>
              <a:t>help?</a:t>
            </a:r>
            <a:endParaRPr sz="1100">
              <a:latin typeface="Calibri"/>
              <a:cs typeface="Calibri"/>
            </a:endParaRPr>
          </a:p>
        </p:txBody>
      </p:sp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58917" y="1619451"/>
            <a:ext cx="65265" cy="65265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257378" y="1851025"/>
            <a:ext cx="65265" cy="65265"/>
          </a:xfrm>
          <a:prstGeom prst="rect">
            <a:avLst/>
          </a:prstGeom>
        </p:spPr>
      </p:pic>
      <p:grpSp>
        <p:nvGrpSpPr>
          <p:cNvPr id="7" name="object 7"/>
          <p:cNvGrpSpPr/>
          <p:nvPr/>
        </p:nvGrpSpPr>
        <p:grpSpPr>
          <a:xfrm>
            <a:off x="0" y="3130346"/>
            <a:ext cx="5760085" cy="109855"/>
            <a:chOff x="0" y="3130346"/>
            <a:chExt cx="5760085" cy="109855"/>
          </a:xfrm>
        </p:grpSpPr>
        <p:sp>
          <p:nvSpPr>
            <p:cNvPr id="8" name="object 8"/>
            <p:cNvSpPr/>
            <p:nvPr/>
          </p:nvSpPr>
          <p:spPr>
            <a:xfrm>
              <a:off x="0" y="3130346"/>
              <a:ext cx="1920239" cy="109855"/>
            </a:xfrm>
            <a:custGeom>
              <a:avLst/>
              <a:gdLst/>
              <a:ahLst/>
              <a:cxnLst/>
              <a:rect l="l" t="t" r="r" b="b"/>
              <a:pathLst>
                <a:path w="1920239" h="109855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A3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1919973" y="3130346"/>
              <a:ext cx="1920239" cy="109855"/>
            </a:xfrm>
            <a:custGeom>
              <a:avLst/>
              <a:gdLst/>
              <a:ahLst/>
              <a:cxnLst/>
              <a:rect l="l" t="t" r="r" b="b"/>
              <a:pathLst>
                <a:path w="1920239" h="109855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3839946" y="3130346"/>
              <a:ext cx="1920239" cy="109855"/>
            </a:xfrm>
            <a:custGeom>
              <a:avLst/>
              <a:gdLst/>
              <a:ahLst/>
              <a:cxnLst/>
              <a:rect l="l" t="t" r="r" b="b"/>
              <a:pathLst>
                <a:path w="1920239" h="109855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2367343" y="3135783"/>
            <a:ext cx="1025525" cy="1022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r>
              <a:rPr sz="600" dirty="0">
                <a:solidFill>
                  <a:srgbClr val="8E0000"/>
                </a:solidFill>
                <a:latin typeface="Arial"/>
                <a:cs typeface="Arial"/>
                <a:hlinkClick r:id="rId5" action="ppaction://hlinksldjump"/>
              </a:rPr>
              <a:t>Optimization</a:t>
            </a:r>
            <a:r>
              <a:rPr sz="600" spc="100" dirty="0">
                <a:solidFill>
                  <a:srgbClr val="8E0000"/>
                </a:solidFill>
                <a:latin typeface="Arial"/>
                <a:cs typeface="Arial"/>
                <a:hlinkClick r:id="rId5" action="ppaction://hlinksldjump"/>
              </a:rPr>
              <a:t> </a:t>
            </a:r>
            <a:r>
              <a:rPr sz="600" dirty="0">
                <a:solidFill>
                  <a:srgbClr val="8E0000"/>
                </a:solidFill>
                <a:latin typeface="Arial"/>
                <a:cs typeface="Arial"/>
                <a:hlinkClick r:id="rId5" action="ppaction://hlinksldjump"/>
              </a:rPr>
              <a:t>Action</a:t>
            </a:r>
            <a:r>
              <a:rPr sz="600" spc="105" dirty="0">
                <a:solidFill>
                  <a:srgbClr val="8E0000"/>
                </a:solidFill>
                <a:latin typeface="Arial"/>
                <a:cs typeface="Arial"/>
                <a:hlinkClick r:id="rId5" action="ppaction://hlinksldjump"/>
              </a:rPr>
              <a:t> </a:t>
            </a:r>
            <a:r>
              <a:rPr sz="600" spc="-10" dirty="0">
                <a:solidFill>
                  <a:srgbClr val="8E0000"/>
                </a:solidFill>
                <a:latin typeface="Arial"/>
                <a:cs typeface="Arial"/>
                <a:hlinkClick r:id="rId5" action="ppaction://hlinksldjump"/>
              </a:rPr>
              <a:t>Analyzer</a:t>
            </a:r>
            <a:endParaRPr sz="600">
              <a:latin typeface="Arial"/>
              <a:cs typeface="Arial"/>
            </a:endParaRPr>
          </a:p>
        </p:txBody>
      </p:sp>
      <p:sp>
        <p:nvSpPr>
          <p:cNvPr id="12" name="object 12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fld id="{81D60167-4931-47E6-BA6A-407CBD079E47}" type="slidenum">
              <a:rPr spc="-30" dirty="0"/>
              <a:t>36</a:t>
            </a:fld>
            <a:r>
              <a:rPr spc="-55" dirty="0"/>
              <a:t> </a:t>
            </a:r>
            <a:r>
              <a:rPr spc="150" dirty="0"/>
              <a:t>/</a:t>
            </a:r>
            <a:r>
              <a:rPr spc="-55" dirty="0"/>
              <a:t> </a:t>
            </a:r>
            <a:r>
              <a:rPr spc="-35" dirty="0"/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88228224"/>
      </p:ext>
    </p:extLst>
  </p:cSld>
  <p:clrMapOvr>
    <a:masterClrMapping/>
  </p:clrMapOvr>
  <p:transition>
    <p:cut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97827" y="874331"/>
            <a:ext cx="4523105" cy="494030"/>
            <a:chOff x="97827" y="874331"/>
            <a:chExt cx="4523105" cy="494030"/>
          </a:xfrm>
        </p:grpSpPr>
        <p:sp>
          <p:nvSpPr>
            <p:cNvPr id="3" name="object 3"/>
            <p:cNvSpPr/>
            <p:nvPr/>
          </p:nvSpPr>
          <p:spPr>
            <a:xfrm>
              <a:off x="97827" y="874331"/>
              <a:ext cx="4472305" cy="82550"/>
            </a:xfrm>
            <a:custGeom>
              <a:avLst/>
              <a:gdLst/>
              <a:ahLst/>
              <a:cxnLst/>
              <a:rect l="l" t="t" r="r" b="b"/>
              <a:pathLst>
                <a:path w="4472305" h="82550">
                  <a:moveTo>
                    <a:pt x="4421063" y="0"/>
                  </a:moveTo>
                  <a:lnTo>
                    <a:pt x="50800" y="0"/>
                  </a:lnTo>
                  <a:lnTo>
                    <a:pt x="31075" y="4008"/>
                  </a:lnTo>
                  <a:lnTo>
                    <a:pt x="14922" y="14922"/>
                  </a:lnTo>
                  <a:lnTo>
                    <a:pt x="4008" y="31075"/>
                  </a:lnTo>
                  <a:lnTo>
                    <a:pt x="0" y="50800"/>
                  </a:lnTo>
                  <a:lnTo>
                    <a:pt x="0" y="82384"/>
                  </a:lnTo>
                  <a:lnTo>
                    <a:pt x="4471864" y="82384"/>
                  </a:lnTo>
                  <a:lnTo>
                    <a:pt x="4471864" y="50800"/>
                  </a:lnTo>
                  <a:lnTo>
                    <a:pt x="4467855" y="31075"/>
                  </a:lnTo>
                  <a:lnTo>
                    <a:pt x="4456941" y="14922"/>
                  </a:lnTo>
                  <a:lnTo>
                    <a:pt x="4440788" y="4008"/>
                  </a:lnTo>
                  <a:lnTo>
                    <a:pt x="4421063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148628" y="937580"/>
              <a:ext cx="4472305" cy="431165"/>
            </a:xfrm>
            <a:custGeom>
              <a:avLst/>
              <a:gdLst/>
              <a:ahLst/>
              <a:cxnLst/>
              <a:rect l="l" t="t" r="r" b="b"/>
              <a:pathLst>
                <a:path w="4472305" h="431165">
                  <a:moveTo>
                    <a:pt x="4471864" y="0"/>
                  </a:moveTo>
                  <a:lnTo>
                    <a:pt x="0" y="0"/>
                  </a:lnTo>
                  <a:lnTo>
                    <a:pt x="0" y="430667"/>
                  </a:lnTo>
                  <a:lnTo>
                    <a:pt x="4471864" y="430667"/>
                  </a:lnTo>
                  <a:lnTo>
                    <a:pt x="4471864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97827" y="918743"/>
              <a:ext cx="4472305" cy="398780"/>
            </a:xfrm>
            <a:custGeom>
              <a:avLst/>
              <a:gdLst/>
              <a:ahLst/>
              <a:cxnLst/>
              <a:rect l="l" t="t" r="r" b="b"/>
              <a:pathLst>
                <a:path w="4472305" h="398780">
                  <a:moveTo>
                    <a:pt x="4471864" y="0"/>
                  </a:moveTo>
                  <a:lnTo>
                    <a:pt x="0" y="0"/>
                  </a:lnTo>
                  <a:lnTo>
                    <a:pt x="0" y="347903"/>
                  </a:lnTo>
                  <a:lnTo>
                    <a:pt x="4008" y="367627"/>
                  </a:lnTo>
                  <a:lnTo>
                    <a:pt x="14922" y="383780"/>
                  </a:lnTo>
                  <a:lnTo>
                    <a:pt x="31075" y="394695"/>
                  </a:lnTo>
                  <a:lnTo>
                    <a:pt x="50800" y="398703"/>
                  </a:lnTo>
                  <a:lnTo>
                    <a:pt x="4421063" y="398703"/>
                  </a:lnTo>
                  <a:lnTo>
                    <a:pt x="4440788" y="394695"/>
                  </a:lnTo>
                  <a:lnTo>
                    <a:pt x="4456941" y="383780"/>
                  </a:lnTo>
                  <a:lnTo>
                    <a:pt x="4467855" y="367627"/>
                  </a:lnTo>
                  <a:lnTo>
                    <a:pt x="4471864" y="347903"/>
                  </a:lnTo>
                  <a:lnTo>
                    <a:pt x="4471864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148628" y="937580"/>
            <a:ext cx="4472305" cy="431165"/>
          </a:xfrm>
          <a:prstGeom prst="rect">
            <a:avLst/>
          </a:prstGeom>
        </p:spPr>
        <p:txBody>
          <a:bodyPr vert="horz" wrap="square" lIns="0" tIns="56515" rIns="0" bIns="0" rtlCol="0">
            <a:spAutoFit/>
          </a:bodyPr>
          <a:lstStyle/>
          <a:p>
            <a:pPr marR="93345" algn="ctr">
              <a:lnSpc>
                <a:spcPct val="100000"/>
              </a:lnSpc>
              <a:spcBef>
                <a:spcPts val="445"/>
              </a:spcBef>
            </a:pPr>
            <a:r>
              <a:rPr sz="1400" spc="-114" dirty="0">
                <a:solidFill>
                  <a:srgbClr val="FFFFFF"/>
                </a:solidFill>
                <a:latin typeface="Arial Black"/>
                <a:cs typeface="Arial Black"/>
              </a:rPr>
              <a:t>Mahmoud</a:t>
            </a:r>
            <a:r>
              <a:rPr sz="1400" spc="4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10" dirty="0">
                <a:solidFill>
                  <a:srgbClr val="FFFFFF"/>
                </a:solidFill>
                <a:latin typeface="Arial Black"/>
                <a:cs typeface="Arial Black"/>
              </a:rPr>
              <a:t>Ashraf</a:t>
            </a:r>
            <a:endParaRPr sz="1400">
              <a:latin typeface="Arial Black"/>
              <a:cs typeface="Arial Black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97815" y="1499501"/>
            <a:ext cx="4472305" cy="584835"/>
          </a:xfrm>
          <a:custGeom>
            <a:avLst/>
            <a:gdLst/>
            <a:ahLst/>
            <a:cxnLst/>
            <a:rect l="l" t="t" r="r" b="b"/>
            <a:pathLst>
              <a:path w="4472305" h="584835">
                <a:moveTo>
                  <a:pt x="4471873" y="44424"/>
                </a:moveTo>
                <a:lnTo>
                  <a:pt x="4470565" y="44424"/>
                </a:lnTo>
                <a:lnTo>
                  <a:pt x="4467860" y="31076"/>
                </a:lnTo>
                <a:lnTo>
                  <a:pt x="4456950" y="14922"/>
                </a:lnTo>
                <a:lnTo>
                  <a:pt x="4440796" y="4013"/>
                </a:lnTo>
                <a:lnTo>
                  <a:pt x="4421073" y="0"/>
                </a:lnTo>
                <a:lnTo>
                  <a:pt x="50812" y="0"/>
                </a:lnTo>
                <a:lnTo>
                  <a:pt x="31076" y="4013"/>
                </a:lnTo>
                <a:lnTo>
                  <a:pt x="14922" y="14922"/>
                </a:lnTo>
                <a:lnTo>
                  <a:pt x="4013" y="31076"/>
                </a:lnTo>
                <a:lnTo>
                  <a:pt x="1295" y="44424"/>
                </a:lnTo>
                <a:lnTo>
                  <a:pt x="0" y="44424"/>
                </a:lnTo>
                <a:lnTo>
                  <a:pt x="0" y="50800"/>
                </a:lnTo>
                <a:lnTo>
                  <a:pt x="0" y="82384"/>
                </a:lnTo>
                <a:lnTo>
                  <a:pt x="0" y="533603"/>
                </a:lnTo>
                <a:lnTo>
                  <a:pt x="4013" y="553339"/>
                </a:lnTo>
                <a:lnTo>
                  <a:pt x="14922" y="569493"/>
                </a:lnTo>
                <a:lnTo>
                  <a:pt x="31076" y="580402"/>
                </a:lnTo>
                <a:lnTo>
                  <a:pt x="50812" y="584415"/>
                </a:lnTo>
                <a:lnTo>
                  <a:pt x="4421073" y="584415"/>
                </a:lnTo>
                <a:lnTo>
                  <a:pt x="4440796" y="580402"/>
                </a:lnTo>
                <a:lnTo>
                  <a:pt x="4456950" y="569493"/>
                </a:lnTo>
                <a:lnTo>
                  <a:pt x="4467860" y="553339"/>
                </a:lnTo>
                <a:lnTo>
                  <a:pt x="4471873" y="533603"/>
                </a:lnTo>
                <a:lnTo>
                  <a:pt x="4471873" y="82384"/>
                </a:lnTo>
                <a:lnTo>
                  <a:pt x="4471873" y="50800"/>
                </a:lnTo>
                <a:lnTo>
                  <a:pt x="4471873" y="44424"/>
                </a:lnTo>
                <a:close/>
              </a:path>
            </a:pathLst>
          </a:custGeom>
          <a:solidFill>
            <a:srgbClr val="E5E5E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781176" y="1586049"/>
            <a:ext cx="3105150" cy="38151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706120" marR="5080" indent="-694055">
              <a:lnSpc>
                <a:spcPct val="100000"/>
              </a:lnSpc>
              <a:spcBef>
                <a:spcPts val="95"/>
              </a:spcBef>
            </a:pPr>
            <a:r>
              <a:rPr sz="1200" spc="-65" dirty="0">
                <a:solidFill>
                  <a:srgbClr val="13132C"/>
                </a:solidFill>
                <a:latin typeface="Tahoma"/>
                <a:cs typeface="Tahoma"/>
              </a:rPr>
              <a:t>Telecom</a:t>
            </a:r>
            <a:r>
              <a:rPr sz="1200" spc="-10" dirty="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sz="1200" dirty="0">
                <a:solidFill>
                  <a:srgbClr val="13132C"/>
                </a:solidFill>
                <a:latin typeface="Tahoma"/>
                <a:cs typeface="Tahoma"/>
              </a:rPr>
              <a:t>RAG</a:t>
            </a:r>
            <a:r>
              <a:rPr sz="1200" spc="-10" dirty="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sz="1200" spc="-35" dirty="0">
                <a:solidFill>
                  <a:srgbClr val="13132C"/>
                </a:solidFill>
                <a:latin typeface="Tahoma"/>
                <a:cs typeface="Tahoma"/>
              </a:rPr>
              <a:t>Assistant</a:t>
            </a:r>
            <a:r>
              <a:rPr sz="1200" spc="-10" dirty="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sz="1200" spc="355" dirty="0">
                <a:solidFill>
                  <a:srgbClr val="13132C"/>
                </a:solidFill>
                <a:latin typeface="Tahoma"/>
                <a:cs typeface="Tahoma"/>
              </a:rPr>
              <a:t>•</a:t>
            </a:r>
            <a:r>
              <a:rPr sz="1200" spc="-5" dirty="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sz="1200" spc="-30" dirty="0">
                <a:solidFill>
                  <a:srgbClr val="13132C"/>
                </a:solidFill>
                <a:latin typeface="Tahoma"/>
                <a:cs typeface="Tahoma"/>
              </a:rPr>
              <a:t>Pipeline</a:t>
            </a:r>
            <a:r>
              <a:rPr sz="1200" spc="-5" dirty="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sz="1200" spc="355" dirty="0">
                <a:solidFill>
                  <a:srgbClr val="13132C"/>
                </a:solidFill>
                <a:latin typeface="Tahoma"/>
                <a:cs typeface="Tahoma"/>
              </a:rPr>
              <a:t>•</a:t>
            </a:r>
            <a:r>
              <a:rPr sz="1200" spc="-10" dirty="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sz="1200" spc="-65" dirty="0">
                <a:solidFill>
                  <a:srgbClr val="13132C"/>
                </a:solidFill>
                <a:latin typeface="Tahoma"/>
                <a:cs typeface="Tahoma"/>
              </a:rPr>
              <a:t>Interface</a:t>
            </a:r>
            <a:r>
              <a:rPr sz="1200" spc="-5" dirty="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sz="1200" spc="305" dirty="0">
                <a:solidFill>
                  <a:srgbClr val="13132C"/>
                </a:solidFill>
                <a:latin typeface="Tahoma"/>
                <a:cs typeface="Tahoma"/>
              </a:rPr>
              <a:t>• </a:t>
            </a:r>
            <a:r>
              <a:rPr lang="en-US" sz="1200" spc="-40" dirty="0">
                <a:solidFill>
                  <a:srgbClr val="13132C"/>
                </a:solidFill>
                <a:latin typeface="Tahoma"/>
                <a:cs typeface="Tahoma"/>
              </a:rPr>
              <a:t>Real case scenario</a:t>
            </a:r>
            <a:endParaRPr sz="1200" dirty="0">
              <a:latin typeface="Tahoma"/>
              <a:cs typeface="Tahoma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10" name="object 10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14" name="object 14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sz="600" spc="-10" dirty="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 dirty="0">
              <a:latin typeface="Tahoma"/>
              <a:cs typeface="Tahoma"/>
            </a:endParaRPr>
          </a:p>
        </p:txBody>
      </p:sp>
      <p:sp>
        <p:nvSpPr>
          <p:cNvPr id="15" name="object 1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37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</p:spTree>
  </p:cSld>
  <p:clrMapOvr>
    <a:masterClrMapping/>
  </p:clrMapOvr>
  <p:transition>
    <p:cut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pc="-60" dirty="0"/>
              <a:t>RAG</a:t>
            </a:r>
            <a:r>
              <a:rPr spc="25" dirty="0"/>
              <a:t> </a:t>
            </a:r>
            <a:r>
              <a:rPr spc="-145" dirty="0"/>
              <a:t>Assistant</a:t>
            </a:r>
            <a:r>
              <a:rPr spc="25" dirty="0"/>
              <a:t> </a:t>
            </a:r>
            <a:r>
              <a:rPr spc="165" dirty="0"/>
              <a:t>—</a:t>
            </a:r>
            <a:r>
              <a:rPr spc="25" dirty="0"/>
              <a:t> </a:t>
            </a:r>
            <a:r>
              <a:rPr spc="-145" dirty="0"/>
              <a:t>Overview</a:t>
            </a:r>
            <a:r>
              <a:rPr spc="30" dirty="0"/>
              <a:t> </a:t>
            </a:r>
            <a:r>
              <a:rPr dirty="0"/>
              <a:t>&amp;</a:t>
            </a:r>
            <a:r>
              <a:rPr spc="25" dirty="0"/>
              <a:t> </a:t>
            </a:r>
            <a:r>
              <a:rPr spc="-85" dirty="0"/>
              <a:t>Motivation</a:t>
            </a:r>
          </a:p>
        </p:txBody>
      </p:sp>
      <p:sp>
        <p:nvSpPr>
          <p:cNvPr id="3" name="object 3"/>
          <p:cNvSpPr/>
          <p:nvPr/>
        </p:nvSpPr>
        <p:spPr>
          <a:xfrm>
            <a:off x="61235" y="394445"/>
            <a:ext cx="2761480" cy="603229"/>
          </a:xfrm>
          <a:custGeom>
            <a:avLst/>
            <a:gdLst/>
            <a:ahLst/>
            <a:cxnLst/>
            <a:rect l="l" t="t" r="r" b="b"/>
            <a:pathLst>
              <a:path w="2560320" h="208915">
                <a:moveTo>
                  <a:pt x="2509047" y="0"/>
                </a:moveTo>
                <a:lnTo>
                  <a:pt x="50800" y="0"/>
                </a:lnTo>
                <a:lnTo>
                  <a:pt x="31075" y="4008"/>
                </a:lnTo>
                <a:lnTo>
                  <a:pt x="14922" y="14922"/>
                </a:lnTo>
                <a:lnTo>
                  <a:pt x="4008" y="31075"/>
                </a:lnTo>
                <a:lnTo>
                  <a:pt x="0" y="50800"/>
                </a:lnTo>
                <a:lnTo>
                  <a:pt x="0" y="208906"/>
                </a:lnTo>
                <a:lnTo>
                  <a:pt x="2559847" y="208906"/>
                </a:lnTo>
                <a:lnTo>
                  <a:pt x="2559847" y="50800"/>
                </a:lnTo>
                <a:lnTo>
                  <a:pt x="2555839" y="31075"/>
                </a:lnTo>
                <a:lnTo>
                  <a:pt x="2544925" y="14922"/>
                </a:lnTo>
                <a:lnTo>
                  <a:pt x="2528772" y="4008"/>
                </a:lnTo>
                <a:lnTo>
                  <a:pt x="2509047" y="0"/>
                </a:lnTo>
                <a:close/>
              </a:path>
            </a:pathLst>
          </a:custGeom>
          <a:solidFill>
            <a:srgbClr val="B4131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749300" y="393637"/>
            <a:ext cx="969644" cy="266700"/>
          </a:xfrm>
          <a:prstGeom prst="rect">
            <a:avLst/>
          </a:prstGeom>
        </p:spPr>
        <p:txBody>
          <a:bodyPr vert="horz" wrap="square" lIns="0" tIns="32384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54"/>
              </a:spcBef>
            </a:pPr>
            <a:r>
              <a:rPr sz="1400" dirty="0">
                <a:solidFill>
                  <a:srgbClr val="FFFFFF"/>
                </a:solidFill>
                <a:latin typeface="Tahoma"/>
                <a:cs typeface="Tahoma"/>
              </a:rPr>
              <a:t>The</a:t>
            </a:r>
            <a:r>
              <a:rPr sz="1400" spc="5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1400" spc="-40" dirty="0">
                <a:solidFill>
                  <a:srgbClr val="FFFFFF"/>
                </a:solidFill>
                <a:latin typeface="Tahoma"/>
                <a:cs typeface="Tahoma"/>
              </a:rPr>
              <a:t>Problem</a:t>
            </a:r>
            <a:endParaRPr sz="1400" dirty="0">
              <a:latin typeface="Tahoma"/>
              <a:cs typeface="Tahoma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61235" y="659993"/>
            <a:ext cx="2761989" cy="2410232"/>
            <a:chOff x="230390" y="1035799"/>
            <a:chExt cx="2560320" cy="1647636"/>
          </a:xfrm>
        </p:grpSpPr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30390" y="1035799"/>
              <a:ext cx="2559847" cy="50609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>
            <a:xfrm>
              <a:off x="230390" y="1080060"/>
              <a:ext cx="2560320" cy="1603375"/>
            </a:xfrm>
            <a:custGeom>
              <a:avLst/>
              <a:gdLst/>
              <a:ahLst/>
              <a:cxnLst/>
              <a:rect l="l" t="t" r="r" b="b"/>
              <a:pathLst>
                <a:path w="2560320" h="1603375">
                  <a:moveTo>
                    <a:pt x="2559847" y="0"/>
                  </a:moveTo>
                  <a:lnTo>
                    <a:pt x="0" y="0"/>
                  </a:lnTo>
                  <a:lnTo>
                    <a:pt x="0" y="1552014"/>
                  </a:lnTo>
                  <a:lnTo>
                    <a:pt x="4008" y="1571739"/>
                  </a:lnTo>
                  <a:lnTo>
                    <a:pt x="14922" y="1587892"/>
                  </a:lnTo>
                  <a:lnTo>
                    <a:pt x="31075" y="1598806"/>
                  </a:lnTo>
                  <a:lnTo>
                    <a:pt x="50800" y="1602814"/>
                  </a:lnTo>
                  <a:lnTo>
                    <a:pt x="2509047" y="1602814"/>
                  </a:lnTo>
                  <a:lnTo>
                    <a:pt x="2528772" y="1598806"/>
                  </a:lnTo>
                  <a:lnTo>
                    <a:pt x="2544925" y="1587892"/>
                  </a:lnTo>
                  <a:lnTo>
                    <a:pt x="2555839" y="1571739"/>
                  </a:lnTo>
                  <a:lnTo>
                    <a:pt x="2559847" y="1552014"/>
                  </a:lnTo>
                  <a:lnTo>
                    <a:pt x="2559847" y="0"/>
                  </a:lnTo>
                  <a:close/>
                </a:path>
              </a:pathLst>
            </a:custGeom>
            <a:solidFill>
              <a:srgbClr val="E5E5E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-523352" y="1883400"/>
            <a:ext cx="2755380" cy="68929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endParaRPr lang="en-US" sz="1100" dirty="0">
              <a:latin typeface="Arial Black" panose="020B0A04020102020204" pitchFamily="34" charset="0"/>
            </a:endParaRPr>
          </a:p>
          <a:p>
            <a:endParaRPr lang="en-US" sz="1100" dirty="0">
              <a:latin typeface="Arial Black" panose="020B0A04020102020204" pitchFamily="34" charset="0"/>
            </a:endParaRPr>
          </a:p>
          <a:p>
            <a:endParaRPr lang="en-US" sz="1100" dirty="0">
              <a:latin typeface="Arial Black" panose="020B0A04020102020204" pitchFamily="34" charset="0"/>
            </a:endParaRPr>
          </a:p>
          <a:p>
            <a:endParaRPr lang="en-US" sz="1100" dirty="0">
              <a:latin typeface="Arial Black" panose="020B0A04020102020204" pitchFamily="34" charset="0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2941347" y="390400"/>
            <a:ext cx="2735942" cy="320674"/>
          </a:xfrm>
          <a:custGeom>
            <a:avLst/>
            <a:gdLst/>
            <a:ahLst/>
            <a:cxnLst/>
            <a:rect l="l" t="t" r="r" b="b"/>
            <a:pathLst>
              <a:path w="2560320" h="208915">
                <a:moveTo>
                  <a:pt x="2509047" y="0"/>
                </a:moveTo>
                <a:lnTo>
                  <a:pt x="50800" y="0"/>
                </a:lnTo>
                <a:lnTo>
                  <a:pt x="31075" y="4008"/>
                </a:lnTo>
                <a:lnTo>
                  <a:pt x="14922" y="14922"/>
                </a:lnTo>
                <a:lnTo>
                  <a:pt x="4008" y="31075"/>
                </a:lnTo>
                <a:lnTo>
                  <a:pt x="0" y="50800"/>
                </a:lnTo>
                <a:lnTo>
                  <a:pt x="0" y="208906"/>
                </a:lnTo>
                <a:lnTo>
                  <a:pt x="2559847" y="208906"/>
                </a:lnTo>
                <a:lnTo>
                  <a:pt x="2559847" y="50800"/>
                </a:lnTo>
                <a:lnTo>
                  <a:pt x="2555839" y="31075"/>
                </a:lnTo>
                <a:lnTo>
                  <a:pt x="2544925" y="14922"/>
                </a:lnTo>
                <a:lnTo>
                  <a:pt x="2528772" y="4008"/>
                </a:lnTo>
                <a:lnTo>
                  <a:pt x="2509047" y="0"/>
                </a:lnTo>
                <a:close/>
              </a:path>
            </a:pathLst>
          </a:custGeom>
          <a:solidFill>
            <a:srgbClr val="B4131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/>
          <p:nvPr/>
        </p:nvSpPr>
        <p:spPr>
          <a:xfrm>
            <a:off x="3167770" y="393293"/>
            <a:ext cx="952500" cy="266700"/>
          </a:xfrm>
          <a:prstGeom prst="rect">
            <a:avLst/>
          </a:prstGeom>
        </p:spPr>
        <p:txBody>
          <a:bodyPr vert="horz" wrap="square" lIns="0" tIns="32384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54"/>
              </a:spcBef>
            </a:pPr>
            <a:r>
              <a:rPr sz="1400" dirty="0">
                <a:solidFill>
                  <a:srgbClr val="FFFFFF"/>
                </a:solidFill>
                <a:latin typeface="Tahoma"/>
                <a:cs typeface="Tahoma"/>
              </a:rPr>
              <a:t>Our</a:t>
            </a:r>
            <a:r>
              <a:rPr sz="1400" spc="-35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1400" spc="-30" dirty="0">
                <a:solidFill>
                  <a:srgbClr val="FFFFFF"/>
                </a:solidFill>
                <a:latin typeface="Tahoma"/>
                <a:cs typeface="Tahoma"/>
              </a:rPr>
              <a:t>Solution</a:t>
            </a:r>
            <a:endParaRPr sz="1400" dirty="0">
              <a:latin typeface="Tahoma"/>
              <a:cs typeface="Tahoma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2941856" y="635184"/>
            <a:ext cx="2735434" cy="2435041"/>
            <a:chOff x="2969792" y="1035799"/>
            <a:chExt cx="2560320" cy="1647643"/>
          </a:xfrm>
        </p:grpSpPr>
        <p:pic>
          <p:nvPicPr>
            <p:cNvPr id="13" name="object 13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969792" y="1035799"/>
              <a:ext cx="2559847" cy="50609"/>
            </a:xfrm>
            <a:prstGeom prst="rect">
              <a:avLst/>
            </a:prstGeom>
          </p:spPr>
        </p:pic>
        <p:sp>
          <p:nvSpPr>
            <p:cNvPr id="15" name="object 15"/>
            <p:cNvSpPr/>
            <p:nvPr/>
          </p:nvSpPr>
          <p:spPr>
            <a:xfrm>
              <a:off x="2969792" y="1080067"/>
              <a:ext cx="2560320" cy="1603375"/>
            </a:xfrm>
            <a:custGeom>
              <a:avLst/>
              <a:gdLst/>
              <a:ahLst/>
              <a:cxnLst/>
              <a:rect l="l" t="t" r="r" b="b"/>
              <a:pathLst>
                <a:path w="2560320" h="1603375">
                  <a:moveTo>
                    <a:pt x="2559847" y="0"/>
                  </a:moveTo>
                  <a:lnTo>
                    <a:pt x="0" y="0"/>
                  </a:lnTo>
                  <a:lnTo>
                    <a:pt x="0" y="1552019"/>
                  </a:lnTo>
                  <a:lnTo>
                    <a:pt x="4008" y="1571744"/>
                  </a:lnTo>
                  <a:lnTo>
                    <a:pt x="14922" y="1587897"/>
                  </a:lnTo>
                  <a:lnTo>
                    <a:pt x="31075" y="1598811"/>
                  </a:lnTo>
                  <a:lnTo>
                    <a:pt x="50800" y="1602820"/>
                  </a:lnTo>
                  <a:lnTo>
                    <a:pt x="2509047" y="1602820"/>
                  </a:lnTo>
                  <a:lnTo>
                    <a:pt x="2528772" y="1598811"/>
                  </a:lnTo>
                  <a:lnTo>
                    <a:pt x="2544925" y="1587897"/>
                  </a:lnTo>
                  <a:lnTo>
                    <a:pt x="2555839" y="1571744"/>
                  </a:lnTo>
                  <a:lnTo>
                    <a:pt x="2559847" y="1552019"/>
                  </a:lnTo>
                  <a:lnTo>
                    <a:pt x="2559847" y="0"/>
                  </a:lnTo>
                  <a:close/>
                </a:path>
              </a:pathLst>
            </a:custGeom>
            <a:solidFill>
              <a:srgbClr val="E5E5E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2976026" y="645684"/>
            <a:ext cx="2644724" cy="858568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endParaRPr lang="en-US" sz="1100" dirty="0">
              <a:latin typeface="Arial Black" panose="020B0A04020102020204" pitchFamily="34" charset="0"/>
            </a:endParaRPr>
          </a:p>
          <a:p>
            <a:endParaRPr lang="en-US" sz="1100" dirty="0">
              <a:latin typeface="Arial Black" panose="020B0A04020102020204" pitchFamily="34" charset="0"/>
            </a:endParaRPr>
          </a:p>
          <a:p>
            <a:endParaRPr lang="en-US" sz="1100" dirty="0">
              <a:latin typeface="Arial Black" panose="020B0A04020102020204" pitchFamily="34" charset="0"/>
            </a:endParaRPr>
          </a:p>
          <a:p>
            <a:endParaRPr lang="en-US" sz="1100" dirty="0">
              <a:latin typeface="Arial Black" panose="020B0A04020102020204" pitchFamily="34" charset="0"/>
            </a:endParaRPr>
          </a:p>
          <a:p>
            <a:endParaRPr lang="en-US" sz="1100" dirty="0">
              <a:latin typeface="Arial Black" panose="020B0A04020102020204" pitchFamily="34" charset="0"/>
            </a:endParaRPr>
          </a:p>
        </p:txBody>
      </p:sp>
      <p:grpSp>
        <p:nvGrpSpPr>
          <p:cNvPr id="17" name="object 17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18" name="object 18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1" name="object 21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22" name="object 22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sz="600" spc="-10" dirty="0">
                <a:solidFill>
                  <a:srgbClr val="FFFFFF"/>
                </a:solidFill>
                <a:latin typeface="Tahoma"/>
                <a:cs typeface="Tahoma"/>
                <a:hlinkClick r:id="rId5" action="ppaction://hlinksldjump"/>
              </a:rPr>
              <a:t>RANPilotAI</a:t>
            </a:r>
            <a:endParaRPr sz="600" dirty="0">
              <a:latin typeface="Tahoma"/>
              <a:cs typeface="Tahoma"/>
            </a:endParaRPr>
          </a:p>
        </p:txBody>
      </p:sp>
      <p:sp>
        <p:nvSpPr>
          <p:cNvPr id="23" name="object 2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38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1394" y="820430"/>
            <a:ext cx="2524873" cy="417213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sz="1100" dirty="0">
                <a:latin typeface="Arial Black" panose="020B0A04020102020204" pitchFamily="34" charset="0"/>
              </a:rPr>
              <a:t>Manual PDF search is slow and tedious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44286" y="1332240"/>
            <a:ext cx="2524873" cy="41450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sz="1100" dirty="0">
                <a:latin typeface="Arial Black" panose="020B0A04020102020204" pitchFamily="34" charset="0"/>
              </a:rPr>
              <a:t>Keyword search misses </a:t>
            </a:r>
            <a:r>
              <a:rPr lang="en-US" sz="1100" dirty="0">
                <a:latin typeface="Arial Black" panose="020B0A04020102020204" pitchFamily="34" charset="0"/>
                <a:cs typeface="Arial" panose="020B0604020202020204" pitchFamily="34" charset="0"/>
              </a:rPr>
              <a:t>paraphrased</a:t>
            </a:r>
            <a:r>
              <a:rPr lang="en-US" sz="1100" dirty="0">
                <a:latin typeface="Arial Black" panose="020B0A04020102020204" pitchFamily="34" charset="0"/>
              </a:rPr>
              <a:t> content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6100" y="1904984"/>
            <a:ext cx="2524873" cy="405003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sz="1100" dirty="0">
                <a:latin typeface="Arial Black" panose="020B0A04020102020204" pitchFamily="34" charset="0"/>
              </a:rPr>
              <a:t>Generic LLMs fabricate protocol details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61394" y="2414085"/>
            <a:ext cx="2524873" cy="59774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sz="1100" dirty="0">
                <a:latin typeface="Arial Black" panose="020B0A04020102020204" pitchFamily="34" charset="0"/>
              </a:rPr>
              <a:t>No tool offers cited, spec-grounded answers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046880" y="817160"/>
            <a:ext cx="2524873" cy="417213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dirty="0">
                <a:latin typeface="Arial Black" panose="020B0A04020102020204" pitchFamily="34" charset="0"/>
              </a:rPr>
              <a:t>Telecom LLM RAG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046879" y="1330885"/>
            <a:ext cx="2524873" cy="417213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dirty="0">
                <a:latin typeface="Arial Black" panose="020B0A04020102020204" pitchFamily="34" charset="0"/>
              </a:rPr>
              <a:t>Purpose-built specifically for telecom papers 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046879" y="1884609"/>
            <a:ext cx="2524873" cy="417213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dirty="0">
                <a:latin typeface="Arial Black" panose="020B0A04020102020204" pitchFamily="34" charset="0"/>
              </a:rPr>
              <a:t>Fully local: embeddings, vector store, re-ranking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046879" y="2420207"/>
            <a:ext cx="2524873" cy="59161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dirty="0">
                <a:latin typeface="Arial Black" panose="020B0A04020102020204" pitchFamily="34" charset="0"/>
              </a:rPr>
              <a:t>Every answer cites: TS number, Release, Section, page</a:t>
            </a:r>
          </a:p>
        </p:txBody>
      </p:sp>
    </p:spTree>
  </p:cSld>
  <p:clrMapOvr>
    <a:masterClrMapping/>
  </p:clrMapOvr>
  <p:transition spd="slow">
    <p:push dir="u"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5300" y="57337"/>
            <a:ext cx="2244725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400" spc="-60" dirty="0">
                <a:solidFill>
                  <a:srgbClr val="FFFFFF"/>
                </a:solidFill>
                <a:latin typeface="Arial Black"/>
                <a:cs typeface="Arial Black"/>
              </a:rPr>
              <a:t>RAG</a:t>
            </a:r>
            <a:r>
              <a:rPr sz="1400" spc="-25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114" dirty="0">
                <a:solidFill>
                  <a:srgbClr val="FFFFFF"/>
                </a:solidFill>
                <a:latin typeface="Arial Black"/>
                <a:cs typeface="Arial Black"/>
              </a:rPr>
              <a:t>Pipeline</a:t>
            </a:r>
            <a:r>
              <a:rPr sz="1400" spc="-5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125" dirty="0">
                <a:solidFill>
                  <a:srgbClr val="FFFFFF"/>
                </a:solidFill>
                <a:latin typeface="Arial Black"/>
                <a:cs typeface="Arial Black"/>
              </a:rPr>
              <a:t>Architecture</a:t>
            </a:r>
            <a:endParaRPr sz="1400">
              <a:latin typeface="Arial Black"/>
              <a:cs typeface="Arial Black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321143"/>
            <a:ext cx="5760542" cy="2801242"/>
          </a:xfrm>
          <a:prstGeom prst="rect">
            <a:avLst/>
          </a:prstGeom>
        </p:spPr>
      </p:pic>
      <p:grpSp>
        <p:nvGrpSpPr>
          <p:cNvPr id="4" name="object 4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5" name="object 5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9" name="object 9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sz="600" spc="-10" dirty="0">
                <a:solidFill>
                  <a:srgbClr val="FFFFFF"/>
                </a:solidFill>
                <a:latin typeface="Tahoma"/>
                <a:cs typeface="Tahoma"/>
                <a:hlinkClick r:id="rId3" action="ppaction://hlinksldjump"/>
              </a:rPr>
              <a:t>RANPilotAI</a:t>
            </a:r>
            <a:endParaRPr sz="600" dirty="0">
              <a:latin typeface="Tahoma"/>
              <a:cs typeface="Tahoma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39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</p:spTree>
  </p:cSld>
  <p:clrMapOvr>
    <a:masterClrMapping/>
  </p:clrMapOvr>
  <p:transition spd="slow">
    <p:push dir="u"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pc="-114" dirty="0"/>
              <a:t>Pipeline</a:t>
            </a:r>
            <a:r>
              <a:rPr spc="50" dirty="0"/>
              <a:t> </a:t>
            </a:r>
            <a:r>
              <a:rPr spc="165" dirty="0"/>
              <a:t>—</a:t>
            </a:r>
            <a:r>
              <a:rPr spc="50" dirty="0"/>
              <a:t> </a:t>
            </a:r>
            <a:r>
              <a:rPr spc="-125" dirty="0"/>
              <a:t>Key</a:t>
            </a:r>
            <a:r>
              <a:rPr spc="50" dirty="0"/>
              <a:t> </a:t>
            </a:r>
            <a:r>
              <a:rPr spc="-145" dirty="0"/>
              <a:t>Engineering</a:t>
            </a:r>
            <a:r>
              <a:rPr spc="50" dirty="0"/>
              <a:t> </a:t>
            </a:r>
            <a:r>
              <a:rPr spc="-135" dirty="0"/>
              <a:t>Decisions</a:t>
            </a:r>
          </a:p>
        </p:txBody>
      </p:sp>
      <p:grpSp>
        <p:nvGrpSpPr>
          <p:cNvPr id="5" name="object 5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6" name="object 6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" name="object 9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10" name="object 10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sz="600" spc="-10" dirty="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 dirty="0">
              <a:latin typeface="Tahoma"/>
              <a:cs typeface="Tahoma"/>
            </a:endParaRPr>
          </a:p>
        </p:txBody>
      </p:sp>
      <p:sp>
        <p:nvSpPr>
          <p:cNvPr id="11" name="object 11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40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  <p:graphicFrame>
        <p:nvGraphicFramePr>
          <p:cNvPr id="54" name="Diagram 53"/>
          <p:cNvGraphicFramePr/>
          <p:nvPr>
            <p:extLst>
              <p:ext uri="{D42A27DB-BD31-4B8C-83A1-F6EECF244321}">
                <p14:modId xmlns:p14="http://schemas.microsoft.com/office/powerpoint/2010/main" val="4223439954"/>
              </p:ext>
            </p:extLst>
          </p:nvPr>
        </p:nvGraphicFramePr>
        <p:xfrm>
          <a:off x="95300" y="403225"/>
          <a:ext cx="5601969" cy="269305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62" name="Flowchart: Process 61"/>
          <p:cNvSpPr/>
          <p:nvPr/>
        </p:nvSpPr>
        <p:spPr>
          <a:xfrm>
            <a:off x="72705" y="893327"/>
            <a:ext cx="1339800" cy="276644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sz="1000" dirty="0"/>
              <a:t>2</a:t>
            </a:r>
            <a:r>
              <a:rPr lang="en-US" sz="1000" dirty="0">
                <a:solidFill>
                  <a:schemeClr val="lt1"/>
                </a:solidFill>
              </a:rPr>
              <a:t>. </a:t>
            </a:r>
            <a:r>
              <a:rPr lang="en-US" sz="1000" dirty="0"/>
              <a:t>Chunking</a:t>
            </a:r>
          </a:p>
        </p:txBody>
      </p:sp>
      <p:sp>
        <p:nvSpPr>
          <p:cNvPr id="63" name="Flowchart: Process 62"/>
          <p:cNvSpPr/>
          <p:nvPr/>
        </p:nvSpPr>
        <p:spPr>
          <a:xfrm>
            <a:off x="72705" y="1224746"/>
            <a:ext cx="1339800" cy="291589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sz="1000" dirty="0"/>
              <a:t>3</a:t>
            </a:r>
            <a:r>
              <a:rPr lang="en-US" sz="1000" dirty="0">
                <a:solidFill>
                  <a:schemeClr val="lt1"/>
                </a:solidFill>
              </a:rPr>
              <a:t>. Embedding </a:t>
            </a:r>
          </a:p>
          <a:p>
            <a:pPr algn="l"/>
            <a:r>
              <a:rPr lang="en-US" sz="1000" dirty="0">
                <a:solidFill>
                  <a:schemeClr val="lt1"/>
                </a:solidFill>
                <a:latin typeface="+mn-lt"/>
                <a:ea typeface="+mn-ea"/>
                <a:cs typeface="+mn-cs"/>
              </a:rPr>
              <a:t>(BGE-large)</a:t>
            </a:r>
            <a:r>
              <a:rPr lang="en-US" sz="1000" dirty="0">
                <a:solidFill>
                  <a:schemeClr val="lt1"/>
                </a:solidFill>
              </a:rPr>
              <a:t> </a:t>
            </a:r>
            <a:endParaRPr lang="en-US" sz="1000" dirty="0"/>
          </a:p>
        </p:txBody>
      </p:sp>
      <p:sp>
        <p:nvSpPr>
          <p:cNvPr id="64" name="Flowchart: Process 63"/>
          <p:cNvSpPr/>
          <p:nvPr/>
        </p:nvSpPr>
        <p:spPr>
          <a:xfrm>
            <a:off x="77528" y="1571110"/>
            <a:ext cx="1339800" cy="308464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sz="1000" dirty="0"/>
              <a:t>4</a:t>
            </a:r>
            <a:r>
              <a:rPr lang="en-US" sz="1000" dirty="0">
                <a:solidFill>
                  <a:schemeClr val="lt1"/>
                </a:solidFill>
              </a:rPr>
              <a:t>. </a:t>
            </a:r>
            <a:r>
              <a:rPr lang="en-US" sz="1000" dirty="0"/>
              <a:t>Vector Storage</a:t>
            </a:r>
          </a:p>
          <a:p>
            <a:pPr algn="l"/>
            <a:r>
              <a:rPr lang="en-US" sz="1000" dirty="0">
                <a:solidFill>
                  <a:schemeClr val="lt1"/>
                </a:solidFill>
                <a:latin typeface="+mn-lt"/>
                <a:ea typeface="+mn-ea"/>
                <a:cs typeface="+mn-cs"/>
              </a:rPr>
              <a:t>(Local Qdrant)</a:t>
            </a:r>
            <a:endParaRPr lang="en-US" sz="1000" dirty="0"/>
          </a:p>
        </p:txBody>
      </p:sp>
      <p:sp>
        <p:nvSpPr>
          <p:cNvPr id="65" name="Flowchart: Process 64"/>
          <p:cNvSpPr/>
          <p:nvPr/>
        </p:nvSpPr>
        <p:spPr>
          <a:xfrm>
            <a:off x="72705" y="1934353"/>
            <a:ext cx="1339800" cy="316923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sz="1000" dirty="0"/>
              <a:t>5</a:t>
            </a:r>
            <a:r>
              <a:rPr lang="en-US" sz="1000" dirty="0">
                <a:solidFill>
                  <a:schemeClr val="lt1"/>
                </a:solidFill>
              </a:rPr>
              <a:t>. Retrieval</a:t>
            </a:r>
            <a:endParaRPr lang="en-US" sz="1000" dirty="0"/>
          </a:p>
        </p:txBody>
      </p:sp>
      <p:sp>
        <p:nvSpPr>
          <p:cNvPr id="66" name="Flowchart: Process 65"/>
          <p:cNvSpPr/>
          <p:nvPr/>
        </p:nvSpPr>
        <p:spPr>
          <a:xfrm>
            <a:off x="72705" y="2297594"/>
            <a:ext cx="1339800" cy="314543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sz="1000" dirty="0"/>
              <a:t>6. Re-ranking</a:t>
            </a:r>
            <a:r>
              <a:rPr lang="en-US" dirty="0">
                <a:solidFill>
                  <a:schemeClr val="lt1"/>
                </a:solidFill>
                <a:latin typeface="+mn-lt"/>
                <a:ea typeface="+mn-ea"/>
                <a:cs typeface="+mn-cs"/>
              </a:rPr>
              <a:t> </a:t>
            </a:r>
            <a:endParaRPr lang="en-US" dirty="0"/>
          </a:p>
        </p:txBody>
      </p:sp>
      <p:sp>
        <p:nvSpPr>
          <p:cNvPr id="67" name="Flowchart: Process 66"/>
          <p:cNvSpPr/>
          <p:nvPr/>
        </p:nvSpPr>
        <p:spPr>
          <a:xfrm>
            <a:off x="72705" y="2680765"/>
            <a:ext cx="1339800" cy="313259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sz="1000" dirty="0"/>
              <a:t>7. Generation (OpenRouter API</a:t>
            </a:r>
          </a:p>
        </p:txBody>
      </p:sp>
      <p:sp>
        <p:nvSpPr>
          <p:cNvPr id="68" name="Flowchart: Process 67"/>
          <p:cNvSpPr/>
          <p:nvPr/>
        </p:nvSpPr>
        <p:spPr>
          <a:xfrm>
            <a:off x="72705" y="547061"/>
            <a:ext cx="1339800" cy="291490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sz="1000" dirty="0">
                <a:solidFill>
                  <a:schemeClr val="lt1"/>
                </a:solidFill>
              </a:rPr>
              <a:t>1. Ingestion &amp; Parsing (PyMuPDF)</a:t>
            </a:r>
            <a:endParaRPr lang="en-US" sz="1000" dirty="0"/>
          </a:p>
        </p:txBody>
      </p:sp>
    </p:spTree>
  </p:cSld>
  <p:clrMapOvr>
    <a:masterClrMapping/>
  </p:clrMapOvr>
  <p:transition spd="slow">
    <p:push dir="u"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5300" y="57337"/>
            <a:ext cx="2798445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400" spc="-60" dirty="0">
                <a:solidFill>
                  <a:srgbClr val="FFFFFF"/>
                </a:solidFill>
                <a:latin typeface="Arial Black"/>
                <a:cs typeface="Arial Black"/>
              </a:rPr>
              <a:t>RAG</a:t>
            </a:r>
            <a:r>
              <a:rPr sz="1400" spc="-1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145" dirty="0">
                <a:solidFill>
                  <a:srgbClr val="FFFFFF"/>
                </a:solidFill>
                <a:latin typeface="Arial Black"/>
                <a:cs typeface="Arial Black"/>
              </a:rPr>
              <a:t>Assistant</a:t>
            </a:r>
            <a:r>
              <a:rPr sz="1400" spc="25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165" dirty="0">
                <a:solidFill>
                  <a:srgbClr val="FFFFFF"/>
                </a:solidFill>
                <a:latin typeface="Arial Black"/>
                <a:cs typeface="Arial Black"/>
              </a:rPr>
              <a:t>—</a:t>
            </a:r>
            <a:r>
              <a:rPr sz="1400" spc="1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70" dirty="0">
                <a:solidFill>
                  <a:srgbClr val="FFFFFF"/>
                </a:solidFill>
                <a:latin typeface="Arial Black"/>
                <a:cs typeface="Arial Black"/>
              </a:rPr>
              <a:t>Main</a:t>
            </a:r>
            <a:r>
              <a:rPr sz="1400" spc="5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125" dirty="0">
                <a:solidFill>
                  <a:srgbClr val="FFFFFF"/>
                </a:solidFill>
                <a:latin typeface="Arial Black"/>
                <a:cs typeface="Arial Black"/>
              </a:rPr>
              <a:t>Interface</a:t>
            </a:r>
            <a:endParaRPr sz="1400">
              <a:latin typeface="Arial Black"/>
              <a:cs typeface="Arial Black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321143"/>
            <a:ext cx="5760542" cy="2801242"/>
          </a:xfrm>
          <a:prstGeom prst="rect">
            <a:avLst/>
          </a:prstGeom>
        </p:spPr>
      </p:pic>
      <p:grpSp>
        <p:nvGrpSpPr>
          <p:cNvPr id="4" name="object 4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5" name="object 5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9" name="object 9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sz="600" spc="-10" dirty="0">
                <a:solidFill>
                  <a:srgbClr val="FFFFFF"/>
                </a:solidFill>
                <a:latin typeface="Tahoma"/>
                <a:cs typeface="Tahoma"/>
                <a:hlinkClick r:id="rId3" action="ppaction://hlinksldjump"/>
              </a:rPr>
              <a:t>RANPilotAI</a:t>
            </a:r>
            <a:endParaRPr sz="600" dirty="0">
              <a:latin typeface="Tahoma"/>
              <a:cs typeface="Tahoma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41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276905"/>
            <a:ext cx="1788020" cy="82904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circle/>
      </p:transition>
    </mc:Choice>
    <mc:Fallback xmlns="">
      <p:transition spd="slow">
        <p:circl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5300" y="57337"/>
            <a:ext cx="3332479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400" spc="-125" dirty="0">
                <a:solidFill>
                  <a:srgbClr val="FFFFFF"/>
                </a:solidFill>
                <a:latin typeface="Arial Black"/>
                <a:cs typeface="Arial Black"/>
              </a:rPr>
              <a:t>Live</a:t>
            </a:r>
            <a:r>
              <a:rPr sz="1400" spc="35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105" dirty="0">
                <a:solidFill>
                  <a:srgbClr val="FFFFFF"/>
                </a:solidFill>
                <a:latin typeface="Arial Black"/>
                <a:cs typeface="Arial Black"/>
              </a:rPr>
              <a:t>Query</a:t>
            </a:r>
            <a:r>
              <a:rPr sz="1400" spc="35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165" dirty="0">
                <a:solidFill>
                  <a:srgbClr val="FFFFFF"/>
                </a:solidFill>
                <a:latin typeface="Arial Black"/>
                <a:cs typeface="Arial Black"/>
              </a:rPr>
              <a:t>—</a:t>
            </a:r>
            <a:r>
              <a:rPr sz="1400" spc="35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114" dirty="0">
                <a:solidFill>
                  <a:srgbClr val="FFFFFF"/>
                </a:solidFill>
                <a:latin typeface="Arial Black"/>
                <a:cs typeface="Arial Black"/>
              </a:rPr>
              <a:t>Pipeline</a:t>
            </a:r>
            <a:r>
              <a:rPr sz="1400" spc="4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150" dirty="0">
                <a:solidFill>
                  <a:srgbClr val="FFFFFF"/>
                </a:solidFill>
                <a:latin typeface="Arial Black"/>
                <a:cs typeface="Arial Black"/>
              </a:rPr>
              <a:t>Execution</a:t>
            </a:r>
            <a:r>
              <a:rPr sz="1400" spc="35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130" dirty="0">
                <a:solidFill>
                  <a:srgbClr val="FFFFFF"/>
                </a:solidFill>
                <a:latin typeface="Arial Black"/>
                <a:cs typeface="Arial Black"/>
              </a:rPr>
              <a:t>Steps</a:t>
            </a:r>
            <a:endParaRPr sz="1400" dirty="0">
              <a:latin typeface="Arial Black"/>
              <a:cs typeface="Arial Black"/>
            </a:endParaRPr>
          </a:p>
        </p:txBody>
      </p:sp>
      <p:pic>
        <p:nvPicPr>
          <p:cNvPr id="3" name="object 3"/>
          <p:cNvPicPr/>
          <p:nvPr/>
        </p:nvPicPr>
        <p:blipFill rotWithShape="1">
          <a:blip r:embed="rId2" cstate="print"/>
          <a:srcRect b="11115"/>
          <a:stretch/>
        </p:blipFill>
        <p:spPr>
          <a:xfrm>
            <a:off x="0" y="321143"/>
            <a:ext cx="5760542" cy="2784805"/>
          </a:xfrm>
          <a:prstGeom prst="rect">
            <a:avLst/>
          </a:prstGeom>
        </p:spPr>
      </p:pic>
      <p:grpSp>
        <p:nvGrpSpPr>
          <p:cNvPr id="4" name="object 4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5" name="object 5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9" name="object 9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sz="600" spc="-10" dirty="0">
                <a:solidFill>
                  <a:srgbClr val="FFFFFF"/>
                </a:solidFill>
                <a:latin typeface="Tahoma"/>
                <a:cs typeface="Tahoma"/>
                <a:hlinkClick r:id="rId3" action="ppaction://hlinksldjump"/>
              </a:rPr>
              <a:t>RANPilotAI</a:t>
            </a:r>
            <a:endParaRPr sz="600" dirty="0">
              <a:latin typeface="Tahoma"/>
              <a:cs typeface="Tahoma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42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</p:spTree>
  </p:cSld>
  <p:clrMapOvr>
    <a:masterClrMapping/>
  </p:clrMapOvr>
  <p:transition spd="slow">
    <p:wipe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12" b="4883"/>
          <a:stretch/>
        </p:blipFill>
        <p:spPr>
          <a:xfrm>
            <a:off x="-5258" y="784225"/>
            <a:ext cx="5783758" cy="2338160"/>
          </a:xfrm>
          <a:prstGeom prst="rect">
            <a:avLst/>
          </a:prstGeom>
        </p:spPr>
      </p:pic>
      <p:sp>
        <p:nvSpPr>
          <p:cNvPr id="2" name="object 2"/>
          <p:cNvSpPr txBox="1"/>
          <p:nvPr/>
        </p:nvSpPr>
        <p:spPr>
          <a:xfrm>
            <a:off x="95300" y="57337"/>
            <a:ext cx="3148330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400" spc="-140" dirty="0">
                <a:solidFill>
                  <a:srgbClr val="FFFFFF"/>
                </a:solidFill>
                <a:latin typeface="Arial Black"/>
                <a:cs typeface="Arial Black"/>
              </a:rPr>
              <a:t>Retrieved</a:t>
            </a:r>
            <a:r>
              <a:rPr sz="1400" spc="2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155" dirty="0">
                <a:solidFill>
                  <a:srgbClr val="FFFFFF"/>
                </a:solidFill>
                <a:latin typeface="Arial Black"/>
                <a:cs typeface="Arial Black"/>
              </a:rPr>
              <a:t>Chunks</a:t>
            </a:r>
            <a:r>
              <a:rPr sz="1400" spc="4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dirty="0">
                <a:solidFill>
                  <a:srgbClr val="FFFFFF"/>
                </a:solidFill>
                <a:latin typeface="Arial Black"/>
                <a:cs typeface="Arial Black"/>
              </a:rPr>
              <a:t>&amp;</a:t>
            </a:r>
            <a:r>
              <a:rPr sz="1400" spc="4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160" dirty="0">
                <a:solidFill>
                  <a:srgbClr val="FFFFFF"/>
                </a:solidFill>
                <a:latin typeface="Arial Black"/>
                <a:cs typeface="Arial Black"/>
              </a:rPr>
              <a:t>Source</a:t>
            </a:r>
            <a:r>
              <a:rPr sz="1400" spc="4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95" dirty="0">
                <a:solidFill>
                  <a:srgbClr val="FFFFFF"/>
                </a:solidFill>
                <a:latin typeface="Arial Black"/>
                <a:cs typeface="Arial Black"/>
              </a:rPr>
              <a:t>Citations</a:t>
            </a:r>
            <a:endParaRPr sz="1400">
              <a:latin typeface="Arial Black"/>
              <a:cs typeface="Arial Black"/>
            </a:endParaRPr>
          </a:p>
        </p:txBody>
      </p:sp>
      <p:pic>
        <p:nvPicPr>
          <p:cNvPr id="3" name="object 3"/>
          <p:cNvPicPr/>
          <p:nvPr/>
        </p:nvPicPr>
        <p:blipFill rotWithShape="1">
          <a:blip r:embed="rId3" cstate="print"/>
          <a:srcRect r="-220" b="19412"/>
          <a:stretch/>
        </p:blipFill>
        <p:spPr>
          <a:xfrm>
            <a:off x="-5257" y="321144"/>
            <a:ext cx="5783757" cy="1529881"/>
          </a:xfrm>
          <a:prstGeom prst="rect">
            <a:avLst/>
          </a:prstGeom>
        </p:spPr>
      </p:pic>
      <p:grpSp>
        <p:nvGrpSpPr>
          <p:cNvPr id="4" name="object 4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5" name="object 5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9" name="object 9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sz="600" spc="-10" dirty="0">
                <a:solidFill>
                  <a:srgbClr val="FFFFFF"/>
                </a:solidFill>
                <a:latin typeface="Tahoma"/>
                <a:cs typeface="Tahoma"/>
                <a:hlinkClick r:id="rId4" action="ppaction://hlinksldjump"/>
              </a:rPr>
              <a:t>RANPilotAI</a:t>
            </a:r>
            <a:endParaRPr sz="600" dirty="0">
              <a:latin typeface="Tahoma"/>
              <a:cs typeface="Tahoma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43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  <p:pic>
        <p:nvPicPr>
          <p:cNvPr id="15" name="Picture 1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220" y="1596930"/>
            <a:ext cx="1681854" cy="1506124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48627" y="2597089"/>
            <a:ext cx="3225073" cy="185182"/>
          </a:xfrm>
          <a:prstGeom prst="rect">
            <a:avLst/>
          </a:prstGeom>
        </p:spPr>
      </p:pic>
    </p:spTree>
  </p:cSld>
  <p:clrMapOvr>
    <a:masterClrMapping/>
  </p:clrMapOvr>
  <p:transition spd="slow">
    <p:wipe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5300" y="57337"/>
            <a:ext cx="3428924" cy="232756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1400" spc="-170" dirty="0">
                <a:solidFill>
                  <a:srgbClr val="FFFFFF"/>
                </a:solidFill>
                <a:latin typeface="Arial Black"/>
                <a:cs typeface="Arial Black"/>
              </a:rPr>
              <a:t> what if I asked Non telecom  Question?</a:t>
            </a:r>
            <a:endParaRPr sz="1400" dirty="0">
              <a:latin typeface="Arial Black"/>
              <a:cs typeface="Arial Black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8" name="object 8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12" name="object 12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sz="600" spc="-10" dirty="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 dirty="0">
              <a:latin typeface="Tahoma"/>
              <a:cs typeface="Tahoma"/>
            </a:endParaRPr>
          </a:p>
        </p:txBody>
      </p:sp>
      <p:sp>
        <p:nvSpPr>
          <p:cNvPr id="13" name="object 1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44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  <p:pic>
        <p:nvPicPr>
          <p:cNvPr id="16" name="Picture 15"/>
          <p:cNvPicPr>
            <a:picLocks noChangeAspect="1"/>
          </p:cNvPicPr>
          <p:nvPr/>
        </p:nvPicPr>
        <p:blipFill rotWithShape="1">
          <a:blip r:embed="rId3"/>
          <a:srcRect b="4592"/>
          <a:stretch/>
        </p:blipFill>
        <p:spPr>
          <a:xfrm>
            <a:off x="0" y="327025"/>
            <a:ext cx="5760542" cy="2795360"/>
          </a:xfrm>
          <a:prstGeom prst="rect">
            <a:avLst/>
          </a:prstGeom>
        </p:spPr>
      </p:pic>
    </p:spTree>
  </p:cSld>
  <p:clrMapOvr>
    <a:masterClrMapping/>
  </p:clrMapOvr>
  <p:transition spd="slow">
    <p:wipe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5300" y="57337"/>
            <a:ext cx="3689985" cy="232756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1400" spc="-165" dirty="0">
                <a:solidFill>
                  <a:schemeClr val="bg1"/>
                </a:solidFill>
                <a:latin typeface="Arial Black"/>
                <a:cs typeface="Arial Black"/>
              </a:rPr>
              <a:t>Summary - Why  RAG</a:t>
            </a:r>
            <a:endParaRPr sz="1400" spc="-165" dirty="0">
              <a:solidFill>
                <a:schemeClr val="bg1"/>
              </a:solidFill>
              <a:latin typeface="Arial Black"/>
              <a:cs typeface="Arial Black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5" name="object 5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9" name="object 9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sz="600" spc="-10" dirty="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 dirty="0">
              <a:latin typeface="Tahoma"/>
              <a:cs typeface="Tahoma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45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  <p:graphicFrame>
        <p:nvGraphicFramePr>
          <p:cNvPr id="12" name="Diagram 11"/>
          <p:cNvGraphicFramePr/>
          <p:nvPr>
            <p:extLst>
              <p:ext uri="{D42A27DB-BD31-4B8C-83A1-F6EECF244321}">
                <p14:modId xmlns:p14="http://schemas.microsoft.com/office/powerpoint/2010/main" val="964061285"/>
              </p:ext>
            </p:extLst>
          </p:nvPr>
        </p:nvGraphicFramePr>
        <p:xfrm>
          <a:off x="827007" y="469155"/>
          <a:ext cx="4357272" cy="243840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4111894058"/>
      </p:ext>
    </p:extLst>
  </p:cSld>
  <p:clrMapOvr>
    <a:masterClrMapping/>
  </p:clrMapOvr>
  <p:transition spd="slow">
    <p:push dir="u"/>
  </p:transition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97827" y="886142"/>
            <a:ext cx="4523105" cy="494030"/>
            <a:chOff x="97827" y="886142"/>
            <a:chExt cx="4523105" cy="494030"/>
          </a:xfrm>
        </p:grpSpPr>
        <p:sp>
          <p:nvSpPr>
            <p:cNvPr id="3" name="object 3"/>
            <p:cNvSpPr/>
            <p:nvPr/>
          </p:nvSpPr>
          <p:spPr>
            <a:xfrm>
              <a:off x="97827" y="886142"/>
              <a:ext cx="4472305" cy="82550"/>
            </a:xfrm>
            <a:custGeom>
              <a:avLst/>
              <a:gdLst/>
              <a:ahLst/>
              <a:cxnLst/>
              <a:rect l="l" t="t" r="r" b="b"/>
              <a:pathLst>
                <a:path w="4472305" h="82550">
                  <a:moveTo>
                    <a:pt x="4421063" y="0"/>
                  </a:moveTo>
                  <a:lnTo>
                    <a:pt x="50800" y="0"/>
                  </a:lnTo>
                  <a:lnTo>
                    <a:pt x="31075" y="4008"/>
                  </a:lnTo>
                  <a:lnTo>
                    <a:pt x="14922" y="14922"/>
                  </a:lnTo>
                  <a:lnTo>
                    <a:pt x="4008" y="31075"/>
                  </a:lnTo>
                  <a:lnTo>
                    <a:pt x="0" y="50800"/>
                  </a:lnTo>
                  <a:lnTo>
                    <a:pt x="0" y="82384"/>
                  </a:lnTo>
                  <a:lnTo>
                    <a:pt x="4471864" y="82384"/>
                  </a:lnTo>
                  <a:lnTo>
                    <a:pt x="4471864" y="50800"/>
                  </a:lnTo>
                  <a:lnTo>
                    <a:pt x="4467855" y="31075"/>
                  </a:lnTo>
                  <a:lnTo>
                    <a:pt x="4456941" y="14922"/>
                  </a:lnTo>
                  <a:lnTo>
                    <a:pt x="4440788" y="4008"/>
                  </a:lnTo>
                  <a:lnTo>
                    <a:pt x="4421063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148628" y="949391"/>
              <a:ext cx="4472305" cy="431165"/>
            </a:xfrm>
            <a:custGeom>
              <a:avLst/>
              <a:gdLst/>
              <a:ahLst/>
              <a:cxnLst/>
              <a:rect l="l" t="t" r="r" b="b"/>
              <a:pathLst>
                <a:path w="4472305" h="431165">
                  <a:moveTo>
                    <a:pt x="4471864" y="0"/>
                  </a:moveTo>
                  <a:lnTo>
                    <a:pt x="0" y="0"/>
                  </a:lnTo>
                  <a:lnTo>
                    <a:pt x="0" y="430667"/>
                  </a:lnTo>
                  <a:lnTo>
                    <a:pt x="4471864" y="430667"/>
                  </a:lnTo>
                  <a:lnTo>
                    <a:pt x="4471864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97827" y="930554"/>
              <a:ext cx="4472305" cy="398780"/>
            </a:xfrm>
            <a:custGeom>
              <a:avLst/>
              <a:gdLst/>
              <a:ahLst/>
              <a:cxnLst/>
              <a:rect l="l" t="t" r="r" b="b"/>
              <a:pathLst>
                <a:path w="4472305" h="398780">
                  <a:moveTo>
                    <a:pt x="4471864" y="0"/>
                  </a:moveTo>
                  <a:lnTo>
                    <a:pt x="0" y="0"/>
                  </a:lnTo>
                  <a:lnTo>
                    <a:pt x="0" y="347903"/>
                  </a:lnTo>
                  <a:lnTo>
                    <a:pt x="4008" y="367627"/>
                  </a:lnTo>
                  <a:lnTo>
                    <a:pt x="14922" y="383780"/>
                  </a:lnTo>
                  <a:lnTo>
                    <a:pt x="31075" y="394695"/>
                  </a:lnTo>
                  <a:lnTo>
                    <a:pt x="50800" y="398703"/>
                  </a:lnTo>
                  <a:lnTo>
                    <a:pt x="4421063" y="398703"/>
                  </a:lnTo>
                  <a:lnTo>
                    <a:pt x="4440788" y="394695"/>
                  </a:lnTo>
                  <a:lnTo>
                    <a:pt x="4456941" y="383780"/>
                  </a:lnTo>
                  <a:lnTo>
                    <a:pt x="4467855" y="367627"/>
                  </a:lnTo>
                  <a:lnTo>
                    <a:pt x="4471864" y="347903"/>
                  </a:lnTo>
                  <a:lnTo>
                    <a:pt x="4471864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148628" y="949391"/>
            <a:ext cx="4472305" cy="431165"/>
          </a:xfrm>
          <a:prstGeom prst="rect">
            <a:avLst/>
          </a:prstGeom>
        </p:spPr>
        <p:txBody>
          <a:bodyPr vert="horz" wrap="square" lIns="0" tIns="56515" rIns="0" bIns="0" rtlCol="0">
            <a:spAutoFit/>
          </a:bodyPr>
          <a:lstStyle/>
          <a:p>
            <a:pPr marR="93980" algn="ctr">
              <a:lnSpc>
                <a:spcPct val="100000"/>
              </a:lnSpc>
              <a:spcBef>
                <a:spcPts val="445"/>
              </a:spcBef>
            </a:pPr>
            <a:r>
              <a:rPr sz="1400" spc="-100" dirty="0">
                <a:solidFill>
                  <a:srgbClr val="FFFFFF"/>
                </a:solidFill>
                <a:latin typeface="Arial Black"/>
                <a:cs typeface="Arial Black"/>
              </a:rPr>
              <a:t>Mohab</a:t>
            </a:r>
            <a:r>
              <a:rPr sz="1400" spc="-5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10" dirty="0">
                <a:solidFill>
                  <a:srgbClr val="FFFFFF"/>
                </a:solidFill>
                <a:latin typeface="Arial Black"/>
                <a:cs typeface="Arial Black"/>
              </a:rPr>
              <a:t>Tarek</a:t>
            </a:r>
            <a:endParaRPr sz="1400">
              <a:latin typeface="Arial Black"/>
              <a:cs typeface="Arial Black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97815" y="1511312"/>
            <a:ext cx="4472305" cy="554990"/>
          </a:xfrm>
          <a:custGeom>
            <a:avLst/>
            <a:gdLst/>
            <a:ahLst/>
            <a:cxnLst/>
            <a:rect l="l" t="t" r="r" b="b"/>
            <a:pathLst>
              <a:path w="4472305" h="554989">
                <a:moveTo>
                  <a:pt x="4471873" y="44437"/>
                </a:moveTo>
                <a:lnTo>
                  <a:pt x="4470578" y="44437"/>
                </a:lnTo>
                <a:lnTo>
                  <a:pt x="4467860" y="31076"/>
                </a:lnTo>
                <a:lnTo>
                  <a:pt x="4456950" y="14922"/>
                </a:lnTo>
                <a:lnTo>
                  <a:pt x="4440796" y="4013"/>
                </a:lnTo>
                <a:lnTo>
                  <a:pt x="4421073" y="0"/>
                </a:lnTo>
                <a:lnTo>
                  <a:pt x="50812" y="0"/>
                </a:lnTo>
                <a:lnTo>
                  <a:pt x="31076" y="4013"/>
                </a:lnTo>
                <a:lnTo>
                  <a:pt x="14922" y="14922"/>
                </a:lnTo>
                <a:lnTo>
                  <a:pt x="4013" y="31076"/>
                </a:lnTo>
                <a:lnTo>
                  <a:pt x="1282" y="44437"/>
                </a:lnTo>
                <a:lnTo>
                  <a:pt x="0" y="44437"/>
                </a:lnTo>
                <a:lnTo>
                  <a:pt x="0" y="50800"/>
                </a:lnTo>
                <a:lnTo>
                  <a:pt x="0" y="82384"/>
                </a:lnTo>
                <a:lnTo>
                  <a:pt x="0" y="504101"/>
                </a:lnTo>
                <a:lnTo>
                  <a:pt x="4013" y="523824"/>
                </a:lnTo>
                <a:lnTo>
                  <a:pt x="14922" y="539978"/>
                </a:lnTo>
                <a:lnTo>
                  <a:pt x="31076" y="550887"/>
                </a:lnTo>
                <a:lnTo>
                  <a:pt x="50812" y="554901"/>
                </a:lnTo>
                <a:lnTo>
                  <a:pt x="4421073" y="554901"/>
                </a:lnTo>
                <a:lnTo>
                  <a:pt x="4440796" y="550887"/>
                </a:lnTo>
                <a:lnTo>
                  <a:pt x="4456950" y="539978"/>
                </a:lnTo>
                <a:lnTo>
                  <a:pt x="4467860" y="523824"/>
                </a:lnTo>
                <a:lnTo>
                  <a:pt x="4471873" y="504101"/>
                </a:lnTo>
                <a:lnTo>
                  <a:pt x="4471873" y="82384"/>
                </a:lnTo>
                <a:lnTo>
                  <a:pt x="4471873" y="50800"/>
                </a:lnTo>
                <a:lnTo>
                  <a:pt x="4471873" y="44437"/>
                </a:lnTo>
                <a:close/>
              </a:path>
            </a:pathLst>
          </a:custGeom>
          <a:solidFill>
            <a:srgbClr val="E5E5E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279552" y="1597860"/>
            <a:ext cx="4109085" cy="3911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spc="-70" dirty="0">
                <a:solidFill>
                  <a:srgbClr val="13132C"/>
                </a:solidFill>
                <a:latin typeface="Tahoma"/>
                <a:cs typeface="Tahoma"/>
              </a:rPr>
              <a:t>Software</a:t>
            </a:r>
            <a:r>
              <a:rPr sz="1200" spc="10" dirty="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sz="1200" spc="-55" dirty="0">
                <a:solidFill>
                  <a:srgbClr val="13132C"/>
                </a:solidFill>
                <a:latin typeface="Tahoma"/>
                <a:cs typeface="Tahoma"/>
              </a:rPr>
              <a:t>Testing</a:t>
            </a:r>
            <a:r>
              <a:rPr sz="1200" spc="10" dirty="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sz="1200" spc="355" dirty="0">
                <a:solidFill>
                  <a:srgbClr val="13132C"/>
                </a:solidFill>
                <a:latin typeface="Tahoma"/>
                <a:cs typeface="Tahoma"/>
              </a:rPr>
              <a:t>•</a:t>
            </a:r>
            <a:r>
              <a:rPr sz="1200" spc="15" dirty="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sz="1200" spc="-60" dirty="0">
                <a:solidFill>
                  <a:srgbClr val="13132C"/>
                </a:solidFill>
                <a:latin typeface="Tahoma"/>
                <a:cs typeface="Tahoma"/>
              </a:rPr>
              <a:t>Real-</a:t>
            </a:r>
            <a:r>
              <a:rPr sz="1200" spc="-55" dirty="0">
                <a:solidFill>
                  <a:srgbClr val="13132C"/>
                </a:solidFill>
                <a:latin typeface="Tahoma"/>
                <a:cs typeface="Tahoma"/>
              </a:rPr>
              <a:t>Case</a:t>
            </a:r>
            <a:r>
              <a:rPr sz="1200" spc="15" dirty="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sz="1200" spc="-45" dirty="0">
                <a:solidFill>
                  <a:srgbClr val="13132C"/>
                </a:solidFill>
                <a:latin typeface="Tahoma"/>
                <a:cs typeface="Tahoma"/>
              </a:rPr>
              <a:t>Experimental</a:t>
            </a:r>
            <a:r>
              <a:rPr sz="1200" spc="15" dirty="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sz="1200" spc="-55" dirty="0">
                <a:solidFill>
                  <a:srgbClr val="13132C"/>
                </a:solidFill>
                <a:latin typeface="Tahoma"/>
                <a:cs typeface="Tahoma"/>
              </a:rPr>
              <a:t>Results</a:t>
            </a:r>
            <a:r>
              <a:rPr sz="1200" spc="15" dirty="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sz="1200" spc="355" dirty="0">
                <a:solidFill>
                  <a:srgbClr val="13132C"/>
                </a:solidFill>
                <a:latin typeface="Tahoma"/>
                <a:cs typeface="Tahoma"/>
              </a:rPr>
              <a:t>•</a:t>
            </a:r>
            <a:r>
              <a:rPr sz="1200" spc="10" dirty="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sz="1200" spc="-25" dirty="0">
                <a:solidFill>
                  <a:srgbClr val="13132C"/>
                </a:solidFill>
                <a:latin typeface="Tahoma"/>
                <a:cs typeface="Tahoma"/>
              </a:rPr>
              <a:t>Conclusion</a:t>
            </a:r>
            <a:endParaRPr sz="1200">
              <a:latin typeface="Tahoma"/>
              <a:cs typeface="Tahoma"/>
            </a:endParaRPr>
          </a:p>
          <a:p>
            <a:pPr marL="1744980" indent="-164465">
              <a:lnSpc>
                <a:spcPct val="100000"/>
              </a:lnSpc>
              <a:spcBef>
                <a:spcPts val="5"/>
              </a:spcBef>
              <a:buChar char="•"/>
              <a:tabLst>
                <a:tab pos="1744980" algn="l"/>
              </a:tabLst>
            </a:pPr>
            <a:r>
              <a:rPr sz="1200" spc="-40" dirty="0">
                <a:solidFill>
                  <a:srgbClr val="13132C"/>
                </a:solidFill>
                <a:latin typeface="Tahoma"/>
                <a:cs typeface="Tahoma"/>
              </a:rPr>
              <a:t>Future</a:t>
            </a:r>
            <a:r>
              <a:rPr sz="1200" spc="-55" dirty="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sz="1200" spc="-20" dirty="0">
                <a:solidFill>
                  <a:srgbClr val="13132C"/>
                </a:solidFill>
                <a:latin typeface="Tahoma"/>
                <a:cs typeface="Tahoma"/>
              </a:rPr>
              <a:t>Work</a:t>
            </a:r>
            <a:endParaRPr sz="1200">
              <a:latin typeface="Tahoma"/>
              <a:cs typeface="Tahoma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10" name="object 10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14" name="object 14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sz="600" spc="-10" dirty="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 dirty="0">
              <a:latin typeface="Tahoma"/>
              <a:cs typeface="Tahoma"/>
            </a:endParaRPr>
          </a:p>
        </p:txBody>
      </p:sp>
      <p:sp>
        <p:nvSpPr>
          <p:cNvPr id="15" name="object 1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46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</p:spTree>
  </p:cSld>
  <p:clrMapOvr>
    <a:masterClrMapping/>
  </p:clrMapOvr>
  <p:transition>
    <p:cut/>
  </p:transition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5300" y="57337"/>
            <a:ext cx="2889885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400" spc="-140" dirty="0">
                <a:solidFill>
                  <a:srgbClr val="FFFFFF"/>
                </a:solidFill>
                <a:latin typeface="Arial Black"/>
                <a:cs typeface="Arial Black"/>
              </a:rPr>
              <a:t>Testing</a:t>
            </a:r>
            <a:r>
              <a:rPr sz="1400" spc="3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130" dirty="0">
                <a:solidFill>
                  <a:srgbClr val="FFFFFF"/>
                </a:solidFill>
                <a:latin typeface="Arial Black"/>
                <a:cs typeface="Arial Black"/>
              </a:rPr>
              <a:t>Strategy</a:t>
            </a:r>
            <a:r>
              <a:rPr sz="1400" spc="4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dirty="0">
                <a:solidFill>
                  <a:srgbClr val="FFFFFF"/>
                </a:solidFill>
                <a:latin typeface="Arial Black"/>
                <a:cs typeface="Arial Black"/>
              </a:rPr>
              <a:t>&amp;</a:t>
            </a:r>
            <a:r>
              <a:rPr sz="1400" spc="35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155" dirty="0">
                <a:solidFill>
                  <a:srgbClr val="FFFFFF"/>
                </a:solidFill>
                <a:latin typeface="Arial Black"/>
                <a:cs typeface="Arial Black"/>
              </a:rPr>
              <a:t>Test</a:t>
            </a:r>
            <a:r>
              <a:rPr sz="1400" spc="4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130" dirty="0">
                <a:solidFill>
                  <a:srgbClr val="FFFFFF"/>
                </a:solidFill>
                <a:latin typeface="Arial Black"/>
                <a:cs typeface="Arial Black"/>
              </a:rPr>
              <a:t>Coverage</a:t>
            </a:r>
            <a:endParaRPr sz="1400">
              <a:latin typeface="Arial Black"/>
              <a:cs typeface="Arial Black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2030209" y="1519171"/>
            <a:ext cx="169989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[</a:t>
            </a:r>
            <a:r>
              <a:rPr sz="1200" i="1" spc="75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Fill</a:t>
            </a:r>
            <a:r>
              <a:rPr sz="1200" i="1" spc="85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in</a:t>
            </a:r>
            <a:r>
              <a:rPr sz="1200" i="1" spc="80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your</a:t>
            </a:r>
            <a:r>
              <a:rPr sz="1200" i="1" spc="75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content</a:t>
            </a:r>
            <a:r>
              <a:rPr sz="1200" i="1" spc="80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spc="-10" dirty="0">
                <a:solidFill>
                  <a:srgbClr val="ACACB5"/>
                </a:solidFill>
                <a:latin typeface="Calibri"/>
                <a:cs typeface="Calibri"/>
              </a:rPr>
              <a:t>here</a:t>
            </a:r>
            <a:r>
              <a:rPr sz="1200" i="1" spc="80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spc="-50" dirty="0">
                <a:solidFill>
                  <a:srgbClr val="ACACB5"/>
                </a:solidFill>
                <a:latin typeface="Calibri"/>
                <a:cs typeface="Calibri"/>
              </a:rPr>
              <a:t>]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5" name="object 5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9" name="object 9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sz="600" spc="-10" dirty="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 dirty="0">
              <a:latin typeface="Tahoma"/>
              <a:cs typeface="Tahoma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47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</p:spTree>
  </p:cSld>
  <p:clrMapOvr>
    <a:masterClrMapping/>
  </p:clrMapOvr>
  <p:transition>
    <p:cut/>
  </p:transition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5300" y="57337"/>
            <a:ext cx="2264410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400" spc="-65" dirty="0">
                <a:solidFill>
                  <a:srgbClr val="FFFFFF"/>
                </a:solidFill>
                <a:latin typeface="Arial Black"/>
                <a:cs typeface="Arial Black"/>
              </a:rPr>
              <a:t>Unit</a:t>
            </a:r>
            <a:r>
              <a:rPr sz="1400" spc="5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dirty="0">
                <a:solidFill>
                  <a:srgbClr val="FFFFFF"/>
                </a:solidFill>
                <a:latin typeface="Arial Black"/>
                <a:cs typeface="Arial Black"/>
              </a:rPr>
              <a:t>&amp;</a:t>
            </a:r>
            <a:r>
              <a:rPr sz="1400" spc="1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125" dirty="0">
                <a:solidFill>
                  <a:srgbClr val="FFFFFF"/>
                </a:solidFill>
                <a:latin typeface="Arial Black"/>
                <a:cs typeface="Arial Black"/>
              </a:rPr>
              <a:t>Integration</a:t>
            </a:r>
            <a:r>
              <a:rPr sz="1400" spc="5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125" dirty="0">
                <a:solidFill>
                  <a:srgbClr val="FFFFFF"/>
                </a:solidFill>
                <a:latin typeface="Arial Black"/>
                <a:cs typeface="Arial Black"/>
              </a:rPr>
              <a:t>Testing</a:t>
            </a:r>
            <a:endParaRPr sz="1400">
              <a:latin typeface="Arial Black"/>
              <a:cs typeface="Arial Black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2030209" y="1519171"/>
            <a:ext cx="169989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[</a:t>
            </a:r>
            <a:r>
              <a:rPr sz="1200" i="1" spc="75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Fill</a:t>
            </a:r>
            <a:r>
              <a:rPr sz="1200" i="1" spc="85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in</a:t>
            </a:r>
            <a:r>
              <a:rPr sz="1200" i="1" spc="80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your</a:t>
            </a:r>
            <a:r>
              <a:rPr sz="1200" i="1" spc="75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content</a:t>
            </a:r>
            <a:r>
              <a:rPr sz="1200" i="1" spc="80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spc="-10" dirty="0">
                <a:solidFill>
                  <a:srgbClr val="ACACB5"/>
                </a:solidFill>
                <a:latin typeface="Calibri"/>
                <a:cs typeface="Calibri"/>
              </a:rPr>
              <a:t>here</a:t>
            </a:r>
            <a:r>
              <a:rPr sz="1200" i="1" spc="80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spc="-50" dirty="0">
                <a:solidFill>
                  <a:srgbClr val="ACACB5"/>
                </a:solidFill>
                <a:latin typeface="Calibri"/>
                <a:cs typeface="Calibri"/>
              </a:rPr>
              <a:t>]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5" name="object 5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9" name="object 9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sz="600" spc="-10" dirty="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 dirty="0">
              <a:latin typeface="Tahoma"/>
              <a:cs typeface="Tahoma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48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</p:spTree>
  </p:cSld>
  <p:clrMapOvr>
    <a:masterClrMapping/>
  </p:clrMapOvr>
  <p:transition>
    <p:cut/>
  </p:transition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5300" y="57337"/>
            <a:ext cx="2580005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400" spc="-130" dirty="0">
                <a:solidFill>
                  <a:srgbClr val="FFFFFF"/>
                </a:solidFill>
                <a:latin typeface="Arial Black"/>
                <a:cs typeface="Arial Black"/>
              </a:rPr>
              <a:t>Real-</a:t>
            </a:r>
            <a:r>
              <a:rPr sz="1400" spc="-155" dirty="0">
                <a:solidFill>
                  <a:srgbClr val="FFFFFF"/>
                </a:solidFill>
                <a:latin typeface="Arial Black"/>
                <a:cs typeface="Arial Black"/>
              </a:rPr>
              <a:t>Case</a:t>
            </a:r>
            <a:r>
              <a:rPr sz="1400" spc="6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125" dirty="0">
                <a:solidFill>
                  <a:srgbClr val="FFFFFF"/>
                </a:solidFill>
                <a:latin typeface="Arial Black"/>
                <a:cs typeface="Arial Black"/>
              </a:rPr>
              <a:t>Dataset</a:t>
            </a:r>
            <a:r>
              <a:rPr sz="1400" spc="6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120" dirty="0">
                <a:solidFill>
                  <a:srgbClr val="FFFFFF"/>
                </a:solidFill>
                <a:latin typeface="Arial Black"/>
                <a:cs typeface="Arial Black"/>
              </a:rPr>
              <a:t>Description</a:t>
            </a:r>
            <a:endParaRPr sz="1400">
              <a:latin typeface="Arial Black"/>
              <a:cs typeface="Arial Black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2030209" y="1519171"/>
            <a:ext cx="169989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[</a:t>
            </a:r>
            <a:r>
              <a:rPr sz="1200" i="1" spc="75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Fill</a:t>
            </a:r>
            <a:r>
              <a:rPr sz="1200" i="1" spc="85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in</a:t>
            </a:r>
            <a:r>
              <a:rPr sz="1200" i="1" spc="80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your</a:t>
            </a:r>
            <a:r>
              <a:rPr sz="1200" i="1" spc="75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content</a:t>
            </a:r>
            <a:r>
              <a:rPr sz="1200" i="1" spc="80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spc="-10" dirty="0">
                <a:solidFill>
                  <a:srgbClr val="ACACB5"/>
                </a:solidFill>
                <a:latin typeface="Calibri"/>
                <a:cs typeface="Calibri"/>
              </a:rPr>
              <a:t>here</a:t>
            </a:r>
            <a:r>
              <a:rPr sz="1200" i="1" spc="80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spc="-50" dirty="0">
                <a:solidFill>
                  <a:srgbClr val="ACACB5"/>
                </a:solidFill>
                <a:latin typeface="Calibri"/>
                <a:cs typeface="Calibri"/>
              </a:rPr>
              <a:t>]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5" name="object 5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9" name="object 9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sz="600" spc="-10" dirty="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 dirty="0">
              <a:latin typeface="Tahoma"/>
              <a:cs typeface="Tahoma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49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</p:spTree>
  </p:cSld>
  <p:clrMapOvr>
    <a:masterClrMapping/>
  </p:clrMapOvr>
  <p:transition>
    <p:cut/>
  </p:transition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pc="-10" dirty="0"/>
              <a:t>KPI</a:t>
            </a:r>
            <a:r>
              <a:rPr spc="30" dirty="0"/>
              <a:t> </a:t>
            </a:r>
            <a:r>
              <a:rPr spc="-130" dirty="0"/>
              <a:t>Degradation</a:t>
            </a:r>
            <a:r>
              <a:rPr spc="35" dirty="0"/>
              <a:t> </a:t>
            </a:r>
            <a:r>
              <a:rPr spc="165" dirty="0"/>
              <a:t>—</a:t>
            </a:r>
            <a:r>
              <a:rPr spc="35" dirty="0"/>
              <a:t> </a:t>
            </a:r>
            <a:r>
              <a:rPr spc="-145" dirty="0"/>
              <a:t>Experimental</a:t>
            </a:r>
            <a:r>
              <a:rPr spc="35" dirty="0"/>
              <a:t> </a:t>
            </a:r>
            <a:r>
              <a:rPr spc="-114" dirty="0"/>
              <a:t>Results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040534" y="1473960"/>
            <a:ext cx="1678939" cy="43878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90"/>
              </a:spcBef>
            </a:pPr>
            <a:r>
              <a:rPr sz="1100" i="1" dirty="0">
                <a:solidFill>
                  <a:srgbClr val="13132C"/>
                </a:solidFill>
                <a:latin typeface="Calibri"/>
                <a:cs typeface="Calibri"/>
              </a:rPr>
              <a:t>Screenshot</a:t>
            </a:r>
            <a:r>
              <a:rPr sz="1100" i="1" spc="120" dirty="0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sz="1100" i="1" dirty="0">
                <a:solidFill>
                  <a:srgbClr val="13132C"/>
                </a:solidFill>
                <a:latin typeface="Calibri"/>
                <a:cs typeface="Calibri"/>
              </a:rPr>
              <a:t>not</a:t>
            </a:r>
            <a:r>
              <a:rPr sz="1100" i="1" spc="120" dirty="0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sz="1100" i="1" dirty="0">
                <a:solidFill>
                  <a:srgbClr val="13132C"/>
                </a:solidFill>
                <a:latin typeface="Calibri"/>
                <a:cs typeface="Calibri"/>
              </a:rPr>
              <a:t>yet</a:t>
            </a:r>
            <a:r>
              <a:rPr sz="1100" i="1" spc="120" dirty="0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sz="1100" i="1" spc="-10" dirty="0">
                <a:solidFill>
                  <a:srgbClr val="13132C"/>
                </a:solidFill>
                <a:latin typeface="Calibri"/>
                <a:cs typeface="Calibri"/>
              </a:rPr>
              <a:t>added</a:t>
            </a:r>
            <a:endParaRPr sz="1100">
              <a:latin typeface="Calibri"/>
              <a:cs typeface="Calibri"/>
            </a:endParaRPr>
          </a:p>
          <a:p>
            <a:pPr algn="ctr">
              <a:lnSpc>
                <a:spcPct val="100000"/>
              </a:lnSpc>
              <a:spcBef>
                <a:spcPts val="1220"/>
              </a:spcBef>
            </a:pPr>
            <a:r>
              <a:rPr sz="600" spc="-10" dirty="0">
                <a:solidFill>
                  <a:srgbClr val="13132C"/>
                </a:solidFill>
                <a:latin typeface="Palatino Linotype"/>
                <a:cs typeface="Palatino Linotype"/>
              </a:rPr>
              <a:t>screenshots/mohab/results_degradation.png</a:t>
            </a:r>
            <a:endParaRPr sz="600">
              <a:latin typeface="Palatino Linotype"/>
              <a:cs typeface="Palatino Linotype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378764" y="473087"/>
            <a:ext cx="5002530" cy="2484755"/>
            <a:chOff x="378764" y="473087"/>
            <a:chExt cx="5002530" cy="2484755"/>
          </a:xfrm>
        </p:grpSpPr>
        <p:sp>
          <p:nvSpPr>
            <p:cNvPr id="5" name="object 5"/>
            <p:cNvSpPr/>
            <p:nvPr/>
          </p:nvSpPr>
          <p:spPr>
            <a:xfrm>
              <a:off x="378764" y="475614"/>
              <a:ext cx="5002530" cy="0"/>
            </a:xfrm>
            <a:custGeom>
              <a:avLst/>
              <a:gdLst/>
              <a:ahLst/>
              <a:cxnLst/>
              <a:rect l="l" t="t" r="r" b="b"/>
              <a:pathLst>
                <a:path w="5002530">
                  <a:moveTo>
                    <a:pt x="0" y="0"/>
                  </a:moveTo>
                  <a:lnTo>
                    <a:pt x="5002466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381292" y="475614"/>
              <a:ext cx="0" cy="2479675"/>
            </a:xfrm>
            <a:custGeom>
              <a:avLst/>
              <a:gdLst/>
              <a:ahLst/>
              <a:cxnLst/>
              <a:rect l="l" t="t" r="r" b="b"/>
              <a:pathLst>
                <a:path h="2479675">
                  <a:moveTo>
                    <a:pt x="0" y="2479217"/>
                  </a:moveTo>
                  <a:lnTo>
                    <a:pt x="0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5378704" y="475614"/>
              <a:ext cx="0" cy="2479675"/>
            </a:xfrm>
            <a:custGeom>
              <a:avLst/>
              <a:gdLst/>
              <a:ahLst/>
              <a:cxnLst/>
              <a:rect l="l" t="t" r="r" b="b"/>
              <a:pathLst>
                <a:path h="2479675">
                  <a:moveTo>
                    <a:pt x="0" y="2479217"/>
                  </a:moveTo>
                  <a:lnTo>
                    <a:pt x="0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378764" y="2954832"/>
              <a:ext cx="5002530" cy="0"/>
            </a:xfrm>
            <a:custGeom>
              <a:avLst/>
              <a:gdLst/>
              <a:ahLst/>
              <a:cxnLst/>
              <a:rect l="l" t="t" r="r" b="b"/>
              <a:pathLst>
                <a:path w="5002530">
                  <a:moveTo>
                    <a:pt x="0" y="0"/>
                  </a:moveTo>
                  <a:lnTo>
                    <a:pt x="5002466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10" name="object 10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14" name="object 14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sz="600" spc="-10" dirty="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 dirty="0">
              <a:latin typeface="Tahoma"/>
              <a:cs typeface="Tahoma"/>
            </a:endParaRPr>
          </a:p>
        </p:txBody>
      </p:sp>
      <p:sp>
        <p:nvSpPr>
          <p:cNvPr id="15" name="object 1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50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</p:spTree>
  </p:cSld>
  <p:clrMapOvr>
    <a:masterClrMapping/>
  </p:clrMapOvr>
  <p:transition>
    <p:cut/>
  </p:transition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95300" y="57337"/>
            <a:ext cx="3060700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pc="-165" dirty="0"/>
              <a:t>Forecasting</a:t>
            </a:r>
            <a:r>
              <a:rPr spc="85" dirty="0"/>
              <a:t> </a:t>
            </a:r>
            <a:r>
              <a:rPr spc="165" dirty="0"/>
              <a:t>—</a:t>
            </a:r>
            <a:r>
              <a:rPr spc="85" dirty="0"/>
              <a:t> </a:t>
            </a:r>
            <a:r>
              <a:rPr spc="-145" dirty="0"/>
              <a:t>Experimental</a:t>
            </a:r>
            <a:r>
              <a:rPr spc="90" dirty="0"/>
              <a:t> </a:t>
            </a:r>
            <a:r>
              <a:rPr spc="-120" dirty="0"/>
              <a:t>Results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040534" y="1473960"/>
            <a:ext cx="1678939" cy="43878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90"/>
              </a:spcBef>
            </a:pPr>
            <a:r>
              <a:rPr sz="1100" i="1" dirty="0">
                <a:solidFill>
                  <a:srgbClr val="13132C"/>
                </a:solidFill>
                <a:latin typeface="Calibri"/>
                <a:cs typeface="Calibri"/>
              </a:rPr>
              <a:t>Screenshot</a:t>
            </a:r>
            <a:r>
              <a:rPr sz="1100" i="1" spc="120" dirty="0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sz="1100" i="1" dirty="0">
                <a:solidFill>
                  <a:srgbClr val="13132C"/>
                </a:solidFill>
                <a:latin typeface="Calibri"/>
                <a:cs typeface="Calibri"/>
              </a:rPr>
              <a:t>not</a:t>
            </a:r>
            <a:r>
              <a:rPr sz="1100" i="1" spc="120" dirty="0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sz="1100" i="1" dirty="0">
                <a:solidFill>
                  <a:srgbClr val="13132C"/>
                </a:solidFill>
                <a:latin typeface="Calibri"/>
                <a:cs typeface="Calibri"/>
              </a:rPr>
              <a:t>yet</a:t>
            </a:r>
            <a:r>
              <a:rPr sz="1100" i="1" spc="120" dirty="0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sz="1100" i="1" spc="-10" dirty="0">
                <a:solidFill>
                  <a:srgbClr val="13132C"/>
                </a:solidFill>
                <a:latin typeface="Calibri"/>
                <a:cs typeface="Calibri"/>
              </a:rPr>
              <a:t>added</a:t>
            </a:r>
            <a:endParaRPr sz="1100">
              <a:latin typeface="Calibri"/>
              <a:cs typeface="Calibri"/>
            </a:endParaRPr>
          </a:p>
          <a:p>
            <a:pPr algn="ctr">
              <a:lnSpc>
                <a:spcPct val="100000"/>
              </a:lnSpc>
              <a:spcBef>
                <a:spcPts val="1220"/>
              </a:spcBef>
            </a:pPr>
            <a:r>
              <a:rPr sz="600" spc="-10" dirty="0">
                <a:solidFill>
                  <a:srgbClr val="13132C"/>
                </a:solidFill>
                <a:latin typeface="Palatino Linotype"/>
                <a:cs typeface="Palatino Linotype"/>
              </a:rPr>
              <a:t>screenshots/mohab/results_forecasting.png</a:t>
            </a:r>
            <a:endParaRPr sz="600">
              <a:latin typeface="Palatino Linotype"/>
              <a:cs typeface="Palatino Linotype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378764" y="473087"/>
            <a:ext cx="5002530" cy="2484755"/>
            <a:chOff x="378764" y="473087"/>
            <a:chExt cx="5002530" cy="2484755"/>
          </a:xfrm>
        </p:grpSpPr>
        <p:sp>
          <p:nvSpPr>
            <p:cNvPr id="5" name="object 5"/>
            <p:cNvSpPr/>
            <p:nvPr/>
          </p:nvSpPr>
          <p:spPr>
            <a:xfrm>
              <a:off x="378764" y="475614"/>
              <a:ext cx="5002530" cy="0"/>
            </a:xfrm>
            <a:custGeom>
              <a:avLst/>
              <a:gdLst/>
              <a:ahLst/>
              <a:cxnLst/>
              <a:rect l="l" t="t" r="r" b="b"/>
              <a:pathLst>
                <a:path w="5002530">
                  <a:moveTo>
                    <a:pt x="0" y="0"/>
                  </a:moveTo>
                  <a:lnTo>
                    <a:pt x="5002466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381292" y="475614"/>
              <a:ext cx="0" cy="2479675"/>
            </a:xfrm>
            <a:custGeom>
              <a:avLst/>
              <a:gdLst/>
              <a:ahLst/>
              <a:cxnLst/>
              <a:rect l="l" t="t" r="r" b="b"/>
              <a:pathLst>
                <a:path h="2479675">
                  <a:moveTo>
                    <a:pt x="0" y="2479217"/>
                  </a:moveTo>
                  <a:lnTo>
                    <a:pt x="0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5378704" y="475614"/>
              <a:ext cx="0" cy="2479675"/>
            </a:xfrm>
            <a:custGeom>
              <a:avLst/>
              <a:gdLst/>
              <a:ahLst/>
              <a:cxnLst/>
              <a:rect l="l" t="t" r="r" b="b"/>
              <a:pathLst>
                <a:path h="2479675">
                  <a:moveTo>
                    <a:pt x="0" y="2479217"/>
                  </a:moveTo>
                  <a:lnTo>
                    <a:pt x="0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378764" y="2954832"/>
              <a:ext cx="5002530" cy="0"/>
            </a:xfrm>
            <a:custGeom>
              <a:avLst/>
              <a:gdLst/>
              <a:ahLst/>
              <a:cxnLst/>
              <a:rect l="l" t="t" r="r" b="b"/>
              <a:pathLst>
                <a:path w="5002530">
                  <a:moveTo>
                    <a:pt x="0" y="0"/>
                  </a:moveTo>
                  <a:lnTo>
                    <a:pt x="5002466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10" name="object 10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14" name="object 14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sz="600" spc="-10" dirty="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 dirty="0">
              <a:latin typeface="Tahoma"/>
              <a:cs typeface="Tahoma"/>
            </a:endParaRPr>
          </a:p>
        </p:txBody>
      </p:sp>
      <p:sp>
        <p:nvSpPr>
          <p:cNvPr id="15" name="object 1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51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</p:spTree>
  </p:cSld>
  <p:clrMapOvr>
    <a:masterClrMapping/>
  </p:clrMapOvr>
  <p:transition>
    <p:cut/>
  </p:transition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pc="-120" dirty="0"/>
              <a:t>Action</a:t>
            </a:r>
            <a:r>
              <a:rPr spc="55" dirty="0"/>
              <a:t> </a:t>
            </a:r>
            <a:r>
              <a:rPr spc="-125" dirty="0"/>
              <a:t>Analyzer</a:t>
            </a:r>
            <a:r>
              <a:rPr spc="60" dirty="0"/>
              <a:t> </a:t>
            </a:r>
            <a:r>
              <a:rPr spc="165" dirty="0"/>
              <a:t>—</a:t>
            </a:r>
            <a:r>
              <a:rPr spc="55" dirty="0"/>
              <a:t> </a:t>
            </a:r>
            <a:r>
              <a:rPr spc="-145" dirty="0"/>
              <a:t>Experimental</a:t>
            </a:r>
            <a:r>
              <a:rPr spc="60" dirty="0"/>
              <a:t> </a:t>
            </a:r>
            <a:r>
              <a:rPr spc="-125" dirty="0"/>
              <a:t>Results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651560" y="425226"/>
            <a:ext cx="166370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spc="-95" dirty="0">
                <a:latin typeface="Arial Black"/>
                <a:cs typeface="Arial Black"/>
              </a:rPr>
              <a:t>Configuration</a:t>
            </a:r>
            <a:r>
              <a:rPr sz="1000" spc="30" dirty="0">
                <a:latin typeface="Arial Black"/>
                <a:cs typeface="Arial Black"/>
              </a:rPr>
              <a:t> </a:t>
            </a:r>
            <a:r>
              <a:rPr sz="1000" spc="-120" dirty="0">
                <a:latin typeface="Arial Black"/>
                <a:cs typeface="Arial Black"/>
              </a:rPr>
              <a:t>Change</a:t>
            </a:r>
            <a:r>
              <a:rPr sz="1000" spc="35" dirty="0">
                <a:latin typeface="Arial Black"/>
                <a:cs typeface="Arial Black"/>
              </a:rPr>
              <a:t> </a:t>
            </a:r>
            <a:r>
              <a:rPr sz="1000" spc="-90" dirty="0">
                <a:latin typeface="Arial Black"/>
                <a:cs typeface="Arial Black"/>
              </a:rPr>
              <a:t>Event</a:t>
            </a:r>
            <a:endParaRPr sz="1000">
              <a:latin typeface="Arial Black"/>
              <a:cs typeface="Arial Black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174472" y="654837"/>
            <a:ext cx="2703195" cy="2294890"/>
          </a:xfrm>
          <a:prstGeom prst="rect">
            <a:avLst/>
          </a:prstGeom>
          <a:ln w="5054">
            <a:solidFill>
              <a:srgbClr val="000000"/>
            </a:solidFill>
          </a:ln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ct val="100000"/>
              </a:lnSpc>
            </a:pPr>
            <a:endParaRPr sz="11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11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11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11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900"/>
              </a:spcBef>
            </a:pPr>
            <a:endParaRPr sz="1100">
              <a:latin typeface="Times New Roman"/>
              <a:cs typeface="Times New Roman"/>
            </a:endParaRPr>
          </a:p>
          <a:p>
            <a:pPr algn="ctr">
              <a:lnSpc>
                <a:spcPct val="100000"/>
              </a:lnSpc>
            </a:pPr>
            <a:r>
              <a:rPr sz="1100" i="1" dirty="0">
                <a:solidFill>
                  <a:srgbClr val="13132C"/>
                </a:solidFill>
                <a:latin typeface="Calibri"/>
                <a:cs typeface="Calibri"/>
              </a:rPr>
              <a:t>Screenshot</a:t>
            </a:r>
            <a:r>
              <a:rPr sz="1100" i="1" spc="120" dirty="0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sz="1100" i="1" dirty="0">
                <a:solidFill>
                  <a:srgbClr val="13132C"/>
                </a:solidFill>
                <a:latin typeface="Calibri"/>
                <a:cs typeface="Calibri"/>
              </a:rPr>
              <a:t>not</a:t>
            </a:r>
            <a:r>
              <a:rPr sz="1100" i="1" spc="120" dirty="0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sz="1100" i="1" dirty="0">
                <a:solidFill>
                  <a:srgbClr val="13132C"/>
                </a:solidFill>
                <a:latin typeface="Calibri"/>
                <a:cs typeface="Calibri"/>
              </a:rPr>
              <a:t>yet</a:t>
            </a:r>
            <a:r>
              <a:rPr sz="1100" i="1" spc="120" dirty="0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sz="1100" i="1" spc="-10" dirty="0">
                <a:solidFill>
                  <a:srgbClr val="13132C"/>
                </a:solidFill>
                <a:latin typeface="Calibri"/>
                <a:cs typeface="Calibri"/>
              </a:rPr>
              <a:t>added</a:t>
            </a:r>
            <a:endParaRPr sz="1100">
              <a:latin typeface="Calibri"/>
              <a:cs typeface="Calibri"/>
            </a:endParaRPr>
          </a:p>
          <a:p>
            <a:pPr algn="ctr">
              <a:lnSpc>
                <a:spcPct val="100000"/>
              </a:lnSpc>
              <a:spcBef>
                <a:spcPts val="1220"/>
              </a:spcBef>
            </a:pPr>
            <a:r>
              <a:rPr sz="600" spc="-10" dirty="0">
                <a:solidFill>
                  <a:srgbClr val="13132C"/>
                </a:solidFill>
                <a:latin typeface="Palatino Linotype"/>
                <a:cs typeface="Palatino Linotype"/>
              </a:rPr>
              <a:t>screenshots/mohab/results_action_before.png</a:t>
            </a:r>
            <a:endParaRPr sz="600">
              <a:latin typeface="Palatino Linotype"/>
              <a:cs typeface="Palatino Linotype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622319" y="425226"/>
            <a:ext cx="131000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spc="-40" dirty="0">
                <a:latin typeface="Arial Black"/>
                <a:cs typeface="Arial Black"/>
              </a:rPr>
              <a:t>KPI</a:t>
            </a:r>
            <a:r>
              <a:rPr sz="1000" spc="-5" dirty="0">
                <a:latin typeface="Arial Black"/>
                <a:cs typeface="Arial Black"/>
              </a:rPr>
              <a:t> </a:t>
            </a:r>
            <a:r>
              <a:rPr sz="1000" spc="-120" dirty="0">
                <a:latin typeface="Arial Black"/>
                <a:cs typeface="Arial Black"/>
              </a:rPr>
              <a:t>Impact</a:t>
            </a:r>
            <a:r>
              <a:rPr sz="1000" spc="30" dirty="0">
                <a:latin typeface="Arial Black"/>
                <a:cs typeface="Arial Black"/>
              </a:rPr>
              <a:t> </a:t>
            </a:r>
            <a:r>
              <a:rPr sz="1000" spc="-105" dirty="0">
                <a:latin typeface="Arial Black"/>
                <a:cs typeface="Arial Black"/>
              </a:rPr>
              <a:t>Measured</a:t>
            </a:r>
            <a:endParaRPr sz="1000">
              <a:latin typeface="Arial Black"/>
              <a:cs typeface="Arial Black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2968498" y="654837"/>
            <a:ext cx="2703195" cy="2294890"/>
          </a:xfrm>
          <a:prstGeom prst="rect">
            <a:avLst/>
          </a:prstGeom>
          <a:ln w="5054">
            <a:solidFill>
              <a:srgbClr val="000000"/>
            </a:solidFill>
          </a:ln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ct val="100000"/>
              </a:lnSpc>
            </a:pPr>
            <a:endParaRPr sz="11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11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11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11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900"/>
              </a:spcBef>
            </a:pPr>
            <a:endParaRPr sz="1100">
              <a:latin typeface="Times New Roman"/>
              <a:cs typeface="Times New Roman"/>
            </a:endParaRPr>
          </a:p>
          <a:p>
            <a:pPr algn="ctr">
              <a:lnSpc>
                <a:spcPct val="100000"/>
              </a:lnSpc>
            </a:pPr>
            <a:r>
              <a:rPr sz="1100" i="1" dirty="0">
                <a:solidFill>
                  <a:srgbClr val="13132C"/>
                </a:solidFill>
                <a:latin typeface="Calibri"/>
                <a:cs typeface="Calibri"/>
              </a:rPr>
              <a:t>Screenshot</a:t>
            </a:r>
            <a:r>
              <a:rPr sz="1100" i="1" spc="120" dirty="0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sz="1100" i="1" dirty="0">
                <a:solidFill>
                  <a:srgbClr val="13132C"/>
                </a:solidFill>
                <a:latin typeface="Calibri"/>
                <a:cs typeface="Calibri"/>
              </a:rPr>
              <a:t>not</a:t>
            </a:r>
            <a:r>
              <a:rPr sz="1100" i="1" spc="120" dirty="0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sz="1100" i="1" dirty="0">
                <a:solidFill>
                  <a:srgbClr val="13132C"/>
                </a:solidFill>
                <a:latin typeface="Calibri"/>
                <a:cs typeface="Calibri"/>
              </a:rPr>
              <a:t>yet</a:t>
            </a:r>
            <a:r>
              <a:rPr sz="1100" i="1" spc="120" dirty="0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sz="1100" i="1" spc="-10" dirty="0">
                <a:solidFill>
                  <a:srgbClr val="13132C"/>
                </a:solidFill>
                <a:latin typeface="Calibri"/>
                <a:cs typeface="Calibri"/>
              </a:rPr>
              <a:t>added</a:t>
            </a:r>
            <a:endParaRPr sz="1100">
              <a:latin typeface="Calibri"/>
              <a:cs typeface="Calibri"/>
            </a:endParaRPr>
          </a:p>
          <a:p>
            <a:pPr algn="ctr">
              <a:lnSpc>
                <a:spcPct val="100000"/>
              </a:lnSpc>
              <a:spcBef>
                <a:spcPts val="1220"/>
              </a:spcBef>
            </a:pPr>
            <a:r>
              <a:rPr sz="600" spc="-10" dirty="0">
                <a:solidFill>
                  <a:srgbClr val="13132C"/>
                </a:solidFill>
                <a:latin typeface="Palatino Linotype"/>
                <a:cs typeface="Palatino Linotype"/>
              </a:rPr>
              <a:t>screenshots/mohab/results_action_after.png</a:t>
            </a:r>
            <a:endParaRPr sz="600">
              <a:latin typeface="Palatino Linotype"/>
              <a:cs typeface="Palatino Linotype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8" name="object 8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12" name="object 12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sz="600" spc="-10" dirty="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 dirty="0">
              <a:latin typeface="Tahoma"/>
              <a:cs typeface="Tahoma"/>
            </a:endParaRPr>
          </a:p>
        </p:txBody>
      </p:sp>
      <p:sp>
        <p:nvSpPr>
          <p:cNvPr id="13" name="object 1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52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</p:spTree>
  </p:cSld>
  <p:clrMapOvr>
    <a:masterClrMapping/>
  </p:clrMapOvr>
  <p:transition>
    <p:cut/>
  </p:transition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pc="-60" dirty="0"/>
              <a:t>RAG</a:t>
            </a:r>
            <a:r>
              <a:rPr spc="40" dirty="0"/>
              <a:t> </a:t>
            </a:r>
            <a:r>
              <a:rPr spc="-145" dirty="0"/>
              <a:t>Assistant</a:t>
            </a:r>
            <a:r>
              <a:rPr spc="35" dirty="0"/>
              <a:t> </a:t>
            </a:r>
            <a:r>
              <a:rPr spc="165" dirty="0"/>
              <a:t>—</a:t>
            </a:r>
            <a:r>
              <a:rPr spc="40" dirty="0"/>
              <a:t> </a:t>
            </a:r>
            <a:r>
              <a:rPr spc="-145" dirty="0"/>
              <a:t>Experimental</a:t>
            </a:r>
            <a:r>
              <a:rPr spc="35" dirty="0"/>
              <a:t> </a:t>
            </a:r>
            <a:r>
              <a:rPr spc="-125" dirty="0"/>
              <a:t>Results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133015" y="1473960"/>
            <a:ext cx="1494155" cy="43878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90"/>
              </a:spcBef>
            </a:pPr>
            <a:r>
              <a:rPr sz="1100" i="1" dirty="0">
                <a:solidFill>
                  <a:srgbClr val="13132C"/>
                </a:solidFill>
                <a:latin typeface="Calibri"/>
                <a:cs typeface="Calibri"/>
              </a:rPr>
              <a:t>Screenshot</a:t>
            </a:r>
            <a:r>
              <a:rPr sz="1100" i="1" spc="120" dirty="0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sz="1100" i="1" dirty="0">
                <a:solidFill>
                  <a:srgbClr val="13132C"/>
                </a:solidFill>
                <a:latin typeface="Calibri"/>
                <a:cs typeface="Calibri"/>
              </a:rPr>
              <a:t>not</a:t>
            </a:r>
            <a:r>
              <a:rPr sz="1100" i="1" spc="120" dirty="0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sz="1100" i="1" dirty="0">
                <a:solidFill>
                  <a:srgbClr val="13132C"/>
                </a:solidFill>
                <a:latin typeface="Calibri"/>
                <a:cs typeface="Calibri"/>
              </a:rPr>
              <a:t>yet</a:t>
            </a:r>
            <a:r>
              <a:rPr sz="1100" i="1" spc="120" dirty="0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sz="1100" i="1" spc="-10" dirty="0">
                <a:solidFill>
                  <a:srgbClr val="13132C"/>
                </a:solidFill>
                <a:latin typeface="Calibri"/>
                <a:cs typeface="Calibri"/>
              </a:rPr>
              <a:t>added</a:t>
            </a:r>
            <a:endParaRPr sz="1100">
              <a:latin typeface="Calibri"/>
              <a:cs typeface="Calibri"/>
            </a:endParaRPr>
          </a:p>
          <a:p>
            <a:pPr algn="ctr">
              <a:lnSpc>
                <a:spcPct val="100000"/>
              </a:lnSpc>
              <a:spcBef>
                <a:spcPts val="1220"/>
              </a:spcBef>
            </a:pPr>
            <a:r>
              <a:rPr sz="600" spc="-10" dirty="0">
                <a:solidFill>
                  <a:srgbClr val="13132C"/>
                </a:solidFill>
                <a:latin typeface="Palatino Linotype"/>
                <a:cs typeface="Palatino Linotype"/>
              </a:rPr>
              <a:t>screenshots/mohab/results_rag.png</a:t>
            </a:r>
            <a:endParaRPr sz="600">
              <a:latin typeface="Palatino Linotype"/>
              <a:cs typeface="Palatino Linotype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378764" y="473087"/>
            <a:ext cx="5002530" cy="2484755"/>
            <a:chOff x="378764" y="473087"/>
            <a:chExt cx="5002530" cy="2484755"/>
          </a:xfrm>
        </p:grpSpPr>
        <p:sp>
          <p:nvSpPr>
            <p:cNvPr id="5" name="object 5"/>
            <p:cNvSpPr/>
            <p:nvPr/>
          </p:nvSpPr>
          <p:spPr>
            <a:xfrm>
              <a:off x="378764" y="475614"/>
              <a:ext cx="5002530" cy="0"/>
            </a:xfrm>
            <a:custGeom>
              <a:avLst/>
              <a:gdLst/>
              <a:ahLst/>
              <a:cxnLst/>
              <a:rect l="l" t="t" r="r" b="b"/>
              <a:pathLst>
                <a:path w="5002530">
                  <a:moveTo>
                    <a:pt x="0" y="0"/>
                  </a:moveTo>
                  <a:lnTo>
                    <a:pt x="5002466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381292" y="475614"/>
              <a:ext cx="0" cy="2479675"/>
            </a:xfrm>
            <a:custGeom>
              <a:avLst/>
              <a:gdLst/>
              <a:ahLst/>
              <a:cxnLst/>
              <a:rect l="l" t="t" r="r" b="b"/>
              <a:pathLst>
                <a:path h="2479675">
                  <a:moveTo>
                    <a:pt x="0" y="2479217"/>
                  </a:moveTo>
                  <a:lnTo>
                    <a:pt x="0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5378704" y="475614"/>
              <a:ext cx="0" cy="2479675"/>
            </a:xfrm>
            <a:custGeom>
              <a:avLst/>
              <a:gdLst/>
              <a:ahLst/>
              <a:cxnLst/>
              <a:rect l="l" t="t" r="r" b="b"/>
              <a:pathLst>
                <a:path h="2479675">
                  <a:moveTo>
                    <a:pt x="0" y="2479217"/>
                  </a:moveTo>
                  <a:lnTo>
                    <a:pt x="0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378764" y="2954832"/>
              <a:ext cx="5002530" cy="0"/>
            </a:xfrm>
            <a:custGeom>
              <a:avLst/>
              <a:gdLst/>
              <a:ahLst/>
              <a:cxnLst/>
              <a:rect l="l" t="t" r="r" b="b"/>
              <a:pathLst>
                <a:path w="5002530">
                  <a:moveTo>
                    <a:pt x="0" y="0"/>
                  </a:moveTo>
                  <a:lnTo>
                    <a:pt x="5002466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10" name="object 10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14" name="object 14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sz="600" spc="-10" dirty="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 dirty="0">
              <a:latin typeface="Tahoma"/>
              <a:cs typeface="Tahoma"/>
            </a:endParaRPr>
          </a:p>
        </p:txBody>
      </p:sp>
      <p:sp>
        <p:nvSpPr>
          <p:cNvPr id="15" name="object 1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53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</p:spTree>
  </p:cSld>
  <p:clrMapOvr>
    <a:masterClrMapping/>
  </p:clrMapOvr>
  <p:transition>
    <p:cut/>
  </p:transition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5300" y="57337"/>
            <a:ext cx="920115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400" spc="-145" dirty="0">
                <a:solidFill>
                  <a:srgbClr val="FFFFFF"/>
                </a:solidFill>
                <a:latin typeface="Arial Black"/>
                <a:cs typeface="Arial Black"/>
              </a:rPr>
              <a:t>Conclusion</a:t>
            </a:r>
            <a:endParaRPr sz="1400">
              <a:latin typeface="Arial Black"/>
              <a:cs typeface="Arial Black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2030209" y="1519171"/>
            <a:ext cx="169989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[</a:t>
            </a:r>
            <a:r>
              <a:rPr sz="1200" i="1" spc="75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Fill</a:t>
            </a:r>
            <a:r>
              <a:rPr sz="1200" i="1" spc="85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in</a:t>
            </a:r>
            <a:r>
              <a:rPr sz="1200" i="1" spc="80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your</a:t>
            </a:r>
            <a:r>
              <a:rPr sz="1200" i="1" spc="75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content</a:t>
            </a:r>
            <a:r>
              <a:rPr sz="1200" i="1" spc="80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spc="-10" dirty="0">
                <a:solidFill>
                  <a:srgbClr val="ACACB5"/>
                </a:solidFill>
                <a:latin typeface="Calibri"/>
                <a:cs typeface="Calibri"/>
              </a:rPr>
              <a:t>here</a:t>
            </a:r>
            <a:r>
              <a:rPr sz="1200" i="1" spc="80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spc="-50" dirty="0">
                <a:solidFill>
                  <a:srgbClr val="ACACB5"/>
                </a:solidFill>
                <a:latin typeface="Calibri"/>
                <a:cs typeface="Calibri"/>
              </a:rPr>
              <a:t>]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5" name="object 5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9" name="object 9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sz="600" spc="-10" dirty="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 dirty="0">
              <a:latin typeface="Tahoma"/>
              <a:cs typeface="Tahoma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54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</p:spTree>
  </p:cSld>
  <p:clrMapOvr>
    <a:masterClrMapping/>
  </p:clrMapOvr>
  <p:transition>
    <p:cut/>
  </p:transition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5300" y="57337"/>
            <a:ext cx="1080135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400" spc="-114" dirty="0">
                <a:solidFill>
                  <a:srgbClr val="FFFFFF"/>
                </a:solidFill>
                <a:latin typeface="Arial Black"/>
                <a:cs typeface="Arial Black"/>
              </a:rPr>
              <a:t>Future</a:t>
            </a:r>
            <a:r>
              <a:rPr sz="1400" spc="15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95" dirty="0">
                <a:solidFill>
                  <a:srgbClr val="FFFFFF"/>
                </a:solidFill>
                <a:latin typeface="Arial Black"/>
                <a:cs typeface="Arial Black"/>
              </a:rPr>
              <a:t>Work</a:t>
            </a:r>
            <a:endParaRPr sz="1400">
              <a:latin typeface="Arial Black"/>
              <a:cs typeface="Arial Black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2030209" y="1519171"/>
            <a:ext cx="169989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[</a:t>
            </a:r>
            <a:r>
              <a:rPr sz="1200" i="1" spc="75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Fill</a:t>
            </a:r>
            <a:r>
              <a:rPr sz="1200" i="1" spc="85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in</a:t>
            </a:r>
            <a:r>
              <a:rPr sz="1200" i="1" spc="80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your</a:t>
            </a:r>
            <a:r>
              <a:rPr sz="1200" i="1" spc="75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content</a:t>
            </a:r>
            <a:r>
              <a:rPr sz="1200" i="1" spc="80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spc="-10" dirty="0">
                <a:solidFill>
                  <a:srgbClr val="ACACB5"/>
                </a:solidFill>
                <a:latin typeface="Calibri"/>
                <a:cs typeface="Calibri"/>
              </a:rPr>
              <a:t>here</a:t>
            </a:r>
            <a:r>
              <a:rPr sz="1200" i="1" spc="80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spc="-50" dirty="0">
                <a:solidFill>
                  <a:srgbClr val="ACACB5"/>
                </a:solidFill>
                <a:latin typeface="Calibri"/>
                <a:cs typeface="Calibri"/>
              </a:rPr>
              <a:t>]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5" name="object 5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9" name="object 9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sz="600" spc="-10" dirty="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 dirty="0">
              <a:latin typeface="Tahoma"/>
              <a:cs typeface="Tahoma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55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</p:spTree>
  </p:cSld>
  <p:clrMapOvr>
    <a:masterClrMapping/>
  </p:clrMapOvr>
  <p:transition>
    <p:cut/>
  </p:transition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148628" y="0"/>
            <a:ext cx="5611495" cy="1296035"/>
            <a:chOff x="148628" y="0"/>
            <a:chExt cx="5611495" cy="1296035"/>
          </a:xfrm>
        </p:grpSpPr>
        <p:sp>
          <p:nvSpPr>
            <p:cNvPr id="3" name="object 3"/>
            <p:cNvSpPr/>
            <p:nvPr/>
          </p:nvSpPr>
          <p:spPr>
            <a:xfrm>
              <a:off x="148628" y="0"/>
              <a:ext cx="5611495" cy="972185"/>
            </a:xfrm>
            <a:custGeom>
              <a:avLst/>
              <a:gdLst/>
              <a:ahLst/>
              <a:cxnLst/>
              <a:rect l="l" t="t" r="r" b="b"/>
              <a:pathLst>
                <a:path w="5611495" h="972185">
                  <a:moveTo>
                    <a:pt x="0" y="971972"/>
                  </a:moveTo>
                  <a:lnTo>
                    <a:pt x="5611367" y="971972"/>
                  </a:lnTo>
                  <a:lnTo>
                    <a:pt x="5611367" y="0"/>
                  </a:lnTo>
                  <a:lnTo>
                    <a:pt x="0" y="0"/>
                  </a:lnTo>
                  <a:lnTo>
                    <a:pt x="0" y="971972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148628" y="971973"/>
              <a:ext cx="5611495" cy="324485"/>
            </a:xfrm>
            <a:custGeom>
              <a:avLst/>
              <a:gdLst/>
              <a:ahLst/>
              <a:cxnLst/>
              <a:rect l="l" t="t" r="r" b="b"/>
              <a:pathLst>
                <a:path w="5611495" h="324484">
                  <a:moveTo>
                    <a:pt x="5611367" y="0"/>
                  </a:moveTo>
                  <a:lnTo>
                    <a:pt x="0" y="0"/>
                  </a:lnTo>
                  <a:lnTo>
                    <a:pt x="0" y="324023"/>
                  </a:lnTo>
                  <a:lnTo>
                    <a:pt x="5611367" y="324023"/>
                  </a:lnTo>
                  <a:lnTo>
                    <a:pt x="5611367" y="0"/>
                  </a:lnTo>
                  <a:close/>
                </a:path>
              </a:pathLst>
            </a:custGeom>
            <a:solidFill>
              <a:srgbClr val="66666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148628" y="923374"/>
              <a:ext cx="5611495" cy="48895"/>
            </a:xfrm>
            <a:custGeom>
              <a:avLst/>
              <a:gdLst/>
              <a:ahLst/>
              <a:cxnLst/>
              <a:rect l="l" t="t" r="r" b="b"/>
              <a:pathLst>
                <a:path w="5611495" h="48894">
                  <a:moveTo>
                    <a:pt x="5611367" y="0"/>
                  </a:moveTo>
                  <a:lnTo>
                    <a:pt x="0" y="0"/>
                  </a:lnTo>
                  <a:lnTo>
                    <a:pt x="0" y="48598"/>
                  </a:lnTo>
                  <a:lnTo>
                    <a:pt x="5611367" y="48598"/>
                  </a:lnTo>
                  <a:lnTo>
                    <a:pt x="5611367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148628" y="1024367"/>
            <a:ext cx="561149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47955" algn="ctr">
              <a:lnSpc>
                <a:spcPct val="100000"/>
              </a:lnSpc>
              <a:spcBef>
                <a:spcPts val="90"/>
              </a:spcBef>
            </a:pPr>
            <a:r>
              <a:rPr sz="1100" spc="-75" dirty="0">
                <a:solidFill>
                  <a:srgbClr val="FFFFFF"/>
                </a:solidFill>
                <a:latin typeface="Arial Black"/>
                <a:cs typeface="Arial Black"/>
              </a:rPr>
              <a:t>RANPilotAI</a:t>
            </a:r>
            <a:r>
              <a:rPr sz="1100" spc="35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100" i="1" dirty="0">
                <a:solidFill>
                  <a:srgbClr val="FFFFFF"/>
                </a:solidFill>
                <a:latin typeface="Utopia Std Caption"/>
                <a:cs typeface="Utopia Std Caption"/>
              </a:rPr>
              <a:t>·</a:t>
            </a:r>
            <a:r>
              <a:rPr sz="1100" i="1" spc="155" dirty="0">
                <a:solidFill>
                  <a:srgbClr val="FFFFFF"/>
                </a:solidFill>
                <a:latin typeface="Utopia Std Caption"/>
                <a:cs typeface="Utopia Std Caption"/>
              </a:rPr>
              <a:t> </a:t>
            </a:r>
            <a:r>
              <a:rPr sz="1100" spc="-20" dirty="0">
                <a:solidFill>
                  <a:srgbClr val="FFFFFF"/>
                </a:solidFill>
                <a:latin typeface="Arial Black"/>
                <a:cs typeface="Arial Black"/>
              </a:rPr>
              <a:t>ITI</a:t>
            </a:r>
            <a:r>
              <a:rPr sz="1100" spc="4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100" spc="-140" dirty="0">
                <a:solidFill>
                  <a:srgbClr val="FFFFFF"/>
                </a:solidFill>
                <a:latin typeface="Arial Black"/>
                <a:cs typeface="Arial Black"/>
              </a:rPr>
              <a:t>Intake</a:t>
            </a:r>
            <a:r>
              <a:rPr sz="1100" spc="35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100" spc="-145" dirty="0">
                <a:solidFill>
                  <a:srgbClr val="FFFFFF"/>
                </a:solidFill>
                <a:latin typeface="Arial Black"/>
                <a:cs typeface="Arial Black"/>
              </a:rPr>
              <a:t>46</a:t>
            </a:r>
            <a:r>
              <a:rPr sz="1100" spc="35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100" i="1" dirty="0">
                <a:solidFill>
                  <a:srgbClr val="FFFFFF"/>
                </a:solidFill>
                <a:latin typeface="Utopia Std Caption"/>
                <a:cs typeface="Utopia Std Caption"/>
              </a:rPr>
              <a:t>·</a:t>
            </a:r>
            <a:r>
              <a:rPr sz="1100" i="1" spc="160" dirty="0">
                <a:solidFill>
                  <a:srgbClr val="FFFFFF"/>
                </a:solidFill>
                <a:latin typeface="Utopia Std Caption"/>
                <a:cs typeface="Utopia Std Caption"/>
              </a:rPr>
              <a:t> </a:t>
            </a:r>
            <a:r>
              <a:rPr sz="1100" spc="-140" dirty="0">
                <a:solidFill>
                  <a:srgbClr val="FFFFFF"/>
                </a:solidFill>
                <a:latin typeface="Arial Black"/>
                <a:cs typeface="Arial Black"/>
              </a:rPr>
              <a:t>Ismailia</a:t>
            </a:r>
            <a:r>
              <a:rPr sz="1100" spc="35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100" spc="-135" dirty="0">
                <a:solidFill>
                  <a:srgbClr val="FFFFFF"/>
                </a:solidFill>
                <a:latin typeface="Arial Black"/>
                <a:cs typeface="Arial Black"/>
              </a:rPr>
              <a:t>Branch</a:t>
            </a:r>
            <a:r>
              <a:rPr sz="1100" spc="35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100" i="1" dirty="0">
                <a:solidFill>
                  <a:srgbClr val="FFFFFF"/>
                </a:solidFill>
                <a:latin typeface="Utopia Std Caption"/>
                <a:cs typeface="Utopia Std Caption"/>
              </a:rPr>
              <a:t>·</a:t>
            </a:r>
            <a:r>
              <a:rPr sz="1100" i="1" spc="160" dirty="0">
                <a:solidFill>
                  <a:srgbClr val="FFFFFF"/>
                </a:solidFill>
                <a:latin typeface="Utopia Std Caption"/>
                <a:cs typeface="Utopia Std Caption"/>
              </a:rPr>
              <a:t> </a:t>
            </a:r>
            <a:r>
              <a:rPr sz="1100" spc="-20" dirty="0">
                <a:solidFill>
                  <a:srgbClr val="FFFFFF"/>
                </a:solidFill>
                <a:latin typeface="Arial Black"/>
                <a:cs typeface="Arial Black"/>
              </a:rPr>
              <a:t>2026</a:t>
            </a:r>
            <a:endParaRPr sz="1100" dirty="0">
              <a:latin typeface="Arial Black"/>
              <a:cs typeface="Arial Black"/>
            </a:endParaRPr>
          </a:p>
        </p:txBody>
      </p:sp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1481</TotalTime>
  <Words>1786</Words>
  <Application>Microsoft Office PowerPoint</Application>
  <PresentationFormat>Custom</PresentationFormat>
  <Paragraphs>388</Paragraphs>
  <Slides>56</Slides>
  <Notes>1</Notes>
  <HiddenSlides>1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56</vt:i4>
      </vt:variant>
    </vt:vector>
  </HeadingPairs>
  <TitlesOfParts>
    <vt:vector size="67" baseType="lpstr">
      <vt:lpstr>Arial</vt:lpstr>
      <vt:lpstr>Arial Black</vt:lpstr>
      <vt:lpstr>Calibri</vt:lpstr>
      <vt:lpstr>Courier New</vt:lpstr>
      <vt:lpstr>Georgia</vt:lpstr>
      <vt:lpstr>Palatino Linotype</vt:lpstr>
      <vt:lpstr>Tahoma</vt:lpstr>
      <vt:lpstr>Times New Roman</vt:lpstr>
      <vt:lpstr>Trebuchet MS</vt:lpstr>
      <vt:lpstr>Utopia Std Caption</vt:lpstr>
      <vt:lpstr>Office Theme</vt:lpstr>
      <vt:lpstr>RANPilotAI</vt:lpstr>
      <vt:lpstr>Agenda</vt:lpstr>
      <vt:lpstr>Tasneem Amein</vt:lpstr>
      <vt:lpstr>PowerPoint Presentation</vt:lpstr>
      <vt:lpstr>PowerPoint Presentation</vt:lpstr>
      <vt:lpstr>PowerPoint Presentation</vt:lpstr>
      <vt:lpstr>Overall System Architecture</vt:lpstr>
      <vt:lpstr>PowerPoint Presentation</vt:lpstr>
      <vt:lpstr>PowerPoint Presentation</vt:lpstr>
      <vt:lpstr>PowerPoint Presentation</vt:lpstr>
      <vt:lpstr>PowerPoint Presentation</vt:lpstr>
      <vt:lpstr>KPI Degradation Analyzer — Interface</vt:lpstr>
      <vt:lpstr>KPI Degradation — Sample Results</vt:lpstr>
      <vt:lpstr>PowerPoint Presentation</vt:lpstr>
      <vt:lpstr>PowerPoint Presentation</vt:lpstr>
      <vt:lpstr>PowerPoint Presentation</vt:lpstr>
      <vt:lpstr>PowerPoint Presentation</vt:lpstr>
      <vt:lpstr>Forecasting Module — Interface</vt:lpstr>
      <vt:lpstr>Model Evaluation &amp; Accuracy Metrics</vt:lpstr>
      <vt:lpstr>Cell prediction accuracy</vt:lpstr>
      <vt:lpstr>7-Day KPI Forecast — Output</vt:lpstr>
      <vt:lpstr>XGBoost Feature Importance</vt:lpstr>
      <vt:lpstr>Khaled Mogahed</vt:lpstr>
      <vt:lpstr>The Problem</vt:lpstr>
      <vt:lpstr>Motivation</vt:lpstr>
      <vt:lpstr>High-level Module Architecture</vt:lpstr>
      <vt:lpstr>Module Responsibilities</vt:lpstr>
      <vt:lpstr>Data Sources</vt:lpstr>
      <vt:lpstr>Action Hunks</vt:lpstr>
      <vt:lpstr>PowerPoint Presentation</vt:lpstr>
      <vt:lpstr>PowerPoint Presentation</vt:lpstr>
      <vt:lpstr>PowerPoint Presentation</vt:lpstr>
      <vt:lpstr>PowerPoint Presentation</vt:lpstr>
      <vt:lpstr>The Five-Step Analyst Workflow</vt:lpstr>
      <vt:lpstr>Workflow Details</vt:lpstr>
      <vt:lpstr>PowerPoint Presentation</vt:lpstr>
      <vt:lpstr>PowerPoint Presentation</vt:lpstr>
      <vt:lpstr>RAG Assistant — Overview &amp; Motivation</vt:lpstr>
      <vt:lpstr>PowerPoint Presentation</vt:lpstr>
      <vt:lpstr>Pipeline — Key Engineering Decisions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KPI Degradation — Experimental Results</vt:lpstr>
      <vt:lpstr>Forecasting — Experimental Results</vt:lpstr>
      <vt:lpstr>Action Analyzer — Experimental Results</vt:lpstr>
      <vt:lpstr>RAG Assistant — Experimental Results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RANPilotAI</dc:title>
  <dc:creator>Tasneem · Ibrahim · Khaled · Mahmoud · Mohab</dc:creator>
  <cp:lastModifiedBy>ibrahim samy</cp:lastModifiedBy>
  <cp:revision>49</cp:revision>
  <dcterms:created xsi:type="dcterms:W3CDTF">2026-08-06T23:05:55Z</dcterms:created>
  <dcterms:modified xsi:type="dcterms:W3CDTF">2026-08-10T15:18:31Z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2026-08-07T00:00:00Z</vt:filetime>
  </property>
  <property fmtid="{D5CDD505-2E9C-101B-9397-08002B2CF9AE}" pid="3" name="Creator">
    <vt:lpwstr>LaTeX with Beamer class</vt:lpwstr>
  </property>
  <property fmtid="{D5CDD505-2E9C-101B-9397-08002B2CF9AE}" pid="4" name="LastSaved">
    <vt:filetime>2026-08-06T00:00:00Z</vt:filetime>
  </property>
  <property fmtid="{D5CDD505-2E9C-101B-9397-08002B2CF9AE}" pid="5" name="PTEX.Fullbanner">
    <vt:lpwstr>This is MiKTeX-pdfTeX 4.23.0 (1.40.28)</vt:lpwstr>
  </property>
  <property fmtid="{D5CDD505-2E9C-101B-9397-08002B2CF9AE}" pid="6" name="Producer">
    <vt:lpwstr>MiKTeX pdfTeX-1.40.28</vt:lpwstr>
  </property>
</Properties>
</file>