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06" autoAdjust="0"/>
  </p:normalViewPr>
  <p:slideViewPr>
    <p:cSldViewPr>
      <p:cViewPr varScale="1">
        <p:scale>
          <a:sx n="140" d="100"/>
          <a:sy n="140" d="100"/>
        </p:scale>
        <p:origin x="63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570B03-06D1-496E-940D-E834C1A39D15}" type="doc">
      <dgm:prSet loTypeId="urn:diagrams.loki3.com/BracketList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E0D542D-D583-46F8-AF81-5963C844620D}">
      <dgm:prSet phldrT="[Text]" custT="1"/>
      <dgm:spPr/>
      <dgm:t>
        <a:bodyPr/>
        <a:lstStyle/>
        <a:p>
          <a:pPr algn="l"/>
          <a:endParaRPr lang="en-US" sz="700" dirty="0"/>
        </a:p>
      </dgm:t>
    </dgm:pt>
    <dgm:pt modelId="{C8EF2553-001E-4794-9586-0CDE54007ADD}" type="parTrans" cxnId="{51656E9E-C438-4269-8BAA-86F019163B07}">
      <dgm:prSet/>
      <dgm:spPr/>
      <dgm:t>
        <a:bodyPr/>
        <a:lstStyle/>
        <a:p>
          <a:endParaRPr lang="en-US"/>
        </a:p>
      </dgm:t>
    </dgm:pt>
    <dgm:pt modelId="{FB29F8EB-EE92-45C5-8BCF-B06C4D9BC7DC}" type="sibTrans" cxnId="{51656E9E-C438-4269-8BAA-86F019163B07}">
      <dgm:prSet/>
      <dgm:spPr/>
      <dgm:t>
        <a:bodyPr/>
        <a:lstStyle/>
        <a:p>
          <a:endParaRPr lang="en-US"/>
        </a:p>
      </dgm:t>
    </dgm:pt>
    <dgm:pt modelId="{D12CF5CC-B0AB-4657-8BC8-05A2DA36F5F4}">
      <dgm:prSet phldrT="[Text]"/>
      <dgm:spPr/>
      <dgm:t>
        <a:bodyPr/>
        <a:lstStyle/>
        <a:p>
          <a:pPr algn="l"/>
          <a:r>
            <a:rPr lang="en-US" b="0" i="0" dirty="0" smtClean="0"/>
            <a:t>Table Extraction</a:t>
          </a:r>
          <a:endParaRPr lang="en-US" dirty="0"/>
        </a:p>
      </dgm:t>
    </dgm:pt>
    <dgm:pt modelId="{6A3B3684-783F-4816-9363-23FED4B817AB}" type="parTrans" cxnId="{4BE1A33F-8709-45AC-9866-A77B712F0F4B}">
      <dgm:prSet/>
      <dgm:spPr/>
      <dgm:t>
        <a:bodyPr/>
        <a:lstStyle/>
        <a:p>
          <a:endParaRPr lang="en-US"/>
        </a:p>
      </dgm:t>
    </dgm:pt>
    <dgm:pt modelId="{443C1D04-5678-4F60-8A9D-9083BCA3E12E}" type="sibTrans" cxnId="{4BE1A33F-8709-45AC-9866-A77B712F0F4B}">
      <dgm:prSet/>
      <dgm:spPr/>
      <dgm:t>
        <a:bodyPr/>
        <a:lstStyle/>
        <a:p>
          <a:endParaRPr lang="en-US"/>
        </a:p>
      </dgm:t>
    </dgm:pt>
    <dgm:pt modelId="{02D6A755-2659-4714-A019-A60BD2DBF44D}">
      <dgm:prSet phldrT="[Text]" custT="1"/>
      <dgm:spPr/>
      <dgm:t>
        <a:bodyPr/>
        <a:lstStyle/>
        <a:p>
          <a:pPr algn="l"/>
          <a:endParaRPr lang="en-US" sz="1050" b="0" i="0" dirty="0">
            <a:latin typeface="Arial Black" panose="020B0A04020102020204" pitchFamily="34" charset="0"/>
          </a:endParaRPr>
        </a:p>
      </dgm:t>
    </dgm:pt>
    <dgm:pt modelId="{A11D1553-18D4-4D46-8E28-8FA6B27EC28B}" type="parTrans" cxnId="{E9038612-49E6-4585-9419-CEFEF22E5596}">
      <dgm:prSet/>
      <dgm:spPr/>
      <dgm:t>
        <a:bodyPr/>
        <a:lstStyle/>
        <a:p>
          <a:endParaRPr lang="en-US"/>
        </a:p>
      </dgm:t>
    </dgm:pt>
    <dgm:pt modelId="{8D2AE69D-74F5-4BBB-BCDD-A101C39C3368}" type="sibTrans" cxnId="{E9038612-49E6-4585-9419-CEFEF22E5596}">
      <dgm:prSet/>
      <dgm:spPr/>
      <dgm:t>
        <a:bodyPr/>
        <a:lstStyle/>
        <a:p>
          <a:endParaRPr lang="en-US"/>
        </a:p>
      </dgm:t>
    </dgm:pt>
    <dgm:pt modelId="{9357E48B-E7E0-4CA0-9ABC-FF0F47D16FFF}">
      <dgm:prSet phldrT="[Text]"/>
      <dgm:spPr/>
      <dgm:t>
        <a:bodyPr/>
        <a:lstStyle/>
        <a:p>
          <a:pPr algn="l"/>
          <a:r>
            <a:rPr lang="en-US" b="0" i="0" dirty="0" smtClean="0"/>
            <a:t>Section-Aware Splitting</a:t>
          </a:r>
          <a:endParaRPr lang="en-US" dirty="0"/>
        </a:p>
      </dgm:t>
    </dgm:pt>
    <dgm:pt modelId="{7581C13E-E6C9-4383-A784-20E62B70B3DC}" type="parTrans" cxnId="{86FD203E-7063-4D5F-A35C-3598D65669ED}">
      <dgm:prSet/>
      <dgm:spPr/>
      <dgm:t>
        <a:bodyPr/>
        <a:lstStyle/>
        <a:p>
          <a:endParaRPr lang="en-US"/>
        </a:p>
      </dgm:t>
    </dgm:pt>
    <dgm:pt modelId="{F31CFC71-E692-4437-B605-955BBEFE5B3C}" type="sibTrans" cxnId="{86FD203E-7063-4D5F-A35C-3598D65669ED}">
      <dgm:prSet/>
      <dgm:spPr/>
      <dgm:t>
        <a:bodyPr/>
        <a:lstStyle/>
        <a:p>
          <a:endParaRPr lang="en-US"/>
        </a:p>
      </dgm:t>
    </dgm:pt>
    <dgm:pt modelId="{D19DA2C2-DBED-4C48-A059-92B1F02E952E}">
      <dgm:prSet phldrT="[Text]"/>
      <dgm:spPr/>
      <dgm:t>
        <a:bodyPr/>
        <a:lstStyle/>
        <a:p>
          <a:pPr algn="l"/>
          <a:r>
            <a:rPr lang="en-US" b="0" i="0" dirty="0" smtClean="0"/>
            <a:t>Optimal Sizing</a:t>
          </a:r>
          <a:endParaRPr lang="en-US" dirty="0"/>
        </a:p>
      </dgm:t>
    </dgm:pt>
    <dgm:pt modelId="{2411435A-2DED-45FE-BAF2-EA5E2BAB2221}" type="parTrans" cxnId="{CED7CC02-254C-4CB5-AA30-2B25713B0DE9}">
      <dgm:prSet/>
      <dgm:spPr/>
      <dgm:t>
        <a:bodyPr/>
        <a:lstStyle/>
        <a:p>
          <a:endParaRPr lang="en-US"/>
        </a:p>
      </dgm:t>
    </dgm:pt>
    <dgm:pt modelId="{8B1C7915-ACF1-48A9-8CBC-03BA5CAA0EC8}" type="sibTrans" cxnId="{CED7CC02-254C-4CB5-AA30-2B25713B0DE9}">
      <dgm:prSet/>
      <dgm:spPr/>
      <dgm:t>
        <a:bodyPr/>
        <a:lstStyle/>
        <a:p>
          <a:endParaRPr lang="en-US"/>
        </a:p>
      </dgm:t>
    </dgm:pt>
    <dgm:pt modelId="{B6EA1160-7F8A-4126-8376-C44E264E6EA1}">
      <dgm:prSet phldrT="[Text]" custT="1"/>
      <dgm:spPr/>
      <dgm:t>
        <a:bodyPr/>
        <a:lstStyle/>
        <a:p>
          <a:pPr algn="l"/>
          <a:endParaRPr lang="en-US" sz="600" dirty="0"/>
        </a:p>
      </dgm:t>
    </dgm:pt>
    <dgm:pt modelId="{C4A29E89-B10D-4EE9-817D-665085164D56}" type="parTrans" cxnId="{BEBC4F50-0997-43E0-A4F6-3DCF33909B4C}">
      <dgm:prSet/>
      <dgm:spPr/>
      <dgm:t>
        <a:bodyPr/>
        <a:lstStyle/>
        <a:p>
          <a:endParaRPr lang="en-US"/>
        </a:p>
      </dgm:t>
    </dgm:pt>
    <dgm:pt modelId="{78A00466-42E4-4EC0-9E29-CCB271DF42F4}" type="sibTrans" cxnId="{BEBC4F50-0997-43E0-A4F6-3DCF33909B4C}">
      <dgm:prSet/>
      <dgm:spPr/>
      <dgm:t>
        <a:bodyPr/>
        <a:lstStyle/>
        <a:p>
          <a:endParaRPr lang="en-US"/>
        </a:p>
      </dgm:t>
    </dgm:pt>
    <dgm:pt modelId="{016B6379-197D-4014-BBB5-7272361FA5ED}">
      <dgm:prSet phldrT="[Text]"/>
      <dgm:spPr/>
      <dgm:t>
        <a:bodyPr/>
        <a:lstStyle/>
        <a:p>
          <a:pPr algn="l"/>
          <a:r>
            <a:rPr lang="en-US" b="0" i="0" dirty="0" smtClean="0"/>
            <a:t>Fully Local Execution</a:t>
          </a:r>
          <a:endParaRPr lang="en-US" dirty="0"/>
        </a:p>
      </dgm:t>
    </dgm:pt>
    <dgm:pt modelId="{8D526268-2F08-4285-9EEA-ACD0B693F879}" type="parTrans" cxnId="{35C42657-DB4D-4E59-9BB6-9C2A11020C13}">
      <dgm:prSet/>
      <dgm:spPr/>
      <dgm:t>
        <a:bodyPr/>
        <a:lstStyle/>
        <a:p>
          <a:endParaRPr lang="en-US"/>
        </a:p>
      </dgm:t>
    </dgm:pt>
    <dgm:pt modelId="{791199FC-FDB9-4DE9-A0A6-52879619A3C8}" type="sibTrans" cxnId="{35C42657-DB4D-4E59-9BB6-9C2A11020C13}">
      <dgm:prSet/>
      <dgm:spPr/>
      <dgm:t>
        <a:bodyPr/>
        <a:lstStyle/>
        <a:p>
          <a:endParaRPr lang="en-US"/>
        </a:p>
      </dgm:t>
    </dgm:pt>
    <dgm:pt modelId="{B410AD1F-A2B3-49B3-8BE2-CA1B2963672B}">
      <dgm:prSet phldrT="[Text]"/>
      <dgm:spPr/>
      <dgm:t>
        <a:bodyPr/>
        <a:lstStyle/>
        <a:p>
          <a:pPr algn="l"/>
          <a:r>
            <a:rPr lang="en-US" b="0" i="0" dirty="0" smtClean="0"/>
            <a:t>Header Stripping</a:t>
          </a:r>
          <a:endParaRPr lang="en-US" dirty="0"/>
        </a:p>
      </dgm:t>
    </dgm:pt>
    <dgm:pt modelId="{CCBF6D02-9F0B-4236-9549-FD1FC07A5984}" type="sibTrans" cxnId="{E8C2E0BE-83B9-42FF-9F2F-0017F48DCA71}">
      <dgm:prSet/>
      <dgm:spPr/>
      <dgm:t>
        <a:bodyPr/>
        <a:lstStyle/>
        <a:p>
          <a:endParaRPr lang="en-US"/>
        </a:p>
      </dgm:t>
    </dgm:pt>
    <dgm:pt modelId="{703C4DDF-2819-43E6-95F5-DEA0F213ACDA}" type="parTrans" cxnId="{E8C2E0BE-83B9-42FF-9F2F-0017F48DCA71}">
      <dgm:prSet/>
      <dgm:spPr/>
      <dgm:t>
        <a:bodyPr/>
        <a:lstStyle/>
        <a:p>
          <a:endParaRPr lang="en-US"/>
        </a:p>
      </dgm:t>
    </dgm:pt>
    <dgm:pt modelId="{E5D331DA-30E0-4D9E-AF95-9BED1C00B881}">
      <dgm:prSet phldrT="[Text]" custT="1"/>
      <dgm:spPr/>
      <dgm:t>
        <a:bodyPr/>
        <a:lstStyle/>
        <a:p>
          <a:pPr algn="l"/>
          <a:endParaRPr lang="en-US" sz="500" dirty="0"/>
        </a:p>
      </dgm:t>
    </dgm:pt>
    <dgm:pt modelId="{0EEC3D0D-1968-4D98-B1E4-5BE2E7C9D046}" type="parTrans" cxnId="{E5D3C6D9-77FA-4A53-B8D1-9AFC12914D57}">
      <dgm:prSet/>
      <dgm:spPr/>
      <dgm:t>
        <a:bodyPr/>
        <a:lstStyle/>
        <a:p>
          <a:endParaRPr lang="en-US"/>
        </a:p>
      </dgm:t>
    </dgm:pt>
    <dgm:pt modelId="{0D12E0D9-447A-4318-A2D1-567184552CEB}" type="sibTrans" cxnId="{E5D3C6D9-77FA-4A53-B8D1-9AFC12914D57}">
      <dgm:prSet/>
      <dgm:spPr/>
      <dgm:t>
        <a:bodyPr/>
        <a:lstStyle/>
        <a:p>
          <a:endParaRPr lang="en-US"/>
        </a:p>
      </dgm:t>
    </dgm:pt>
    <dgm:pt modelId="{F73F6B60-F387-4B00-AF21-983EFA908F3B}">
      <dgm:prSet phldrT="[Text]"/>
      <dgm:spPr/>
      <dgm:t>
        <a:bodyPr/>
        <a:lstStyle/>
        <a:p>
          <a:pPr algn="l"/>
          <a:r>
            <a:rPr lang="en-US" b="0" i="0" dirty="0" smtClean="0"/>
            <a:t>Zero Docker Setup</a:t>
          </a:r>
          <a:endParaRPr lang="en-US" dirty="0"/>
        </a:p>
      </dgm:t>
    </dgm:pt>
    <dgm:pt modelId="{66BC6DEB-3BCA-40D4-BBDB-03469584A26B}" type="parTrans" cxnId="{F6B286A8-B838-48A2-8EA3-C6AA8D365595}">
      <dgm:prSet/>
      <dgm:spPr/>
      <dgm:t>
        <a:bodyPr/>
        <a:lstStyle/>
        <a:p>
          <a:endParaRPr lang="en-US"/>
        </a:p>
      </dgm:t>
    </dgm:pt>
    <dgm:pt modelId="{F9A40652-90E5-4569-99B1-02A0DB0C497F}" type="sibTrans" cxnId="{F6B286A8-B838-48A2-8EA3-C6AA8D365595}">
      <dgm:prSet/>
      <dgm:spPr/>
      <dgm:t>
        <a:bodyPr/>
        <a:lstStyle/>
        <a:p>
          <a:endParaRPr lang="en-US"/>
        </a:p>
      </dgm:t>
    </dgm:pt>
    <dgm:pt modelId="{CFC255E3-F313-4F68-A8BE-AA9A0E7B2920}">
      <dgm:prSet phldrT="[Text]" custT="1"/>
      <dgm:spPr/>
      <dgm:t>
        <a:bodyPr/>
        <a:lstStyle/>
        <a:p>
          <a:pPr algn="l"/>
          <a:endParaRPr lang="en-US" sz="500" dirty="0"/>
        </a:p>
      </dgm:t>
    </dgm:pt>
    <dgm:pt modelId="{80D5B58A-7533-437A-907C-7A96D4C934CD}" type="parTrans" cxnId="{38475AF4-CAB8-417F-B300-5B7AFA14E6E2}">
      <dgm:prSet/>
      <dgm:spPr/>
      <dgm:t>
        <a:bodyPr/>
        <a:lstStyle/>
        <a:p>
          <a:endParaRPr lang="en-US"/>
        </a:p>
      </dgm:t>
    </dgm:pt>
    <dgm:pt modelId="{AF699248-E40C-4F45-8095-1040C5E7766E}" type="sibTrans" cxnId="{38475AF4-CAB8-417F-B300-5B7AFA14E6E2}">
      <dgm:prSet/>
      <dgm:spPr/>
      <dgm:t>
        <a:bodyPr/>
        <a:lstStyle/>
        <a:p>
          <a:endParaRPr lang="en-US"/>
        </a:p>
      </dgm:t>
    </dgm:pt>
    <dgm:pt modelId="{DFD7F550-E826-4DB8-852E-70462049B908}">
      <dgm:prSet phldrT="[Text]"/>
      <dgm:spPr/>
      <dgm:t>
        <a:bodyPr/>
        <a:lstStyle/>
        <a:p>
          <a:pPr algn="l"/>
          <a:r>
            <a:rPr lang="en-US" b="0" i="0" dirty="0" smtClean="0"/>
            <a:t>Precision Metadata Filtering</a:t>
          </a:r>
          <a:endParaRPr lang="en-US" dirty="0"/>
        </a:p>
      </dgm:t>
    </dgm:pt>
    <dgm:pt modelId="{F769BD8D-0698-445D-897D-E2A2FA3FF3AC}" type="parTrans" cxnId="{175A0D4F-E174-43F2-8F85-B67FCA281E1A}">
      <dgm:prSet/>
      <dgm:spPr/>
      <dgm:t>
        <a:bodyPr/>
        <a:lstStyle/>
        <a:p>
          <a:endParaRPr lang="en-US"/>
        </a:p>
      </dgm:t>
    </dgm:pt>
    <dgm:pt modelId="{DD95DAB0-10DD-49AD-A13D-0FF303E43A7B}" type="sibTrans" cxnId="{175A0D4F-E174-43F2-8F85-B67FCA281E1A}">
      <dgm:prSet/>
      <dgm:spPr/>
      <dgm:t>
        <a:bodyPr/>
        <a:lstStyle/>
        <a:p>
          <a:endParaRPr lang="en-US"/>
        </a:p>
      </dgm:t>
    </dgm:pt>
    <dgm:pt modelId="{EF4D839F-1954-4FEA-BC1D-6A6FE5E5C4E4}">
      <dgm:prSet phldrT="[Text]"/>
      <dgm:spPr/>
      <dgm:t>
        <a:bodyPr/>
        <a:lstStyle/>
        <a:p>
          <a:pPr algn="l"/>
          <a:r>
            <a:rPr lang="en-US" b="0" i="0" dirty="0" smtClean="0"/>
            <a:t>Over-fetching</a:t>
          </a:r>
          <a:endParaRPr lang="en-US" dirty="0"/>
        </a:p>
      </dgm:t>
    </dgm:pt>
    <dgm:pt modelId="{ABA9D00D-FA58-4C5C-A960-9BF9EC11A01B}" type="parTrans" cxnId="{A96622E3-BC84-4F67-BC21-F7E183C9238B}">
      <dgm:prSet/>
      <dgm:spPr/>
      <dgm:t>
        <a:bodyPr/>
        <a:lstStyle/>
        <a:p>
          <a:endParaRPr lang="en-US"/>
        </a:p>
      </dgm:t>
    </dgm:pt>
    <dgm:pt modelId="{BFF19C4C-6C38-488B-B9A1-292A32DD8C60}" type="sibTrans" cxnId="{A96622E3-BC84-4F67-BC21-F7E183C9238B}">
      <dgm:prSet/>
      <dgm:spPr/>
      <dgm:t>
        <a:bodyPr/>
        <a:lstStyle/>
        <a:p>
          <a:endParaRPr lang="en-US"/>
        </a:p>
      </dgm:t>
    </dgm:pt>
    <dgm:pt modelId="{67AAB135-0D51-4F78-B9C5-116756FDD4FD}">
      <dgm:prSet phldrT="[Text]" custT="1"/>
      <dgm:spPr/>
      <dgm:t>
        <a:bodyPr/>
        <a:lstStyle/>
        <a:p>
          <a:pPr algn="l"/>
          <a:endParaRPr lang="en-US" sz="500" dirty="0"/>
        </a:p>
      </dgm:t>
    </dgm:pt>
    <dgm:pt modelId="{0764D504-CB07-4071-9A74-C38D1F4EC718}" type="parTrans" cxnId="{56A8B0BB-481F-4E64-8165-87BB69F9A22B}">
      <dgm:prSet/>
      <dgm:spPr/>
      <dgm:t>
        <a:bodyPr/>
        <a:lstStyle/>
        <a:p>
          <a:endParaRPr lang="en-US"/>
        </a:p>
      </dgm:t>
    </dgm:pt>
    <dgm:pt modelId="{AE1B9AE7-854E-4E8A-9B49-3CA8614B49B7}" type="sibTrans" cxnId="{56A8B0BB-481F-4E64-8165-87BB69F9A22B}">
      <dgm:prSet/>
      <dgm:spPr/>
      <dgm:t>
        <a:bodyPr/>
        <a:lstStyle/>
        <a:p>
          <a:endParaRPr lang="en-US"/>
        </a:p>
      </dgm:t>
    </dgm:pt>
    <dgm:pt modelId="{B8004FBE-713E-4F15-8885-85B9EA6E9A18}">
      <dgm:prSet phldrT="[Text]"/>
      <dgm:spPr/>
      <dgm:t>
        <a:bodyPr/>
        <a:lstStyle/>
        <a:p>
          <a:pPr algn="l"/>
          <a:r>
            <a:rPr lang="en-US" b="0" i="0" dirty="0" smtClean="0"/>
            <a:t>Anti-Hallucination Guardrails</a:t>
          </a:r>
          <a:endParaRPr lang="en-US" dirty="0"/>
        </a:p>
      </dgm:t>
    </dgm:pt>
    <dgm:pt modelId="{8A89D8F8-211F-464D-AF74-1F8DE05387B4}" type="parTrans" cxnId="{F6E88605-19FE-4705-B7C4-F462D8AB4643}">
      <dgm:prSet/>
      <dgm:spPr/>
      <dgm:t>
        <a:bodyPr/>
        <a:lstStyle/>
        <a:p>
          <a:endParaRPr lang="en-US"/>
        </a:p>
      </dgm:t>
    </dgm:pt>
    <dgm:pt modelId="{CA806B09-F251-46F6-807A-781E4FCD5974}" type="sibTrans" cxnId="{F6E88605-19FE-4705-B7C4-F462D8AB4643}">
      <dgm:prSet/>
      <dgm:spPr/>
      <dgm:t>
        <a:bodyPr/>
        <a:lstStyle/>
        <a:p>
          <a:endParaRPr lang="en-US"/>
        </a:p>
      </dgm:t>
    </dgm:pt>
    <dgm:pt modelId="{20D280F0-91E7-42CA-9A03-571050C0CB16}">
      <dgm:prSet phldrT="[Text]"/>
      <dgm:spPr/>
      <dgm:t>
        <a:bodyPr/>
        <a:lstStyle/>
        <a:p>
          <a:pPr algn="l"/>
          <a:r>
            <a:rPr lang="en-US" b="0" i="0" dirty="0" smtClean="0"/>
            <a:t>Strict Citations</a:t>
          </a:r>
          <a:endParaRPr lang="en-US" dirty="0"/>
        </a:p>
      </dgm:t>
    </dgm:pt>
    <dgm:pt modelId="{731ED404-621E-4ED2-85AD-DF4BDFC2D3BD}" type="parTrans" cxnId="{CBDABCD5-9B7D-42F1-9295-22DC73E2FDB0}">
      <dgm:prSet/>
      <dgm:spPr/>
      <dgm:t>
        <a:bodyPr/>
        <a:lstStyle/>
        <a:p>
          <a:endParaRPr lang="en-US"/>
        </a:p>
      </dgm:t>
    </dgm:pt>
    <dgm:pt modelId="{C2E8C2C7-E4B0-46E1-AD5C-037C095ABDF0}" type="sibTrans" cxnId="{CBDABCD5-9B7D-42F1-9295-22DC73E2FDB0}">
      <dgm:prSet/>
      <dgm:spPr/>
      <dgm:t>
        <a:bodyPr/>
        <a:lstStyle/>
        <a:p>
          <a:endParaRPr lang="en-US"/>
        </a:p>
      </dgm:t>
    </dgm:pt>
    <dgm:pt modelId="{96D22CE3-E99B-43B7-A890-8B3328F8E2E0}">
      <dgm:prSet phldrT="[Text]"/>
      <dgm:spPr/>
      <dgm:t>
        <a:bodyPr/>
        <a:lstStyle/>
        <a:p>
          <a:pPr algn="l"/>
          <a:r>
            <a:rPr lang="en-US" b="0" i="0" dirty="0" smtClean="0"/>
            <a:t>Rich Metadata</a:t>
          </a:r>
          <a:endParaRPr lang="en-US" dirty="0"/>
        </a:p>
      </dgm:t>
    </dgm:pt>
    <dgm:pt modelId="{3DA8366F-C933-44CA-ADDF-18F73189EA6A}" type="parTrans" cxnId="{3456690B-B173-48B8-86F7-97252F1597D5}">
      <dgm:prSet/>
      <dgm:spPr/>
      <dgm:t>
        <a:bodyPr/>
        <a:lstStyle/>
        <a:p>
          <a:endParaRPr lang="en-US"/>
        </a:p>
      </dgm:t>
    </dgm:pt>
    <dgm:pt modelId="{A42478D0-807D-4203-8347-8182C244F189}" type="sibTrans" cxnId="{3456690B-B173-48B8-86F7-97252F1597D5}">
      <dgm:prSet/>
      <dgm:spPr/>
      <dgm:t>
        <a:bodyPr/>
        <a:lstStyle/>
        <a:p>
          <a:endParaRPr lang="en-US"/>
        </a:p>
      </dgm:t>
    </dgm:pt>
    <dgm:pt modelId="{39F54975-3C18-4047-B841-1E5ED79DA055}">
      <dgm:prSet phldrT="[Text]" custT="1"/>
      <dgm:spPr/>
      <dgm:t>
        <a:bodyPr/>
        <a:lstStyle/>
        <a:p>
          <a:pPr algn="l"/>
          <a:endParaRPr lang="en-US" sz="1100" dirty="0">
            <a:latin typeface="Arial Black" panose="020B0A04020102020204" pitchFamily="34" charset="0"/>
          </a:endParaRPr>
        </a:p>
      </dgm:t>
    </dgm:pt>
    <dgm:pt modelId="{CEC1D58E-1AB3-4E72-A00C-84BAD892CD40}" type="parTrans" cxnId="{C2E89A0B-866F-45C1-9E43-09B489A3A4E8}">
      <dgm:prSet/>
      <dgm:spPr/>
      <dgm:t>
        <a:bodyPr/>
        <a:lstStyle/>
        <a:p>
          <a:endParaRPr lang="en-US"/>
        </a:p>
      </dgm:t>
    </dgm:pt>
    <dgm:pt modelId="{5DDE273F-5EAF-4DCF-9576-3CC5E69C990E}" type="sibTrans" cxnId="{C2E89A0B-866F-45C1-9E43-09B489A3A4E8}">
      <dgm:prSet/>
      <dgm:spPr/>
      <dgm:t>
        <a:bodyPr/>
        <a:lstStyle/>
        <a:p>
          <a:endParaRPr lang="en-US"/>
        </a:p>
      </dgm:t>
    </dgm:pt>
    <dgm:pt modelId="{E382FAAA-4FB2-477A-98B3-A2A120BAC348}">
      <dgm:prSet phldrT="[Text]"/>
      <dgm:spPr/>
      <dgm:t>
        <a:bodyPr/>
        <a:lstStyle/>
        <a:p>
          <a:r>
            <a:rPr lang="en-US" b="0" i="0" dirty="0" smtClean="0"/>
            <a:t>Smart Filtering</a:t>
          </a:r>
          <a:endParaRPr lang="en-US" dirty="0"/>
        </a:p>
      </dgm:t>
    </dgm:pt>
    <dgm:pt modelId="{A26A0720-9BE4-44E9-89C9-7F9980634043}" type="parTrans" cxnId="{99E6DEB9-6BD5-4EFC-87D0-EC8AA52BEB00}">
      <dgm:prSet/>
      <dgm:spPr/>
      <dgm:t>
        <a:bodyPr/>
        <a:lstStyle/>
        <a:p>
          <a:endParaRPr lang="en-US"/>
        </a:p>
      </dgm:t>
    </dgm:pt>
    <dgm:pt modelId="{92B8D365-A3DA-4EE7-BA70-DC7D10A7653D}" type="sibTrans" cxnId="{99E6DEB9-6BD5-4EFC-87D0-EC8AA52BEB00}">
      <dgm:prSet/>
      <dgm:spPr/>
      <dgm:t>
        <a:bodyPr/>
        <a:lstStyle/>
        <a:p>
          <a:endParaRPr lang="en-US"/>
        </a:p>
      </dgm:t>
    </dgm:pt>
    <dgm:pt modelId="{49162F80-9F02-44A6-B8BB-9C145D32E9A6}" type="pres">
      <dgm:prSet presAssocID="{D4570B03-06D1-496E-940D-E834C1A39D15}" presName="Name0" presStyleCnt="0">
        <dgm:presLayoutVars>
          <dgm:dir/>
          <dgm:animLvl val="lvl"/>
          <dgm:resizeHandles val="exact"/>
        </dgm:presLayoutVars>
      </dgm:prSet>
      <dgm:spPr/>
    </dgm:pt>
    <dgm:pt modelId="{93D76702-C2A8-4552-960B-C2CCD4981C99}" type="pres">
      <dgm:prSet presAssocID="{DE0D542D-D583-46F8-AF81-5963C844620D}" presName="linNode" presStyleCnt="0"/>
      <dgm:spPr/>
    </dgm:pt>
    <dgm:pt modelId="{EEF1E03F-C7C5-4626-9C13-2E78DD1D4267}" type="pres">
      <dgm:prSet presAssocID="{DE0D542D-D583-46F8-AF81-5963C844620D}" presName="parTx" presStyleLbl="revTx" presStyleIdx="0" presStyleCnt="7" custScaleX="275628" custLinFactNeighborX="-977" custLinFactNeighborY="274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6B1DE6-CF11-4DDE-B44C-06D2D40056A5}" type="pres">
      <dgm:prSet presAssocID="{DE0D542D-D583-46F8-AF81-5963C844620D}" presName="bracket" presStyleLbl="parChTrans1D1" presStyleIdx="0" presStyleCnt="7" custScaleX="318408" custScaleY="105564"/>
      <dgm:spPr/>
    </dgm:pt>
    <dgm:pt modelId="{84088476-830B-44FF-9FC8-4FF311557564}" type="pres">
      <dgm:prSet presAssocID="{DE0D542D-D583-46F8-AF81-5963C844620D}" presName="spH" presStyleCnt="0"/>
      <dgm:spPr/>
    </dgm:pt>
    <dgm:pt modelId="{16433D64-952C-4A31-983D-1017B3C32C47}" type="pres">
      <dgm:prSet presAssocID="{DE0D542D-D583-46F8-AF81-5963C844620D}" presName="desTx" presStyleLbl="node1" presStyleIdx="0" presStyleCnt="7" custScaleX="272913" custScaleY="1055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64A2A7-0C6F-4181-A777-C89732C0E5C5}" type="pres">
      <dgm:prSet presAssocID="{FB29F8EB-EE92-45C5-8BCF-B06C4D9BC7DC}" presName="spV" presStyleCnt="0"/>
      <dgm:spPr/>
    </dgm:pt>
    <dgm:pt modelId="{19DA4E40-3C89-4875-AC17-D25DBD2ACEB7}" type="pres">
      <dgm:prSet presAssocID="{02D6A755-2659-4714-A019-A60BD2DBF44D}" presName="linNode" presStyleCnt="0"/>
      <dgm:spPr/>
    </dgm:pt>
    <dgm:pt modelId="{AC2B96A3-ADBA-40C0-B958-7DDD08E7D4E8}" type="pres">
      <dgm:prSet presAssocID="{02D6A755-2659-4714-A019-A60BD2DBF44D}" presName="parTx" presStyleLbl="revTx" presStyleIdx="1" presStyleCnt="7" custScaleX="279345" custScaleY="10136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8F5C82-A1B5-4598-AC6F-A9C0DABD7BDF}" type="pres">
      <dgm:prSet presAssocID="{02D6A755-2659-4714-A019-A60BD2DBF44D}" presName="bracket" presStyleLbl="parChTrans1D1" presStyleIdx="1" presStyleCnt="7" custScaleX="340255"/>
      <dgm:spPr/>
    </dgm:pt>
    <dgm:pt modelId="{8B63F9A0-3944-4E74-93DB-D303A8D9255B}" type="pres">
      <dgm:prSet presAssocID="{02D6A755-2659-4714-A019-A60BD2DBF44D}" presName="spH" presStyleCnt="0"/>
      <dgm:spPr/>
    </dgm:pt>
    <dgm:pt modelId="{2E54DBD1-1915-453C-B205-7D57F6596F56}" type="pres">
      <dgm:prSet presAssocID="{02D6A755-2659-4714-A019-A60BD2DBF44D}" presName="desTx" presStyleLbl="node1" presStyleIdx="1" presStyleCnt="7" custScaleX="277292">
        <dgm:presLayoutVars>
          <dgm:bulletEnabled val="1"/>
        </dgm:presLayoutVars>
      </dgm:prSet>
      <dgm:spPr/>
    </dgm:pt>
    <dgm:pt modelId="{B220DA74-EC66-489D-8246-311B923B97F4}" type="pres">
      <dgm:prSet presAssocID="{8D2AE69D-74F5-4BBB-BCDD-A101C39C3368}" presName="spV" presStyleCnt="0"/>
      <dgm:spPr/>
    </dgm:pt>
    <dgm:pt modelId="{07C8456B-70F4-46B2-8434-66CD9C4C8206}" type="pres">
      <dgm:prSet presAssocID="{B6EA1160-7F8A-4126-8376-C44E264E6EA1}" presName="linNode" presStyleCnt="0"/>
      <dgm:spPr/>
    </dgm:pt>
    <dgm:pt modelId="{4D2CC661-966E-4BA4-843D-A1C1153050D7}" type="pres">
      <dgm:prSet presAssocID="{B6EA1160-7F8A-4126-8376-C44E264E6EA1}" presName="parTx" presStyleLbl="revTx" presStyleIdx="2" presStyleCnt="7" custScaleY="35369" custLinFactNeighborX="-977" custLinFactNeighborY="1309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E10437-37D9-40A1-94FC-7CF5534408C5}" type="pres">
      <dgm:prSet presAssocID="{B6EA1160-7F8A-4126-8376-C44E264E6EA1}" presName="bracket" presStyleLbl="parChTrans1D1" presStyleIdx="2" presStyleCnt="7"/>
      <dgm:spPr/>
    </dgm:pt>
    <dgm:pt modelId="{C06C2236-897C-4D2B-8456-36AAFC45E58A}" type="pres">
      <dgm:prSet presAssocID="{B6EA1160-7F8A-4126-8376-C44E264E6EA1}" presName="spH" presStyleCnt="0"/>
      <dgm:spPr/>
    </dgm:pt>
    <dgm:pt modelId="{A85E5853-DBE3-4294-93EB-D0C052772C14}" type="pres">
      <dgm:prSet presAssocID="{B6EA1160-7F8A-4126-8376-C44E264E6EA1}" presName="desTx" presStyleLbl="node1" presStyleIdx="2" presStyleCnt="7" custLinFactNeighborX="17727" custLinFactNeighborY="-2439">
        <dgm:presLayoutVars>
          <dgm:bulletEnabled val="1"/>
        </dgm:presLayoutVars>
      </dgm:prSet>
      <dgm:spPr/>
    </dgm:pt>
    <dgm:pt modelId="{61C6EDBC-202D-45B6-90DB-576D020436A6}" type="pres">
      <dgm:prSet presAssocID="{78A00466-42E4-4EC0-9E29-CCB271DF42F4}" presName="spV" presStyleCnt="0"/>
      <dgm:spPr/>
    </dgm:pt>
    <dgm:pt modelId="{AB1628CB-FBAF-4FEC-83F2-49EEE2D83036}" type="pres">
      <dgm:prSet presAssocID="{E5D331DA-30E0-4D9E-AF95-9BED1C00B881}" presName="linNode" presStyleCnt="0"/>
      <dgm:spPr/>
    </dgm:pt>
    <dgm:pt modelId="{51EE0D49-AD04-4513-87AC-4148C700764C}" type="pres">
      <dgm:prSet presAssocID="{E5D331DA-30E0-4D9E-AF95-9BED1C00B881}" presName="parTx" presStyleLbl="revTx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EC08E7-8EA9-4F19-8102-67D71DDC638F}" type="pres">
      <dgm:prSet presAssocID="{E5D331DA-30E0-4D9E-AF95-9BED1C00B881}" presName="bracket" presStyleLbl="parChTrans1D1" presStyleIdx="3" presStyleCnt="7"/>
      <dgm:spPr/>
    </dgm:pt>
    <dgm:pt modelId="{7D46405E-DD88-4E9A-80A9-23C375168980}" type="pres">
      <dgm:prSet presAssocID="{E5D331DA-30E0-4D9E-AF95-9BED1C00B881}" presName="spH" presStyleCnt="0"/>
      <dgm:spPr/>
    </dgm:pt>
    <dgm:pt modelId="{824F19CC-5252-49CF-BB92-9DDE5C78A83D}" type="pres">
      <dgm:prSet presAssocID="{E5D331DA-30E0-4D9E-AF95-9BED1C00B881}" presName="desTx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CBEDD1-6E59-4A21-B65E-A24E06847EC8}" type="pres">
      <dgm:prSet presAssocID="{0D12E0D9-447A-4318-A2D1-567184552CEB}" presName="spV" presStyleCnt="0"/>
      <dgm:spPr/>
    </dgm:pt>
    <dgm:pt modelId="{53B1EBAB-B262-4365-81D5-47D562D38253}" type="pres">
      <dgm:prSet presAssocID="{CFC255E3-F313-4F68-A8BE-AA9A0E7B2920}" presName="linNode" presStyleCnt="0"/>
      <dgm:spPr/>
    </dgm:pt>
    <dgm:pt modelId="{1988FC77-CF36-4CB7-8B74-1CB63D2CB4BE}" type="pres">
      <dgm:prSet presAssocID="{CFC255E3-F313-4F68-A8BE-AA9A0E7B2920}" presName="parTx" presStyleLbl="revTx" presStyleIdx="4" presStyleCnt="7" custLinFactNeighborX="1725" custLinFactNeighborY="754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317D99-FAA7-486C-AD04-E80658653891}" type="pres">
      <dgm:prSet presAssocID="{CFC255E3-F313-4F68-A8BE-AA9A0E7B2920}" presName="bracket" presStyleLbl="parChTrans1D1" presStyleIdx="4" presStyleCnt="7"/>
      <dgm:spPr/>
    </dgm:pt>
    <dgm:pt modelId="{4E0EA082-60FC-4371-9072-8611BCDAC3AC}" type="pres">
      <dgm:prSet presAssocID="{CFC255E3-F313-4F68-A8BE-AA9A0E7B2920}" presName="spH" presStyleCnt="0"/>
      <dgm:spPr/>
    </dgm:pt>
    <dgm:pt modelId="{A5768B98-F77A-4129-ACD5-EDDCB6DCE048}" type="pres">
      <dgm:prSet presAssocID="{CFC255E3-F313-4F68-A8BE-AA9A0E7B2920}" presName="desTx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B34B8F-A441-4D1F-AC27-A153B51A9AFE}" type="pres">
      <dgm:prSet presAssocID="{AF699248-E40C-4F45-8095-1040C5E7766E}" presName="spV" presStyleCnt="0"/>
      <dgm:spPr/>
    </dgm:pt>
    <dgm:pt modelId="{B63F1452-A433-4A82-86A6-A31C99BB4ABB}" type="pres">
      <dgm:prSet presAssocID="{39F54975-3C18-4047-B841-1E5ED79DA055}" presName="linNode" presStyleCnt="0"/>
      <dgm:spPr/>
    </dgm:pt>
    <dgm:pt modelId="{D1E7592D-5481-4E23-BBA9-37FC11FDB1FC}" type="pres">
      <dgm:prSet presAssocID="{39F54975-3C18-4047-B841-1E5ED79DA055}" presName="parTx" presStyleLbl="revTx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63CE50-C0A3-481C-A7EE-61A136CA5614}" type="pres">
      <dgm:prSet presAssocID="{39F54975-3C18-4047-B841-1E5ED79DA055}" presName="bracket" presStyleLbl="parChTrans1D1" presStyleIdx="5" presStyleCnt="7"/>
      <dgm:spPr/>
    </dgm:pt>
    <dgm:pt modelId="{FC4F3020-1D98-4C4D-A2E9-8733211A8AA4}" type="pres">
      <dgm:prSet presAssocID="{39F54975-3C18-4047-B841-1E5ED79DA055}" presName="spH" presStyleCnt="0"/>
      <dgm:spPr/>
    </dgm:pt>
    <dgm:pt modelId="{68C4F1F0-2F56-483B-8104-BEA79A7538A1}" type="pres">
      <dgm:prSet presAssocID="{39F54975-3C18-4047-B841-1E5ED79DA055}" presName="desTx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073545-5D48-4C69-8C57-292BC6B3C4B1}" type="pres">
      <dgm:prSet presAssocID="{5DDE273F-5EAF-4DCF-9576-3CC5E69C990E}" presName="spV" presStyleCnt="0"/>
      <dgm:spPr/>
    </dgm:pt>
    <dgm:pt modelId="{B2891C81-7B23-4425-8547-60BFE480CB4F}" type="pres">
      <dgm:prSet presAssocID="{67AAB135-0D51-4F78-B9C5-116756FDD4FD}" presName="linNode" presStyleCnt="0"/>
      <dgm:spPr/>
    </dgm:pt>
    <dgm:pt modelId="{E4B80767-5737-4482-A6AF-D1C6CDF122DC}" type="pres">
      <dgm:prSet presAssocID="{67AAB135-0D51-4F78-B9C5-116756FDD4FD}" presName="parTx" presStyleLbl="revTx" presStyleIdx="6" presStyleCnt="7" custLinFactNeighborX="-977" custLinFactNeighborY="1175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5A6C44-A417-4C00-9432-D1FAC161DC5F}" type="pres">
      <dgm:prSet presAssocID="{67AAB135-0D51-4F78-B9C5-116756FDD4FD}" presName="bracket" presStyleLbl="parChTrans1D1" presStyleIdx="6" presStyleCnt="7"/>
      <dgm:spPr/>
    </dgm:pt>
    <dgm:pt modelId="{B7B9C01C-FDAE-4A74-ABD3-EC7CD2A4D2D5}" type="pres">
      <dgm:prSet presAssocID="{67AAB135-0D51-4F78-B9C5-116756FDD4FD}" presName="spH" presStyleCnt="0"/>
      <dgm:spPr/>
    </dgm:pt>
    <dgm:pt modelId="{051F707C-CB75-4D21-8C13-082BD2FF2D14}" type="pres">
      <dgm:prSet presAssocID="{67AAB135-0D51-4F78-B9C5-116756FDD4FD}" presName="desTx" presStyleLbl="node1" presStyleIdx="6" presStyleCnt="7">
        <dgm:presLayoutVars>
          <dgm:bulletEnabled val="1"/>
        </dgm:presLayoutVars>
      </dgm:prSet>
      <dgm:spPr/>
    </dgm:pt>
  </dgm:ptLst>
  <dgm:cxnLst>
    <dgm:cxn modelId="{91C5D652-BEDF-41BC-8F3B-05BE92152759}" type="presOf" srcId="{96D22CE3-E99B-43B7-A890-8B3328F8E2E0}" destId="{824F19CC-5252-49CF-BB92-9DDE5C78A83D}" srcOrd="0" destOrd="1" presId="urn:diagrams.loki3.com/BracketList"/>
    <dgm:cxn modelId="{E4C5A6E7-BD51-49BE-B462-C60D6912FD6F}" type="presOf" srcId="{B6EA1160-7F8A-4126-8376-C44E264E6EA1}" destId="{4D2CC661-966E-4BA4-843D-A1C1153050D7}" srcOrd="0" destOrd="0" presId="urn:diagrams.loki3.com/BracketList"/>
    <dgm:cxn modelId="{F0A4654E-4223-438B-A830-452AC96E48E2}" type="presOf" srcId="{20D280F0-91E7-42CA-9A03-571050C0CB16}" destId="{051F707C-CB75-4D21-8C13-082BD2FF2D14}" srcOrd="0" destOrd="1" presId="urn:diagrams.loki3.com/BracketList"/>
    <dgm:cxn modelId="{9CA15018-9C07-46DF-90DA-8AF065446E5E}" type="presOf" srcId="{39F54975-3C18-4047-B841-1E5ED79DA055}" destId="{D1E7592D-5481-4E23-BBA9-37FC11FDB1FC}" srcOrd="0" destOrd="0" presId="urn:diagrams.loki3.com/BracketList"/>
    <dgm:cxn modelId="{F6E88605-19FE-4705-B7C4-F462D8AB4643}" srcId="{67AAB135-0D51-4F78-B9C5-116756FDD4FD}" destId="{B8004FBE-713E-4F15-8885-85B9EA6E9A18}" srcOrd="0" destOrd="0" parTransId="{8A89D8F8-211F-464D-AF74-1F8DE05387B4}" sibTransId="{CA806B09-F251-46F6-807A-781E4FCD5974}"/>
    <dgm:cxn modelId="{38475AF4-CAB8-417F-B300-5B7AFA14E6E2}" srcId="{D4570B03-06D1-496E-940D-E834C1A39D15}" destId="{CFC255E3-F313-4F68-A8BE-AA9A0E7B2920}" srcOrd="4" destOrd="0" parTransId="{80D5B58A-7533-437A-907C-7A96D4C934CD}" sibTransId="{AF699248-E40C-4F45-8095-1040C5E7766E}"/>
    <dgm:cxn modelId="{E5D3C6D9-77FA-4A53-B8D1-9AFC12914D57}" srcId="{D4570B03-06D1-496E-940D-E834C1A39D15}" destId="{E5D331DA-30E0-4D9E-AF95-9BED1C00B881}" srcOrd="3" destOrd="0" parTransId="{0EEC3D0D-1968-4D98-B1E4-5BE2E7C9D046}" sibTransId="{0D12E0D9-447A-4318-A2D1-567184552CEB}"/>
    <dgm:cxn modelId="{56A8B0BB-481F-4E64-8165-87BB69F9A22B}" srcId="{D4570B03-06D1-496E-940D-E834C1A39D15}" destId="{67AAB135-0D51-4F78-B9C5-116756FDD4FD}" srcOrd="6" destOrd="0" parTransId="{0764D504-CB07-4071-9A74-C38D1F4EC718}" sibTransId="{AE1B9AE7-854E-4E8A-9B49-3CA8614B49B7}"/>
    <dgm:cxn modelId="{79185F44-6415-43D5-957F-294E77A373C5}" type="presOf" srcId="{F73F6B60-F387-4B00-AF21-983EFA908F3B}" destId="{824F19CC-5252-49CF-BB92-9DDE5C78A83D}" srcOrd="0" destOrd="0" presId="urn:diagrams.loki3.com/BracketList"/>
    <dgm:cxn modelId="{E9038612-49E6-4585-9419-CEFEF22E5596}" srcId="{D4570B03-06D1-496E-940D-E834C1A39D15}" destId="{02D6A755-2659-4714-A019-A60BD2DBF44D}" srcOrd="1" destOrd="0" parTransId="{A11D1553-18D4-4D46-8E28-8FA6B27EC28B}" sibTransId="{8D2AE69D-74F5-4BBB-BCDD-A101C39C3368}"/>
    <dgm:cxn modelId="{48925DAF-9D7D-48B1-915F-91E9E63EDFE3}" type="presOf" srcId="{016B6379-197D-4014-BBB5-7272361FA5ED}" destId="{A85E5853-DBE3-4294-93EB-D0C052772C14}" srcOrd="0" destOrd="0" presId="urn:diagrams.loki3.com/BracketList"/>
    <dgm:cxn modelId="{8FE8D121-64DD-4D0A-B1E3-B860DA31B65D}" type="presOf" srcId="{67AAB135-0D51-4F78-B9C5-116756FDD4FD}" destId="{E4B80767-5737-4482-A6AF-D1C6CDF122DC}" srcOrd="0" destOrd="0" presId="urn:diagrams.loki3.com/BracketList"/>
    <dgm:cxn modelId="{CBDABCD5-9B7D-42F1-9295-22DC73E2FDB0}" srcId="{67AAB135-0D51-4F78-B9C5-116756FDD4FD}" destId="{20D280F0-91E7-42CA-9A03-571050C0CB16}" srcOrd="1" destOrd="0" parTransId="{731ED404-621E-4ED2-85AD-DF4BDFC2D3BD}" sibTransId="{C2E8C2C7-E4B0-46E1-AD5C-037C095ABDF0}"/>
    <dgm:cxn modelId="{C2E89A0B-866F-45C1-9E43-09B489A3A4E8}" srcId="{D4570B03-06D1-496E-940D-E834C1A39D15}" destId="{39F54975-3C18-4047-B841-1E5ED79DA055}" srcOrd="5" destOrd="0" parTransId="{CEC1D58E-1AB3-4E72-A00C-84BAD892CD40}" sibTransId="{5DDE273F-5EAF-4DCF-9576-3CC5E69C990E}"/>
    <dgm:cxn modelId="{A96622E3-BC84-4F67-BC21-F7E183C9238B}" srcId="{CFC255E3-F313-4F68-A8BE-AA9A0E7B2920}" destId="{EF4D839F-1954-4FEA-BC1D-6A6FE5E5C4E4}" srcOrd="1" destOrd="0" parTransId="{ABA9D00D-FA58-4C5C-A960-9BF9EC11A01B}" sibTransId="{BFF19C4C-6C38-488B-B9A1-292A32DD8C60}"/>
    <dgm:cxn modelId="{175A0D4F-E174-43F2-8F85-B67FCA281E1A}" srcId="{CFC255E3-F313-4F68-A8BE-AA9A0E7B2920}" destId="{DFD7F550-E826-4DB8-852E-70462049B908}" srcOrd="0" destOrd="0" parTransId="{F769BD8D-0698-445D-897D-E2A2FA3FF3AC}" sibTransId="{DD95DAB0-10DD-49AD-A13D-0FF303E43A7B}"/>
    <dgm:cxn modelId="{CED7CC02-254C-4CB5-AA30-2B25713B0DE9}" srcId="{02D6A755-2659-4714-A019-A60BD2DBF44D}" destId="{D19DA2C2-DBED-4C48-A059-92B1F02E952E}" srcOrd="1" destOrd="0" parTransId="{2411435A-2DED-45FE-BAF2-EA5E2BAB2221}" sibTransId="{8B1C7915-ACF1-48A9-8CBC-03BA5CAA0EC8}"/>
    <dgm:cxn modelId="{4BE1A33F-8709-45AC-9866-A77B712F0F4B}" srcId="{DE0D542D-D583-46F8-AF81-5963C844620D}" destId="{D12CF5CC-B0AB-4657-8BC8-05A2DA36F5F4}" srcOrd="0" destOrd="0" parTransId="{6A3B3684-783F-4816-9363-23FED4B817AB}" sibTransId="{443C1D04-5678-4F60-8A9D-9083BCA3E12E}"/>
    <dgm:cxn modelId="{8CD274B0-EC7A-409C-AB2D-56C7534B144B}" type="presOf" srcId="{E5D331DA-30E0-4D9E-AF95-9BED1C00B881}" destId="{51EE0D49-AD04-4513-87AC-4148C700764C}" srcOrd="0" destOrd="0" presId="urn:diagrams.loki3.com/BracketList"/>
    <dgm:cxn modelId="{BEBC4F50-0997-43E0-A4F6-3DCF33909B4C}" srcId="{D4570B03-06D1-496E-940D-E834C1A39D15}" destId="{B6EA1160-7F8A-4126-8376-C44E264E6EA1}" srcOrd="2" destOrd="0" parTransId="{C4A29E89-B10D-4EE9-817D-665085164D56}" sibTransId="{78A00466-42E4-4EC0-9E29-CCB271DF42F4}"/>
    <dgm:cxn modelId="{51656E9E-C438-4269-8BAA-86F019163B07}" srcId="{D4570B03-06D1-496E-940D-E834C1A39D15}" destId="{DE0D542D-D583-46F8-AF81-5963C844620D}" srcOrd="0" destOrd="0" parTransId="{C8EF2553-001E-4794-9586-0CDE54007ADD}" sibTransId="{FB29F8EB-EE92-45C5-8BCF-B06C4D9BC7DC}"/>
    <dgm:cxn modelId="{D60FD02C-D5E8-494B-B039-6EEC522D73AE}" type="presOf" srcId="{B8004FBE-713E-4F15-8885-85B9EA6E9A18}" destId="{051F707C-CB75-4D21-8C13-082BD2FF2D14}" srcOrd="0" destOrd="0" presId="urn:diagrams.loki3.com/BracketList"/>
    <dgm:cxn modelId="{AEBFEC2D-8855-4E2E-BEE0-C2AC6A2AD198}" type="presOf" srcId="{D12CF5CC-B0AB-4657-8BC8-05A2DA36F5F4}" destId="{16433D64-952C-4A31-983D-1017B3C32C47}" srcOrd="0" destOrd="0" presId="urn:diagrams.loki3.com/BracketList"/>
    <dgm:cxn modelId="{06F5ADC8-64CC-416E-A504-58BD95BE6371}" type="presOf" srcId="{D19DA2C2-DBED-4C48-A059-92B1F02E952E}" destId="{2E54DBD1-1915-453C-B205-7D57F6596F56}" srcOrd="0" destOrd="1" presId="urn:diagrams.loki3.com/BracketList"/>
    <dgm:cxn modelId="{84B90654-B9B2-4F49-B93C-7AB9B1513360}" type="presOf" srcId="{CFC255E3-F313-4F68-A8BE-AA9A0E7B2920}" destId="{1988FC77-CF36-4CB7-8B74-1CB63D2CB4BE}" srcOrd="0" destOrd="0" presId="urn:diagrams.loki3.com/BracketList"/>
    <dgm:cxn modelId="{253CA61A-3D10-40C6-A6A5-EB9F6A55F5B0}" type="presOf" srcId="{E382FAAA-4FB2-477A-98B3-A2A120BAC348}" destId="{68C4F1F0-2F56-483B-8104-BEA79A7538A1}" srcOrd="0" destOrd="0" presId="urn:diagrams.loki3.com/BracketList"/>
    <dgm:cxn modelId="{BB10DE44-0E64-4D65-BC2C-C5E23F3B4B7E}" type="presOf" srcId="{B410AD1F-A2B3-49B3-8BE2-CA1B2963672B}" destId="{16433D64-952C-4A31-983D-1017B3C32C47}" srcOrd="0" destOrd="1" presId="urn:diagrams.loki3.com/BracketList"/>
    <dgm:cxn modelId="{E8C2E0BE-83B9-42FF-9F2F-0017F48DCA71}" srcId="{DE0D542D-D583-46F8-AF81-5963C844620D}" destId="{B410AD1F-A2B3-49B3-8BE2-CA1B2963672B}" srcOrd="1" destOrd="0" parTransId="{703C4DDF-2819-43E6-95F5-DEA0F213ACDA}" sibTransId="{CCBF6D02-9F0B-4236-9549-FD1FC07A5984}"/>
    <dgm:cxn modelId="{29685408-45E5-4A09-A94C-6B5811184DDF}" type="presOf" srcId="{9357E48B-E7E0-4CA0-9ABC-FF0F47D16FFF}" destId="{2E54DBD1-1915-453C-B205-7D57F6596F56}" srcOrd="0" destOrd="0" presId="urn:diagrams.loki3.com/BracketList"/>
    <dgm:cxn modelId="{81E2E479-FF41-415B-B38F-7F0297466D91}" type="presOf" srcId="{D4570B03-06D1-496E-940D-E834C1A39D15}" destId="{49162F80-9F02-44A6-B8BB-9C145D32E9A6}" srcOrd="0" destOrd="0" presId="urn:diagrams.loki3.com/BracketList"/>
    <dgm:cxn modelId="{3456690B-B173-48B8-86F7-97252F1597D5}" srcId="{E5D331DA-30E0-4D9E-AF95-9BED1C00B881}" destId="{96D22CE3-E99B-43B7-A890-8B3328F8E2E0}" srcOrd="1" destOrd="0" parTransId="{3DA8366F-C933-44CA-ADDF-18F73189EA6A}" sibTransId="{A42478D0-807D-4203-8347-8182C244F189}"/>
    <dgm:cxn modelId="{F6B286A8-B838-48A2-8EA3-C6AA8D365595}" srcId="{E5D331DA-30E0-4D9E-AF95-9BED1C00B881}" destId="{F73F6B60-F387-4B00-AF21-983EFA908F3B}" srcOrd="0" destOrd="0" parTransId="{66BC6DEB-3BCA-40D4-BBDB-03469584A26B}" sibTransId="{F9A40652-90E5-4569-99B1-02A0DB0C497F}"/>
    <dgm:cxn modelId="{86FD203E-7063-4D5F-A35C-3598D65669ED}" srcId="{02D6A755-2659-4714-A019-A60BD2DBF44D}" destId="{9357E48B-E7E0-4CA0-9ABC-FF0F47D16FFF}" srcOrd="0" destOrd="0" parTransId="{7581C13E-E6C9-4383-A784-20E62B70B3DC}" sibTransId="{F31CFC71-E692-4437-B605-955BBEFE5B3C}"/>
    <dgm:cxn modelId="{E148A8F3-3E98-4E38-A6A3-BF7236721D64}" type="presOf" srcId="{EF4D839F-1954-4FEA-BC1D-6A6FE5E5C4E4}" destId="{A5768B98-F77A-4129-ACD5-EDDCB6DCE048}" srcOrd="0" destOrd="1" presId="urn:diagrams.loki3.com/BracketList"/>
    <dgm:cxn modelId="{AD4ED5EC-FC39-42A5-BC4B-7545101D5B7F}" type="presOf" srcId="{02D6A755-2659-4714-A019-A60BD2DBF44D}" destId="{AC2B96A3-ADBA-40C0-B958-7DDD08E7D4E8}" srcOrd="0" destOrd="0" presId="urn:diagrams.loki3.com/BracketList"/>
    <dgm:cxn modelId="{99E6DEB9-6BD5-4EFC-87D0-EC8AA52BEB00}" srcId="{39F54975-3C18-4047-B841-1E5ED79DA055}" destId="{E382FAAA-4FB2-477A-98B3-A2A120BAC348}" srcOrd="0" destOrd="0" parTransId="{A26A0720-9BE4-44E9-89C9-7F9980634043}" sibTransId="{92B8D365-A3DA-4EE7-BA70-DC7D10A7653D}"/>
    <dgm:cxn modelId="{A9446154-ADD1-42B0-A05A-FEA847BCBE80}" type="presOf" srcId="{DFD7F550-E826-4DB8-852E-70462049B908}" destId="{A5768B98-F77A-4129-ACD5-EDDCB6DCE048}" srcOrd="0" destOrd="0" presId="urn:diagrams.loki3.com/BracketList"/>
    <dgm:cxn modelId="{35C42657-DB4D-4E59-9BB6-9C2A11020C13}" srcId="{B6EA1160-7F8A-4126-8376-C44E264E6EA1}" destId="{016B6379-197D-4014-BBB5-7272361FA5ED}" srcOrd="0" destOrd="0" parTransId="{8D526268-2F08-4285-9EEA-ACD0B693F879}" sibTransId="{791199FC-FDB9-4DE9-A0A6-52879619A3C8}"/>
    <dgm:cxn modelId="{C8A7134D-29D6-4AE5-AFFB-1706BB271EEA}" type="presOf" srcId="{DE0D542D-D583-46F8-AF81-5963C844620D}" destId="{EEF1E03F-C7C5-4626-9C13-2E78DD1D4267}" srcOrd="0" destOrd="0" presId="urn:diagrams.loki3.com/BracketList"/>
    <dgm:cxn modelId="{C7CA2681-FAC3-474C-B622-629EB19F99E9}" type="presParOf" srcId="{49162F80-9F02-44A6-B8BB-9C145D32E9A6}" destId="{93D76702-C2A8-4552-960B-C2CCD4981C99}" srcOrd="0" destOrd="0" presId="urn:diagrams.loki3.com/BracketList"/>
    <dgm:cxn modelId="{38CA16D5-C4E9-4454-9705-C78453B60C5A}" type="presParOf" srcId="{93D76702-C2A8-4552-960B-C2CCD4981C99}" destId="{EEF1E03F-C7C5-4626-9C13-2E78DD1D4267}" srcOrd="0" destOrd="0" presId="urn:diagrams.loki3.com/BracketList"/>
    <dgm:cxn modelId="{E10DDCF7-A95D-4D15-B04C-07349A4D6BCA}" type="presParOf" srcId="{93D76702-C2A8-4552-960B-C2CCD4981C99}" destId="{A26B1DE6-CF11-4DDE-B44C-06D2D40056A5}" srcOrd="1" destOrd="0" presId="urn:diagrams.loki3.com/BracketList"/>
    <dgm:cxn modelId="{0622E855-FEE5-42F3-871C-5A71B3CD000D}" type="presParOf" srcId="{93D76702-C2A8-4552-960B-C2CCD4981C99}" destId="{84088476-830B-44FF-9FC8-4FF311557564}" srcOrd="2" destOrd="0" presId="urn:diagrams.loki3.com/BracketList"/>
    <dgm:cxn modelId="{13EFC042-FA28-419B-9229-41FA227E415E}" type="presParOf" srcId="{93D76702-C2A8-4552-960B-C2CCD4981C99}" destId="{16433D64-952C-4A31-983D-1017B3C32C47}" srcOrd="3" destOrd="0" presId="urn:diagrams.loki3.com/BracketList"/>
    <dgm:cxn modelId="{A0D01DE3-83E6-4F00-B4C0-8DE1238F54D2}" type="presParOf" srcId="{49162F80-9F02-44A6-B8BB-9C145D32E9A6}" destId="{0D64A2A7-0C6F-4181-A777-C89732C0E5C5}" srcOrd="1" destOrd="0" presId="urn:diagrams.loki3.com/BracketList"/>
    <dgm:cxn modelId="{3BE838D0-860C-4080-BE1C-CB30AB500675}" type="presParOf" srcId="{49162F80-9F02-44A6-B8BB-9C145D32E9A6}" destId="{19DA4E40-3C89-4875-AC17-D25DBD2ACEB7}" srcOrd="2" destOrd="0" presId="urn:diagrams.loki3.com/BracketList"/>
    <dgm:cxn modelId="{036BF45A-4627-4A66-B6C5-601510B3442D}" type="presParOf" srcId="{19DA4E40-3C89-4875-AC17-D25DBD2ACEB7}" destId="{AC2B96A3-ADBA-40C0-B958-7DDD08E7D4E8}" srcOrd="0" destOrd="0" presId="urn:diagrams.loki3.com/BracketList"/>
    <dgm:cxn modelId="{02768F28-E2A5-453B-AD8A-0E5126C07E86}" type="presParOf" srcId="{19DA4E40-3C89-4875-AC17-D25DBD2ACEB7}" destId="{198F5C82-A1B5-4598-AC6F-A9C0DABD7BDF}" srcOrd="1" destOrd="0" presId="urn:diagrams.loki3.com/BracketList"/>
    <dgm:cxn modelId="{485CCD12-288D-4190-B3ED-3CA05A4823F3}" type="presParOf" srcId="{19DA4E40-3C89-4875-AC17-D25DBD2ACEB7}" destId="{8B63F9A0-3944-4E74-93DB-D303A8D9255B}" srcOrd="2" destOrd="0" presId="urn:diagrams.loki3.com/BracketList"/>
    <dgm:cxn modelId="{18E61AB3-8AAA-4DC5-AAFB-371ED981E2CD}" type="presParOf" srcId="{19DA4E40-3C89-4875-AC17-D25DBD2ACEB7}" destId="{2E54DBD1-1915-453C-B205-7D57F6596F56}" srcOrd="3" destOrd="0" presId="urn:diagrams.loki3.com/BracketList"/>
    <dgm:cxn modelId="{0E5D4118-9D73-4901-91A6-655FA33AE8B9}" type="presParOf" srcId="{49162F80-9F02-44A6-B8BB-9C145D32E9A6}" destId="{B220DA74-EC66-489D-8246-311B923B97F4}" srcOrd="3" destOrd="0" presId="urn:diagrams.loki3.com/BracketList"/>
    <dgm:cxn modelId="{26355425-B656-47B3-BD79-9473BBADA7A3}" type="presParOf" srcId="{49162F80-9F02-44A6-B8BB-9C145D32E9A6}" destId="{07C8456B-70F4-46B2-8434-66CD9C4C8206}" srcOrd="4" destOrd="0" presId="urn:diagrams.loki3.com/BracketList"/>
    <dgm:cxn modelId="{9D8DFE18-29F4-4112-BC09-FE482A19C5BE}" type="presParOf" srcId="{07C8456B-70F4-46B2-8434-66CD9C4C8206}" destId="{4D2CC661-966E-4BA4-843D-A1C1153050D7}" srcOrd="0" destOrd="0" presId="urn:diagrams.loki3.com/BracketList"/>
    <dgm:cxn modelId="{C55C5301-CDAB-40FE-A341-490196920ADB}" type="presParOf" srcId="{07C8456B-70F4-46B2-8434-66CD9C4C8206}" destId="{A0E10437-37D9-40A1-94FC-7CF5534408C5}" srcOrd="1" destOrd="0" presId="urn:diagrams.loki3.com/BracketList"/>
    <dgm:cxn modelId="{37166880-5B6E-40A5-83D3-9B9457DFA9C0}" type="presParOf" srcId="{07C8456B-70F4-46B2-8434-66CD9C4C8206}" destId="{C06C2236-897C-4D2B-8456-36AAFC45E58A}" srcOrd="2" destOrd="0" presId="urn:diagrams.loki3.com/BracketList"/>
    <dgm:cxn modelId="{F1323A13-4D45-4A77-AF03-73BF4BE3AD21}" type="presParOf" srcId="{07C8456B-70F4-46B2-8434-66CD9C4C8206}" destId="{A85E5853-DBE3-4294-93EB-D0C052772C14}" srcOrd="3" destOrd="0" presId="urn:diagrams.loki3.com/BracketList"/>
    <dgm:cxn modelId="{F03D55CF-7FD9-48AA-8247-D9528DCED494}" type="presParOf" srcId="{49162F80-9F02-44A6-B8BB-9C145D32E9A6}" destId="{61C6EDBC-202D-45B6-90DB-576D020436A6}" srcOrd="5" destOrd="0" presId="urn:diagrams.loki3.com/BracketList"/>
    <dgm:cxn modelId="{E3262B73-620C-4EE7-95D1-AB7FAC91F666}" type="presParOf" srcId="{49162F80-9F02-44A6-B8BB-9C145D32E9A6}" destId="{AB1628CB-FBAF-4FEC-83F2-49EEE2D83036}" srcOrd="6" destOrd="0" presId="urn:diagrams.loki3.com/BracketList"/>
    <dgm:cxn modelId="{64653BA4-9E62-45A2-95C7-EE0EB58886FB}" type="presParOf" srcId="{AB1628CB-FBAF-4FEC-83F2-49EEE2D83036}" destId="{51EE0D49-AD04-4513-87AC-4148C700764C}" srcOrd="0" destOrd="0" presId="urn:diagrams.loki3.com/BracketList"/>
    <dgm:cxn modelId="{FC0CD3D0-669A-4BBA-A714-7056E0E6A44A}" type="presParOf" srcId="{AB1628CB-FBAF-4FEC-83F2-49EEE2D83036}" destId="{FBEC08E7-8EA9-4F19-8102-67D71DDC638F}" srcOrd="1" destOrd="0" presId="urn:diagrams.loki3.com/BracketList"/>
    <dgm:cxn modelId="{AA241E8A-9E9A-453F-8ED0-E26DB1EC7D32}" type="presParOf" srcId="{AB1628CB-FBAF-4FEC-83F2-49EEE2D83036}" destId="{7D46405E-DD88-4E9A-80A9-23C375168980}" srcOrd="2" destOrd="0" presId="urn:diagrams.loki3.com/BracketList"/>
    <dgm:cxn modelId="{5BF2CC99-1169-4733-9558-6C5C53B931CE}" type="presParOf" srcId="{AB1628CB-FBAF-4FEC-83F2-49EEE2D83036}" destId="{824F19CC-5252-49CF-BB92-9DDE5C78A83D}" srcOrd="3" destOrd="0" presId="urn:diagrams.loki3.com/BracketList"/>
    <dgm:cxn modelId="{84727C40-5601-4666-A15D-0CE7FF8033C7}" type="presParOf" srcId="{49162F80-9F02-44A6-B8BB-9C145D32E9A6}" destId="{15CBEDD1-6E59-4A21-B65E-A24E06847EC8}" srcOrd="7" destOrd="0" presId="urn:diagrams.loki3.com/BracketList"/>
    <dgm:cxn modelId="{E3C27EBC-53B5-4EC2-AEE3-5A7E0AFAEC71}" type="presParOf" srcId="{49162F80-9F02-44A6-B8BB-9C145D32E9A6}" destId="{53B1EBAB-B262-4365-81D5-47D562D38253}" srcOrd="8" destOrd="0" presId="urn:diagrams.loki3.com/BracketList"/>
    <dgm:cxn modelId="{2B41B403-D68D-4ABD-B447-1210F30D4A33}" type="presParOf" srcId="{53B1EBAB-B262-4365-81D5-47D562D38253}" destId="{1988FC77-CF36-4CB7-8B74-1CB63D2CB4BE}" srcOrd="0" destOrd="0" presId="urn:diagrams.loki3.com/BracketList"/>
    <dgm:cxn modelId="{DC841AC6-0E9E-4A64-BF87-E1357CDC38D5}" type="presParOf" srcId="{53B1EBAB-B262-4365-81D5-47D562D38253}" destId="{0F317D99-FAA7-486C-AD04-E80658653891}" srcOrd="1" destOrd="0" presId="urn:diagrams.loki3.com/BracketList"/>
    <dgm:cxn modelId="{C8567C00-4523-4504-83CA-27064167BF18}" type="presParOf" srcId="{53B1EBAB-B262-4365-81D5-47D562D38253}" destId="{4E0EA082-60FC-4371-9072-8611BCDAC3AC}" srcOrd="2" destOrd="0" presId="urn:diagrams.loki3.com/BracketList"/>
    <dgm:cxn modelId="{13F53899-4468-40E6-A5B4-3C5878C83514}" type="presParOf" srcId="{53B1EBAB-B262-4365-81D5-47D562D38253}" destId="{A5768B98-F77A-4129-ACD5-EDDCB6DCE048}" srcOrd="3" destOrd="0" presId="urn:diagrams.loki3.com/BracketList"/>
    <dgm:cxn modelId="{C9C38E14-D668-4249-AF24-03AA179EA89A}" type="presParOf" srcId="{49162F80-9F02-44A6-B8BB-9C145D32E9A6}" destId="{CEB34B8F-A441-4D1F-AC27-A153B51A9AFE}" srcOrd="9" destOrd="0" presId="urn:diagrams.loki3.com/BracketList"/>
    <dgm:cxn modelId="{AE8288C4-01AB-42AD-8490-B3C33DF3AF51}" type="presParOf" srcId="{49162F80-9F02-44A6-B8BB-9C145D32E9A6}" destId="{B63F1452-A433-4A82-86A6-A31C99BB4ABB}" srcOrd="10" destOrd="0" presId="urn:diagrams.loki3.com/BracketList"/>
    <dgm:cxn modelId="{76510AF7-5456-48FC-9493-1ADA1781FF2D}" type="presParOf" srcId="{B63F1452-A433-4A82-86A6-A31C99BB4ABB}" destId="{D1E7592D-5481-4E23-BBA9-37FC11FDB1FC}" srcOrd="0" destOrd="0" presId="urn:diagrams.loki3.com/BracketList"/>
    <dgm:cxn modelId="{0B6F8FD6-801C-46AD-A79A-FE714BCFC8D7}" type="presParOf" srcId="{B63F1452-A433-4A82-86A6-A31C99BB4ABB}" destId="{7463CE50-C0A3-481C-A7EE-61A136CA5614}" srcOrd="1" destOrd="0" presId="urn:diagrams.loki3.com/BracketList"/>
    <dgm:cxn modelId="{C0E521AB-79C3-4C3E-A228-CF7674ECE6AD}" type="presParOf" srcId="{B63F1452-A433-4A82-86A6-A31C99BB4ABB}" destId="{FC4F3020-1D98-4C4D-A2E9-8733211A8AA4}" srcOrd="2" destOrd="0" presId="urn:diagrams.loki3.com/BracketList"/>
    <dgm:cxn modelId="{FDFF470D-B2E3-494C-B226-48950A691053}" type="presParOf" srcId="{B63F1452-A433-4A82-86A6-A31C99BB4ABB}" destId="{68C4F1F0-2F56-483B-8104-BEA79A7538A1}" srcOrd="3" destOrd="0" presId="urn:diagrams.loki3.com/BracketList"/>
    <dgm:cxn modelId="{0B5C7C84-7615-4E71-B67A-2F58EFEDE1BF}" type="presParOf" srcId="{49162F80-9F02-44A6-B8BB-9C145D32E9A6}" destId="{A1073545-5D48-4C69-8C57-292BC6B3C4B1}" srcOrd="11" destOrd="0" presId="urn:diagrams.loki3.com/BracketList"/>
    <dgm:cxn modelId="{F0D1CBBE-710C-4F5F-A96C-5CEE734C40C7}" type="presParOf" srcId="{49162F80-9F02-44A6-B8BB-9C145D32E9A6}" destId="{B2891C81-7B23-4425-8547-60BFE480CB4F}" srcOrd="12" destOrd="0" presId="urn:diagrams.loki3.com/BracketList"/>
    <dgm:cxn modelId="{1BAC502C-45D3-4923-BAA4-312044D830EF}" type="presParOf" srcId="{B2891C81-7B23-4425-8547-60BFE480CB4F}" destId="{E4B80767-5737-4482-A6AF-D1C6CDF122DC}" srcOrd="0" destOrd="0" presId="urn:diagrams.loki3.com/BracketList"/>
    <dgm:cxn modelId="{941D1F8B-BFA6-4F5E-947C-B04B49FE0ACD}" type="presParOf" srcId="{B2891C81-7B23-4425-8547-60BFE480CB4F}" destId="{D95A6C44-A417-4C00-9432-D1FAC161DC5F}" srcOrd="1" destOrd="0" presId="urn:diagrams.loki3.com/BracketList"/>
    <dgm:cxn modelId="{96085F76-D6CF-4B8F-954B-151A4562536A}" type="presParOf" srcId="{B2891C81-7B23-4425-8547-60BFE480CB4F}" destId="{B7B9C01C-FDAE-4A74-ABD3-EC7CD2A4D2D5}" srcOrd="2" destOrd="0" presId="urn:diagrams.loki3.com/BracketList"/>
    <dgm:cxn modelId="{11BCEB7C-D48B-47B0-843A-496A2562263F}" type="presParOf" srcId="{B2891C81-7B23-4425-8547-60BFE480CB4F}" destId="{051F707C-CB75-4D21-8C13-082BD2FF2D14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1E03F-C7C5-4626-9C13-2E78DD1D4267}">
      <dsp:nvSpPr>
        <dsp:cNvPr id="0" name=""/>
        <dsp:cNvSpPr/>
      </dsp:nvSpPr>
      <dsp:spPr>
        <a:xfrm>
          <a:off x="0" y="209985"/>
          <a:ext cx="1415513" cy="1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17780" rIns="49784" bIns="1778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209985"/>
        <a:ext cx="1415513" cy="198000"/>
      </dsp:txXfrm>
    </dsp:sp>
    <dsp:sp modelId="{A26B1DE6-CF11-4DDE-B44C-06D2D40056A5}">
      <dsp:nvSpPr>
        <dsp:cNvPr id="0" name=""/>
        <dsp:cNvSpPr/>
      </dsp:nvSpPr>
      <dsp:spPr>
        <a:xfrm>
          <a:off x="1415513" y="52231"/>
          <a:ext cx="327042" cy="404969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33D64-952C-4A31-983D-1017B3C32C47}">
      <dsp:nvSpPr>
        <dsp:cNvPr id="0" name=""/>
        <dsp:cNvSpPr/>
      </dsp:nvSpPr>
      <dsp:spPr>
        <a:xfrm>
          <a:off x="1783641" y="52231"/>
          <a:ext cx="3812271" cy="404969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Table Extraction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Header Stripping</a:t>
          </a:r>
          <a:endParaRPr lang="en-US" sz="1000" kern="1200" dirty="0"/>
        </a:p>
      </dsp:txBody>
      <dsp:txXfrm>
        <a:off x="1783641" y="52231"/>
        <a:ext cx="3812271" cy="404969"/>
      </dsp:txXfrm>
    </dsp:sp>
    <dsp:sp modelId="{AC2B96A3-ADBA-40C0-B958-7DDD08E7D4E8}">
      <dsp:nvSpPr>
        <dsp:cNvPr id="0" name=""/>
        <dsp:cNvSpPr/>
      </dsp:nvSpPr>
      <dsp:spPr>
        <a:xfrm>
          <a:off x="0" y="584659"/>
          <a:ext cx="1409769" cy="200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27940" rIns="78232" bIns="2794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b="0" i="0" kern="1200" dirty="0">
            <a:latin typeface="Arial Black" panose="020B0A04020102020204" pitchFamily="34" charset="0"/>
          </a:endParaRPr>
        </a:p>
      </dsp:txBody>
      <dsp:txXfrm>
        <a:off x="0" y="584659"/>
        <a:ext cx="1409769" cy="200708"/>
      </dsp:txXfrm>
    </dsp:sp>
    <dsp:sp modelId="{198F5C82-A1B5-4598-AC6F-A9C0DABD7BDF}">
      <dsp:nvSpPr>
        <dsp:cNvPr id="0" name=""/>
        <dsp:cNvSpPr/>
      </dsp:nvSpPr>
      <dsp:spPr>
        <a:xfrm>
          <a:off x="1409769" y="493200"/>
          <a:ext cx="343432" cy="3836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4DBD1-1915-453C-B205-7D57F6596F56}">
      <dsp:nvSpPr>
        <dsp:cNvPr id="0" name=""/>
        <dsp:cNvSpPr/>
      </dsp:nvSpPr>
      <dsp:spPr>
        <a:xfrm>
          <a:off x="1793575" y="493200"/>
          <a:ext cx="3806390" cy="38362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Section-Aware Splitting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Optimal Sizing</a:t>
          </a:r>
          <a:endParaRPr lang="en-US" sz="1000" kern="1200" dirty="0"/>
        </a:p>
      </dsp:txBody>
      <dsp:txXfrm>
        <a:off x="1793575" y="493200"/>
        <a:ext cx="3806390" cy="383625"/>
      </dsp:txXfrm>
    </dsp:sp>
    <dsp:sp modelId="{4D2CC661-966E-4BA4-843D-A1C1153050D7}">
      <dsp:nvSpPr>
        <dsp:cNvPr id="0" name=""/>
        <dsp:cNvSpPr/>
      </dsp:nvSpPr>
      <dsp:spPr>
        <a:xfrm>
          <a:off x="0" y="1012010"/>
          <a:ext cx="1399124" cy="7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15240" rIns="42672" bIns="15240" numCol="1" spcCol="1270" anchor="ctr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1012010"/>
        <a:ext cx="1399124" cy="70030"/>
      </dsp:txXfrm>
    </dsp:sp>
    <dsp:sp modelId="{A0E10437-37D9-40A1-94FC-7CF5534408C5}">
      <dsp:nvSpPr>
        <dsp:cNvPr id="0" name=""/>
        <dsp:cNvSpPr/>
      </dsp:nvSpPr>
      <dsp:spPr>
        <a:xfrm>
          <a:off x="1399124" y="912825"/>
          <a:ext cx="279824" cy="216562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E5853-DBE3-4294-93EB-D0C052772C14}">
      <dsp:nvSpPr>
        <dsp:cNvPr id="0" name=""/>
        <dsp:cNvSpPr/>
      </dsp:nvSpPr>
      <dsp:spPr>
        <a:xfrm>
          <a:off x="1796350" y="907543"/>
          <a:ext cx="3805618" cy="21656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Fully Local Execution</a:t>
          </a:r>
          <a:endParaRPr lang="en-US" sz="1000" kern="1200" dirty="0"/>
        </a:p>
      </dsp:txBody>
      <dsp:txXfrm>
        <a:off x="1796350" y="907543"/>
        <a:ext cx="3805618" cy="216562"/>
      </dsp:txXfrm>
    </dsp:sp>
    <dsp:sp modelId="{51EE0D49-AD04-4513-87AC-4148C700764C}">
      <dsp:nvSpPr>
        <dsp:cNvPr id="0" name=""/>
        <dsp:cNvSpPr/>
      </dsp:nvSpPr>
      <dsp:spPr>
        <a:xfrm>
          <a:off x="0" y="1258200"/>
          <a:ext cx="1399124" cy="1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1270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0" y="1258200"/>
        <a:ext cx="1399124" cy="198000"/>
      </dsp:txXfrm>
    </dsp:sp>
    <dsp:sp modelId="{FBEC08E7-8EA9-4F19-8102-67D71DDC638F}">
      <dsp:nvSpPr>
        <dsp:cNvPr id="0" name=""/>
        <dsp:cNvSpPr/>
      </dsp:nvSpPr>
      <dsp:spPr>
        <a:xfrm>
          <a:off x="1399124" y="1165388"/>
          <a:ext cx="279824" cy="3836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4F19CC-5252-49CF-BB92-9DDE5C78A83D}">
      <dsp:nvSpPr>
        <dsp:cNvPr id="0" name=""/>
        <dsp:cNvSpPr/>
      </dsp:nvSpPr>
      <dsp:spPr>
        <a:xfrm>
          <a:off x="1790879" y="1165388"/>
          <a:ext cx="3805618" cy="38362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Zero Docker Setup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Rich Metadata</a:t>
          </a:r>
          <a:endParaRPr lang="en-US" sz="1000" kern="1200" dirty="0"/>
        </a:p>
      </dsp:txBody>
      <dsp:txXfrm>
        <a:off x="1790879" y="1165388"/>
        <a:ext cx="3805618" cy="383625"/>
      </dsp:txXfrm>
    </dsp:sp>
    <dsp:sp modelId="{1988FC77-CF36-4CB7-8B74-1CB63D2CB4BE}">
      <dsp:nvSpPr>
        <dsp:cNvPr id="0" name=""/>
        <dsp:cNvSpPr/>
      </dsp:nvSpPr>
      <dsp:spPr>
        <a:xfrm>
          <a:off x="4826" y="1692772"/>
          <a:ext cx="1399124" cy="1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1270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4826" y="1692772"/>
        <a:ext cx="1399124" cy="198000"/>
      </dsp:txXfrm>
    </dsp:sp>
    <dsp:sp modelId="{0F317D99-FAA7-486C-AD04-E80658653891}">
      <dsp:nvSpPr>
        <dsp:cNvPr id="0" name=""/>
        <dsp:cNvSpPr/>
      </dsp:nvSpPr>
      <dsp:spPr>
        <a:xfrm>
          <a:off x="1399124" y="1585013"/>
          <a:ext cx="279824" cy="3836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768B98-F77A-4129-ACD5-EDDCB6DCE048}">
      <dsp:nvSpPr>
        <dsp:cNvPr id="0" name=""/>
        <dsp:cNvSpPr/>
      </dsp:nvSpPr>
      <dsp:spPr>
        <a:xfrm>
          <a:off x="1790879" y="1585013"/>
          <a:ext cx="3805618" cy="38362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Precision Metadata Filtering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Over-fetching</a:t>
          </a:r>
          <a:endParaRPr lang="en-US" sz="1000" kern="1200" dirty="0"/>
        </a:p>
      </dsp:txBody>
      <dsp:txXfrm>
        <a:off x="1790879" y="1585013"/>
        <a:ext cx="3805618" cy="383625"/>
      </dsp:txXfrm>
    </dsp:sp>
    <dsp:sp modelId="{D1E7592D-5481-4E23-BBA9-37FC11FDB1FC}">
      <dsp:nvSpPr>
        <dsp:cNvPr id="0" name=""/>
        <dsp:cNvSpPr/>
      </dsp:nvSpPr>
      <dsp:spPr>
        <a:xfrm>
          <a:off x="0" y="2013919"/>
          <a:ext cx="1400492" cy="1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27940" rIns="78232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>
            <a:latin typeface="Arial Black" panose="020B0A04020102020204" pitchFamily="34" charset="0"/>
          </a:endParaRPr>
        </a:p>
      </dsp:txBody>
      <dsp:txXfrm>
        <a:off x="0" y="2013919"/>
        <a:ext cx="1400492" cy="198000"/>
      </dsp:txXfrm>
    </dsp:sp>
    <dsp:sp modelId="{7463CE50-C0A3-481C-A7EE-61A136CA5614}">
      <dsp:nvSpPr>
        <dsp:cNvPr id="0" name=""/>
        <dsp:cNvSpPr/>
      </dsp:nvSpPr>
      <dsp:spPr>
        <a:xfrm>
          <a:off x="1400492" y="2004638"/>
          <a:ext cx="280098" cy="216562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4F1F0-2F56-483B-8104-BEA79A7538A1}">
      <dsp:nvSpPr>
        <dsp:cNvPr id="0" name=""/>
        <dsp:cNvSpPr/>
      </dsp:nvSpPr>
      <dsp:spPr>
        <a:xfrm>
          <a:off x="1792630" y="2004638"/>
          <a:ext cx="3809338" cy="21656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Smart Filtering</a:t>
          </a:r>
          <a:endParaRPr lang="en-US" sz="1000" kern="1200" dirty="0"/>
        </a:p>
      </dsp:txBody>
      <dsp:txXfrm>
        <a:off x="1792630" y="2004638"/>
        <a:ext cx="3809338" cy="216562"/>
      </dsp:txXfrm>
    </dsp:sp>
    <dsp:sp modelId="{E4B80767-5737-4482-A6AF-D1C6CDF122DC}">
      <dsp:nvSpPr>
        <dsp:cNvPr id="0" name=""/>
        <dsp:cNvSpPr/>
      </dsp:nvSpPr>
      <dsp:spPr>
        <a:xfrm>
          <a:off x="0" y="2373290"/>
          <a:ext cx="1399124" cy="1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1270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0" y="2373290"/>
        <a:ext cx="1399124" cy="198000"/>
      </dsp:txXfrm>
    </dsp:sp>
    <dsp:sp modelId="{D95A6C44-A417-4C00-9432-D1FAC161DC5F}">
      <dsp:nvSpPr>
        <dsp:cNvPr id="0" name=""/>
        <dsp:cNvSpPr/>
      </dsp:nvSpPr>
      <dsp:spPr>
        <a:xfrm>
          <a:off x="1399124" y="2257200"/>
          <a:ext cx="279824" cy="3836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1F707C-CB75-4D21-8C13-082BD2FF2D14}">
      <dsp:nvSpPr>
        <dsp:cNvPr id="0" name=""/>
        <dsp:cNvSpPr/>
      </dsp:nvSpPr>
      <dsp:spPr>
        <a:xfrm>
          <a:off x="1790879" y="2257200"/>
          <a:ext cx="3805618" cy="38362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Anti-Hallucination Guardrails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b="0" i="0" kern="1200" dirty="0" smtClean="0"/>
            <a:t>Strict Citations</a:t>
          </a:r>
          <a:endParaRPr lang="en-US" sz="1000" kern="1200" dirty="0"/>
        </a:p>
      </dsp:txBody>
      <dsp:txXfrm>
        <a:off x="1790879" y="2257200"/>
        <a:ext cx="3805618" cy="383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A1986-BA3F-4B39-82E5-E5FA8BD8A6AC}" type="datetimeFigureOut">
              <a:rPr lang="en-US" smtClean="0"/>
              <a:t>2026-08-07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2E42C-98F0-4AD8-A5A8-C02C8E23F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9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2E42C-98F0-4AD8-A5A8-C02C8E23F55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45440"/>
          </a:xfrm>
          <a:custGeom>
            <a:avLst/>
            <a:gdLst/>
            <a:ahLst/>
            <a:cxnLst/>
            <a:rect l="l" t="t" r="r" b="b"/>
            <a:pathLst>
              <a:path w="5760085" h="345440">
                <a:moveTo>
                  <a:pt x="5759996" y="0"/>
                </a:moveTo>
                <a:lnTo>
                  <a:pt x="0" y="0"/>
                </a:lnTo>
                <a:lnTo>
                  <a:pt x="0" y="345058"/>
                </a:lnTo>
                <a:lnTo>
                  <a:pt x="5759996" y="345058"/>
                </a:lnTo>
                <a:lnTo>
                  <a:pt x="5759996" y="0"/>
                </a:lnTo>
                <a:close/>
              </a:path>
            </a:pathLst>
          </a:custGeom>
          <a:solidFill>
            <a:srgbClr val="131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7337"/>
            <a:ext cx="3531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385" y="630325"/>
            <a:ext cx="2736215" cy="173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220" y="3105948"/>
            <a:ext cx="46482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2026-08-07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5965" y="3105948"/>
            <a:ext cx="28130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slide" Target="slide37.xml"/><Relationship Id="rId12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11" Type="http://schemas.openxmlformats.org/officeDocument/2006/relationships/image" Target="../media/image7.png"/><Relationship Id="rId5" Type="http://schemas.openxmlformats.org/officeDocument/2006/relationships/slide" Target="slide22.xml"/><Relationship Id="rId10" Type="http://schemas.openxmlformats.org/officeDocument/2006/relationships/image" Target="../media/image6.png"/><Relationship Id="rId4" Type="http://schemas.openxmlformats.org/officeDocument/2006/relationships/slide" Target="slide14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4" y="793774"/>
            <a:ext cx="5760085" cy="2122805"/>
          </a:xfrm>
          <a:custGeom>
            <a:avLst/>
            <a:gdLst/>
            <a:ahLst/>
            <a:cxnLst/>
            <a:rect l="l" t="t" r="r" b="b"/>
            <a:pathLst>
              <a:path w="5760085" h="2122805">
                <a:moveTo>
                  <a:pt x="0" y="2122223"/>
                </a:moveTo>
                <a:lnTo>
                  <a:pt x="5760073" y="2122223"/>
                </a:lnTo>
                <a:lnTo>
                  <a:pt x="5760073" y="0"/>
                </a:lnTo>
                <a:lnTo>
                  <a:pt x="0" y="0"/>
                </a:lnTo>
                <a:lnTo>
                  <a:pt x="0" y="2122223"/>
                </a:lnTo>
                <a:close/>
              </a:path>
            </a:pathLst>
          </a:custGeom>
          <a:solidFill>
            <a:srgbClr val="1313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8143" y="-12079"/>
            <a:ext cx="5760085" cy="794385"/>
            <a:chOff x="-4" y="-19"/>
            <a:chExt cx="5760085" cy="794385"/>
          </a:xfrm>
        </p:grpSpPr>
        <p:sp>
          <p:nvSpPr>
            <p:cNvPr id="4" name="object 4"/>
            <p:cNvSpPr/>
            <p:nvPr/>
          </p:nvSpPr>
          <p:spPr>
            <a:xfrm>
              <a:off x="-4" y="-19"/>
              <a:ext cx="5760085" cy="713105"/>
            </a:xfrm>
            <a:custGeom>
              <a:avLst/>
              <a:gdLst/>
              <a:ahLst/>
              <a:cxnLst/>
              <a:rect l="l" t="t" r="r" b="b"/>
              <a:pathLst>
                <a:path w="5760085" h="713105">
                  <a:moveTo>
                    <a:pt x="0" y="712813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712813"/>
                  </a:lnTo>
                  <a:lnTo>
                    <a:pt x="0" y="712813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4" y="712793"/>
              <a:ext cx="5760085" cy="81280"/>
            </a:xfrm>
            <a:custGeom>
              <a:avLst/>
              <a:gdLst/>
              <a:ahLst/>
              <a:cxnLst/>
              <a:rect l="l" t="t" r="r" b="b"/>
              <a:pathLst>
                <a:path w="5760085" h="81279">
                  <a:moveTo>
                    <a:pt x="0" y="80981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80981"/>
                  </a:lnTo>
                  <a:lnTo>
                    <a:pt x="0" y="80981"/>
                  </a:lnTo>
                  <a:close/>
                </a:path>
              </a:pathLst>
            </a:custGeom>
            <a:solidFill>
              <a:srgbClr val="7171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4" y="2867399"/>
            <a:ext cx="5760085" cy="372745"/>
            <a:chOff x="-4" y="2867399"/>
            <a:chExt cx="5760085" cy="372745"/>
          </a:xfrm>
        </p:grpSpPr>
        <p:sp>
          <p:nvSpPr>
            <p:cNvPr id="7" name="object 7"/>
            <p:cNvSpPr/>
            <p:nvPr/>
          </p:nvSpPr>
          <p:spPr>
            <a:xfrm>
              <a:off x="-4" y="2915997"/>
              <a:ext cx="5760085" cy="324485"/>
            </a:xfrm>
            <a:custGeom>
              <a:avLst/>
              <a:gdLst/>
              <a:ahLst/>
              <a:cxnLst/>
              <a:rect l="l" t="t" r="r" b="b"/>
              <a:pathLst>
                <a:path w="5760085" h="324485">
                  <a:moveTo>
                    <a:pt x="0" y="324023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324023"/>
                  </a:lnTo>
                  <a:lnTo>
                    <a:pt x="0" y="324023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4" y="2867399"/>
              <a:ext cx="5760085" cy="48895"/>
            </a:xfrm>
            <a:custGeom>
              <a:avLst/>
              <a:gdLst/>
              <a:ahLst/>
              <a:cxnLst/>
              <a:rect l="l" t="t" r="r" b="b"/>
              <a:pathLst>
                <a:path w="5760085" h="48894">
                  <a:moveTo>
                    <a:pt x="0" y="48598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48598"/>
                  </a:lnTo>
                  <a:lnTo>
                    <a:pt x="0" y="48598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435" y="86437"/>
            <a:ext cx="539964" cy="53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9616" y="122453"/>
            <a:ext cx="467944" cy="4679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96220" y="580936"/>
            <a:ext cx="720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600" i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libri"/>
                <a:cs typeface="Calibri"/>
              </a:rPr>
              <a:t>collaboration</a:t>
            </a:r>
            <a:r>
              <a:rPr sz="600" i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600" dirty="0">
              <a:latin typeface="Calibri"/>
              <a:cs typeface="Calibri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692363" y="937704"/>
            <a:ext cx="237363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spc="-180" dirty="0"/>
              <a:t>RANPilotAI</a:t>
            </a:r>
            <a:endParaRPr sz="3350" dirty="0"/>
          </a:p>
        </p:txBody>
      </p:sp>
      <p:sp>
        <p:nvSpPr>
          <p:cNvPr id="13" name="object 13"/>
          <p:cNvSpPr txBox="1"/>
          <p:nvPr/>
        </p:nvSpPr>
        <p:spPr>
          <a:xfrm>
            <a:off x="880452" y="1373451"/>
            <a:ext cx="399922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70" dirty="0">
                <a:solidFill>
                  <a:srgbClr val="E5E5EB"/>
                </a:solidFill>
                <a:latin typeface="Calibri"/>
                <a:cs typeface="Calibri"/>
              </a:rPr>
              <a:t>AI-</a:t>
            </a:r>
            <a:r>
              <a:rPr sz="1400" i="1" spc="-10" dirty="0">
                <a:solidFill>
                  <a:srgbClr val="E5E5EB"/>
                </a:solidFill>
                <a:latin typeface="Calibri"/>
                <a:cs typeface="Calibri"/>
              </a:rPr>
              <a:t>Powered</a:t>
            </a:r>
            <a:r>
              <a:rPr sz="1400" i="1" spc="150" dirty="0">
                <a:solidFill>
                  <a:srgbClr val="E5E5EB"/>
                </a:solidFill>
                <a:latin typeface="Calibri"/>
                <a:cs typeface="Calibri"/>
              </a:rPr>
              <a:t> </a:t>
            </a:r>
            <a:r>
              <a:rPr sz="1400" i="1" spc="105" dirty="0">
                <a:solidFill>
                  <a:srgbClr val="E5E5EB"/>
                </a:solidFill>
                <a:latin typeface="Calibri"/>
                <a:cs typeface="Calibri"/>
              </a:rPr>
              <a:t>RAN</a:t>
            </a:r>
            <a:r>
              <a:rPr sz="1400" i="1" spc="150" dirty="0">
                <a:solidFill>
                  <a:srgbClr val="E5E5EB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E5E5EB"/>
                </a:solidFill>
                <a:latin typeface="Calibri"/>
                <a:cs typeface="Calibri"/>
              </a:rPr>
              <a:t>Performance</a:t>
            </a:r>
            <a:r>
              <a:rPr sz="1400" i="1" spc="150" dirty="0">
                <a:solidFill>
                  <a:srgbClr val="E5E5EB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E5E5EB"/>
                </a:solidFill>
                <a:latin typeface="Calibri"/>
                <a:cs typeface="Calibri"/>
              </a:rPr>
              <a:t>Optimization</a:t>
            </a:r>
            <a:r>
              <a:rPr sz="1400" i="1" spc="150" dirty="0">
                <a:solidFill>
                  <a:srgbClr val="E5E5EB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E5E5EB"/>
                </a:solidFill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3970" y="1684815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>
                <a:moveTo>
                  <a:pt x="0" y="0"/>
                </a:moveTo>
                <a:lnTo>
                  <a:pt x="4032122" y="0"/>
                </a:lnTo>
              </a:path>
            </a:pathLst>
          </a:custGeom>
          <a:ln w="10122">
            <a:solidFill>
              <a:srgbClr val="CA5A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40013" y="2413795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80037" y="0"/>
                </a:lnTo>
              </a:path>
            </a:pathLst>
          </a:custGeom>
          <a:ln w="5060">
            <a:solidFill>
              <a:srgbClr val="F7F7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88276" y="1651616"/>
            <a:ext cx="3983990" cy="9671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100" i="1" dirty="0">
                <a:solidFill>
                  <a:srgbClr val="EBEBEF"/>
                </a:solidFill>
                <a:latin typeface="Calibri"/>
                <a:cs typeface="Calibri"/>
              </a:rPr>
              <a:t>Graduation</a:t>
            </a:r>
            <a:r>
              <a:rPr sz="1100" i="1" spc="130" dirty="0">
                <a:solidFill>
                  <a:srgbClr val="EBEBEF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EBEBEF"/>
                </a:solidFill>
                <a:latin typeface="Calibri"/>
                <a:cs typeface="Calibri"/>
              </a:rPr>
              <a:t>Project</a:t>
            </a:r>
            <a:r>
              <a:rPr sz="1100" i="1" spc="130" dirty="0">
                <a:solidFill>
                  <a:srgbClr val="EBEBEF"/>
                </a:solidFill>
                <a:latin typeface="Calibri"/>
                <a:cs typeface="Calibri"/>
              </a:rPr>
              <a:t> </a:t>
            </a:r>
            <a:r>
              <a:rPr sz="1100" i="1" spc="295" dirty="0">
                <a:solidFill>
                  <a:srgbClr val="EBEBEF"/>
                </a:solidFill>
                <a:latin typeface="Calibri"/>
                <a:cs typeface="Calibri"/>
              </a:rPr>
              <a:t>•</a:t>
            </a:r>
            <a:r>
              <a:rPr sz="1100" i="1" spc="135" dirty="0">
                <a:solidFill>
                  <a:srgbClr val="EBEBEF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EBEBEF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14399"/>
              </a:lnSpc>
              <a:spcBef>
                <a:spcPts val="185"/>
              </a:spcBef>
              <a:tabLst>
                <a:tab pos="1264920" algn="l"/>
                <a:tab pos="1353820" algn="l"/>
                <a:tab pos="2575560" algn="l"/>
              </a:tabLst>
            </a:pPr>
            <a:r>
              <a:rPr sz="1200" spc="-180" dirty="0">
                <a:solidFill>
                  <a:srgbClr val="FFFFFF"/>
                </a:solidFill>
                <a:latin typeface="Arial Black"/>
                <a:cs typeface="Arial Black"/>
              </a:rPr>
              <a:t>Tasneem</a:t>
            </a:r>
            <a:r>
              <a:rPr sz="12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Black"/>
                <a:cs typeface="Arial Black"/>
              </a:rPr>
              <a:t>Amein</a:t>
            </a:r>
            <a:r>
              <a:rPr sz="12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200" spc="420" dirty="0">
                <a:solidFill>
                  <a:srgbClr val="FFFFFF"/>
                </a:solidFill>
                <a:latin typeface="Arial Black"/>
                <a:cs typeface="Arial Black"/>
              </a:rPr>
              <a:t>•</a:t>
            </a:r>
            <a:r>
              <a:rPr sz="1200" spc="2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Ibrahim</a:t>
            </a:r>
            <a:r>
              <a:rPr sz="1200" spc="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Black"/>
                <a:cs typeface="Arial Black"/>
              </a:rPr>
              <a:t>Samy</a:t>
            </a:r>
            <a:r>
              <a:rPr sz="12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200" spc="420" dirty="0">
                <a:solidFill>
                  <a:srgbClr val="FFFFFF"/>
                </a:solidFill>
                <a:latin typeface="Arial Black"/>
                <a:cs typeface="Arial Black"/>
              </a:rPr>
              <a:t>•</a:t>
            </a:r>
            <a:r>
              <a:rPr sz="1200" spc="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Khaled</a:t>
            </a:r>
            <a:r>
              <a:rPr sz="12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Mogahed Mahmoud</a:t>
            </a:r>
            <a:r>
              <a:rPr sz="1200" spc="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Black"/>
                <a:cs typeface="Arial Black"/>
              </a:rPr>
              <a:t>Ashraf</a:t>
            </a:r>
            <a:r>
              <a:rPr sz="12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200" spc="420" dirty="0">
                <a:solidFill>
                  <a:srgbClr val="FFFFFF"/>
                </a:solidFill>
                <a:latin typeface="Arial Black"/>
                <a:cs typeface="Arial Black"/>
              </a:rPr>
              <a:t>•</a:t>
            </a:r>
            <a:r>
              <a:rPr sz="1200" spc="2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 Black"/>
                <a:cs typeface="Arial Black"/>
              </a:rPr>
              <a:t>Mohab</a:t>
            </a:r>
            <a:r>
              <a:rPr sz="12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Black"/>
                <a:cs typeface="Arial Black"/>
              </a:rPr>
              <a:t>Tarek</a:t>
            </a:r>
            <a:endParaRPr sz="1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100" spc="-40" dirty="0">
                <a:solidFill>
                  <a:srgbClr val="E5E5EB"/>
                </a:solidFill>
                <a:latin typeface="Tahoma"/>
                <a:cs typeface="Tahoma"/>
              </a:rPr>
              <a:t>Supervisor:</a:t>
            </a:r>
            <a:r>
              <a:rPr sz="1100" spc="20" dirty="0">
                <a:solidFill>
                  <a:srgbClr val="E5E5E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E5E5EB"/>
                </a:solidFill>
                <a:latin typeface="Arial Black"/>
                <a:cs typeface="Arial Black"/>
              </a:rPr>
              <a:t>Dr.</a:t>
            </a:r>
            <a:r>
              <a:rPr sz="1100" spc="-20" dirty="0">
                <a:solidFill>
                  <a:srgbClr val="E5E5EB"/>
                </a:solidFill>
                <a:latin typeface="Arial Black"/>
                <a:cs typeface="Arial Black"/>
              </a:rPr>
              <a:t> </a:t>
            </a:r>
            <a:r>
              <a:rPr sz="1100" spc="-150" dirty="0">
                <a:solidFill>
                  <a:srgbClr val="E5E5EB"/>
                </a:solidFill>
                <a:latin typeface="Arial Black"/>
                <a:cs typeface="Arial Black"/>
              </a:rPr>
              <a:t>Salma</a:t>
            </a:r>
            <a:r>
              <a:rPr sz="1100" spc="30" dirty="0">
                <a:solidFill>
                  <a:srgbClr val="E5E5EB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E5E5EB"/>
                </a:solidFill>
                <a:latin typeface="Arial Black"/>
                <a:cs typeface="Arial Black"/>
              </a:rPr>
              <a:t>Sobhy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087" y="2954907"/>
            <a:ext cx="866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40" dirty="0">
                <a:solidFill>
                  <a:srgbClr val="FFFFFF"/>
                </a:solidFill>
                <a:latin typeface="Arial Black"/>
                <a:cs typeface="Arial Black"/>
              </a:rPr>
              <a:t>Intake</a:t>
            </a:r>
            <a:r>
              <a:rPr sz="11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46</a:t>
            </a:r>
            <a:r>
              <a:rPr sz="1100" spc="3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325" dirty="0">
                <a:solidFill>
                  <a:srgbClr val="FFFFFF"/>
                </a:solidFill>
                <a:latin typeface="Arial Black"/>
                <a:cs typeface="Arial Black"/>
              </a:rPr>
              <a:t>•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9548" y="2954907"/>
            <a:ext cx="3590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solidFill>
                  <a:srgbClr val="FFFFFF"/>
                </a:solidFill>
                <a:latin typeface="Arial Black"/>
                <a:cs typeface="Arial Black"/>
              </a:rPr>
              <a:t>Telco-Cloud</a:t>
            </a:r>
            <a:r>
              <a:rPr sz="11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Track</a:t>
            </a:r>
            <a:r>
              <a:rPr sz="1100" spc="85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1100" spc="375" dirty="0">
                <a:solidFill>
                  <a:srgbClr val="FFFFFF"/>
                </a:solidFill>
                <a:latin typeface="Arial Black"/>
                <a:cs typeface="Arial Black"/>
              </a:rPr>
              <a:t>•</a:t>
            </a:r>
            <a:r>
              <a:rPr sz="1100" spc="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20" dirty="0">
                <a:solidFill>
                  <a:srgbClr val="FFFFFF"/>
                </a:solidFill>
                <a:latin typeface="Arial Black"/>
                <a:cs typeface="Arial Black"/>
              </a:rPr>
              <a:t>Information</a:t>
            </a:r>
            <a:r>
              <a:rPr sz="11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45" dirty="0">
                <a:solidFill>
                  <a:srgbClr val="FFFFFF"/>
                </a:solidFill>
                <a:latin typeface="Arial Black"/>
                <a:cs typeface="Arial Black"/>
              </a:rPr>
              <a:t>Technology</a:t>
            </a:r>
            <a:r>
              <a:rPr sz="11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Institute</a:t>
            </a:r>
            <a:endParaRPr sz="1100">
              <a:latin typeface="Arial Black"/>
              <a:cs typeface="Arial Black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40" dirty="0"/>
              <a:t>Agenda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53" y="861132"/>
            <a:ext cx="175450" cy="175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786" y="86814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7EA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636" y="819752"/>
            <a:ext cx="2886710" cy="179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Introduction,</a:t>
            </a:r>
            <a:r>
              <a:rPr sz="1200" spc="5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Architecture</a:t>
            </a:r>
            <a:r>
              <a:rPr sz="1200" spc="10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200" spc="70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1200" spc="10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200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KPI</a:t>
            </a:r>
            <a:r>
              <a:rPr sz="1200" spc="5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200" spc="-40" dirty="0">
                <a:solidFill>
                  <a:srgbClr val="13132C"/>
                </a:solidFill>
                <a:latin typeface="Tahoma"/>
                <a:cs typeface="Tahoma"/>
                <a:hlinkClick r:id="rId3" action="ppaction://hlinksldjump"/>
              </a:rPr>
              <a:t>Degradation</a:t>
            </a:r>
            <a:endParaRPr sz="1200" dirty="0">
              <a:latin typeface="Tahoma"/>
              <a:cs typeface="Tahoma"/>
            </a:endParaRPr>
          </a:p>
          <a:p>
            <a:pPr marL="12700" marR="1035050">
              <a:lnSpc>
                <a:spcPct val="217400"/>
              </a:lnSpc>
            </a:pPr>
            <a:r>
              <a:rPr sz="1200" dirty="0">
                <a:solidFill>
                  <a:srgbClr val="13132C"/>
                </a:solidFill>
                <a:latin typeface="Tahoma"/>
                <a:cs typeface="Tahoma"/>
                <a:hlinkClick r:id="rId4" action="ppaction://hlinksldjump"/>
              </a:rPr>
              <a:t>KPI</a:t>
            </a:r>
            <a:r>
              <a:rPr sz="1200" spc="35" dirty="0">
                <a:solidFill>
                  <a:srgbClr val="13132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  <a:hlinkClick r:id="rId4" action="ppaction://hlinksldjump"/>
              </a:rPr>
              <a:t>Forecasting</a:t>
            </a:r>
            <a:r>
              <a:rPr sz="1200" spc="30" dirty="0">
                <a:solidFill>
                  <a:srgbClr val="13132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  <a:hlinkClick r:id="rId4" action="ppaction://hlinksldjump"/>
              </a:rPr>
              <a:t>Engine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3132C"/>
                </a:solidFill>
                <a:latin typeface="Tahoma"/>
                <a:cs typeface="Tahoma"/>
                <a:hlinkClick r:id="rId5" action="ppaction://hlinksldjump"/>
              </a:rPr>
              <a:t>Optimization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  <a:hlinkClick r:id="rId5" action="ppaction://hlinksldjump"/>
              </a:rPr>
              <a:t>Action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200" spc="-50" dirty="0">
                <a:solidFill>
                  <a:srgbClr val="13132C"/>
                </a:solidFill>
                <a:latin typeface="Tahoma"/>
                <a:cs typeface="Tahoma"/>
                <a:hlinkClick r:id="rId5" action="ppaction://hlinksldjump"/>
              </a:rPr>
              <a:t>Analyzer</a:t>
            </a:r>
            <a:r>
              <a:rPr sz="1200" spc="-5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3132C"/>
                </a:solidFill>
                <a:latin typeface="Tahoma"/>
                <a:cs typeface="Tahoma"/>
                <a:hlinkClick r:id="rId6" action="ppaction://hlinksldjump"/>
              </a:rPr>
              <a:t>Telecom</a:t>
            </a:r>
            <a:r>
              <a:rPr sz="1200" spc="5" dirty="0">
                <a:solidFill>
                  <a:srgbClr val="13132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200" dirty="0">
                <a:solidFill>
                  <a:srgbClr val="13132C"/>
                </a:solidFill>
                <a:latin typeface="Tahoma"/>
                <a:cs typeface="Tahoma"/>
                <a:hlinkClick r:id="rId6" action="ppaction://hlinksldjump"/>
              </a:rPr>
              <a:t>RAG</a:t>
            </a:r>
            <a:r>
              <a:rPr sz="1200" spc="5" dirty="0">
                <a:solidFill>
                  <a:srgbClr val="13132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200" spc="-10" dirty="0" smtClean="0">
                <a:solidFill>
                  <a:srgbClr val="13132C"/>
                </a:solidFill>
                <a:latin typeface="Tahoma"/>
                <a:cs typeface="Tahoma"/>
                <a:hlinkClick r:id="rId6" action="ppaction://hlinksldjump"/>
              </a:rPr>
              <a:t>Assistant</a:t>
            </a:r>
            <a:endParaRPr sz="1200" dirty="0" smtClean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 dirty="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70" dirty="0" smtClean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Software</a:t>
            </a:r>
            <a:r>
              <a:rPr sz="1200" spc="-5" dirty="0" smtClean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Testing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200" spc="70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&amp;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Experimental</a:t>
            </a:r>
            <a:r>
              <a:rPr sz="1200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  <a:hlinkClick r:id="rId7" action="ppaction://hlinksldjump"/>
              </a:rPr>
              <a:t>Results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653" y="1182192"/>
            <a:ext cx="175450" cy="1754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2786" y="11892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7EA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653" y="1579765"/>
            <a:ext cx="175450" cy="175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2786" y="158678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7EA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653" y="1977339"/>
            <a:ext cx="175450" cy="1754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2786" y="198436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7EA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653" y="2443076"/>
            <a:ext cx="175450" cy="1754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2786" y="245009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7EA"/>
                </a:solidFill>
                <a:latin typeface="Tahoma"/>
                <a:cs typeface="Tahoma"/>
              </a:rPr>
              <a:t>5</a:t>
            </a:r>
            <a:endParaRPr sz="8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5" name="object 1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27" y="874331"/>
            <a:ext cx="4523105" cy="494030"/>
            <a:chOff x="97827" y="874331"/>
            <a:chExt cx="4523105" cy="494030"/>
          </a:xfrm>
        </p:grpSpPr>
        <p:sp>
          <p:nvSpPr>
            <p:cNvPr id="3" name="object 3"/>
            <p:cNvSpPr/>
            <p:nvPr/>
          </p:nvSpPr>
          <p:spPr>
            <a:xfrm>
              <a:off x="97827" y="874331"/>
              <a:ext cx="4472305" cy="82550"/>
            </a:xfrm>
            <a:custGeom>
              <a:avLst/>
              <a:gdLst/>
              <a:ahLst/>
              <a:cxnLst/>
              <a:rect l="l" t="t" r="r" b="b"/>
              <a:pathLst>
                <a:path w="4472305" h="82550">
                  <a:moveTo>
                    <a:pt x="442106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71864" y="82384"/>
                  </a:lnTo>
                  <a:lnTo>
                    <a:pt x="4471864" y="50800"/>
                  </a:lnTo>
                  <a:lnTo>
                    <a:pt x="4467855" y="31075"/>
                  </a:lnTo>
                  <a:lnTo>
                    <a:pt x="4456941" y="14922"/>
                  </a:lnTo>
                  <a:lnTo>
                    <a:pt x="4440788" y="4008"/>
                  </a:lnTo>
                  <a:lnTo>
                    <a:pt x="4421063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37580"/>
              <a:ext cx="4472305" cy="431165"/>
            </a:xfrm>
            <a:custGeom>
              <a:avLst/>
              <a:gdLst/>
              <a:ahLst/>
              <a:cxnLst/>
              <a:rect l="l" t="t" r="r" b="b"/>
              <a:pathLst>
                <a:path w="4472305" h="431165">
                  <a:moveTo>
                    <a:pt x="4471864" y="0"/>
                  </a:moveTo>
                  <a:lnTo>
                    <a:pt x="0" y="0"/>
                  </a:lnTo>
                  <a:lnTo>
                    <a:pt x="0" y="430667"/>
                  </a:lnTo>
                  <a:lnTo>
                    <a:pt x="4471864" y="430667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27" y="918743"/>
              <a:ext cx="4472305" cy="398780"/>
            </a:xfrm>
            <a:custGeom>
              <a:avLst/>
              <a:gdLst/>
              <a:ahLst/>
              <a:cxnLst/>
              <a:rect l="l" t="t" r="r" b="b"/>
              <a:pathLst>
                <a:path w="4472305" h="398780">
                  <a:moveTo>
                    <a:pt x="4471864" y="0"/>
                  </a:moveTo>
                  <a:lnTo>
                    <a:pt x="0" y="0"/>
                  </a:lnTo>
                  <a:lnTo>
                    <a:pt x="0" y="347903"/>
                  </a:lnTo>
                  <a:lnTo>
                    <a:pt x="4008" y="367627"/>
                  </a:lnTo>
                  <a:lnTo>
                    <a:pt x="14922" y="383780"/>
                  </a:lnTo>
                  <a:lnTo>
                    <a:pt x="31075" y="394695"/>
                  </a:lnTo>
                  <a:lnTo>
                    <a:pt x="50800" y="398703"/>
                  </a:lnTo>
                  <a:lnTo>
                    <a:pt x="4421063" y="398703"/>
                  </a:lnTo>
                  <a:lnTo>
                    <a:pt x="4440788" y="394695"/>
                  </a:lnTo>
                  <a:lnTo>
                    <a:pt x="4456941" y="383780"/>
                  </a:lnTo>
                  <a:lnTo>
                    <a:pt x="4467855" y="367627"/>
                  </a:lnTo>
                  <a:lnTo>
                    <a:pt x="4471864" y="347903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48628" y="937580"/>
            <a:ext cx="4472305" cy="431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pc="-190" dirty="0"/>
              <a:t>Tasneem</a:t>
            </a:r>
            <a:r>
              <a:rPr spc="105" dirty="0"/>
              <a:t> </a:t>
            </a:r>
            <a:r>
              <a:rPr spc="-20" dirty="0"/>
              <a:t>Amein</a:t>
            </a:r>
          </a:p>
        </p:txBody>
      </p:sp>
      <p:sp>
        <p:nvSpPr>
          <p:cNvPr id="7" name="object 7"/>
          <p:cNvSpPr/>
          <p:nvPr/>
        </p:nvSpPr>
        <p:spPr>
          <a:xfrm>
            <a:off x="97815" y="1499501"/>
            <a:ext cx="4472305" cy="584835"/>
          </a:xfrm>
          <a:custGeom>
            <a:avLst/>
            <a:gdLst/>
            <a:ahLst/>
            <a:cxnLst/>
            <a:rect l="l" t="t" r="r" b="b"/>
            <a:pathLst>
              <a:path w="4472305" h="584835">
                <a:moveTo>
                  <a:pt x="4471873" y="44424"/>
                </a:moveTo>
                <a:lnTo>
                  <a:pt x="4470565" y="44424"/>
                </a:lnTo>
                <a:lnTo>
                  <a:pt x="4467860" y="31076"/>
                </a:lnTo>
                <a:lnTo>
                  <a:pt x="4456950" y="14922"/>
                </a:lnTo>
                <a:lnTo>
                  <a:pt x="4440796" y="4013"/>
                </a:lnTo>
                <a:lnTo>
                  <a:pt x="44210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533603"/>
                </a:lnTo>
                <a:lnTo>
                  <a:pt x="4013" y="553339"/>
                </a:lnTo>
                <a:lnTo>
                  <a:pt x="14922" y="569493"/>
                </a:lnTo>
                <a:lnTo>
                  <a:pt x="31076" y="580402"/>
                </a:lnTo>
                <a:lnTo>
                  <a:pt x="50812" y="584415"/>
                </a:lnTo>
                <a:lnTo>
                  <a:pt x="4421073" y="584415"/>
                </a:lnTo>
                <a:lnTo>
                  <a:pt x="4440796" y="580402"/>
                </a:lnTo>
                <a:lnTo>
                  <a:pt x="4456950" y="569493"/>
                </a:lnTo>
                <a:lnTo>
                  <a:pt x="4467860" y="553339"/>
                </a:lnTo>
                <a:lnTo>
                  <a:pt x="4471873" y="533603"/>
                </a:lnTo>
                <a:lnTo>
                  <a:pt x="4471873" y="82384"/>
                </a:lnTo>
                <a:lnTo>
                  <a:pt x="4471873" y="50800"/>
                </a:lnTo>
                <a:lnTo>
                  <a:pt x="4471873" y="44424"/>
                </a:lnTo>
                <a:close/>
              </a:path>
            </a:pathLst>
          </a:custGeom>
          <a:solidFill>
            <a:srgbClr val="E5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4467" y="1586049"/>
            <a:ext cx="41998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7780" marR="5080" indent="-1275715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132C"/>
                </a:solidFill>
                <a:latin typeface="Tahoma"/>
                <a:cs typeface="Tahoma"/>
              </a:rPr>
              <a:t>Problem</a:t>
            </a:r>
            <a:r>
              <a:rPr sz="1200" spc="-2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3132C"/>
                </a:solidFill>
                <a:latin typeface="Tahoma"/>
                <a:cs typeface="Tahoma"/>
              </a:rPr>
              <a:t>Statement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2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Proposed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3132C"/>
                </a:solidFill>
                <a:latin typeface="Tahoma"/>
                <a:cs typeface="Tahoma"/>
              </a:rPr>
              <a:t>Solution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3132C"/>
                </a:solidFill>
                <a:latin typeface="Tahoma"/>
                <a:cs typeface="Tahoma"/>
              </a:rPr>
              <a:t>Overall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3132C"/>
                </a:solidFill>
                <a:latin typeface="Tahoma"/>
                <a:cs typeface="Tahoma"/>
              </a:rPr>
              <a:t>Architecture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05" dirty="0">
                <a:solidFill>
                  <a:srgbClr val="13132C"/>
                </a:solidFill>
                <a:latin typeface="Tahoma"/>
                <a:cs typeface="Tahoma"/>
              </a:rPr>
              <a:t>• </a:t>
            </a:r>
            <a:r>
              <a:rPr sz="1200" dirty="0">
                <a:solidFill>
                  <a:srgbClr val="13132C"/>
                </a:solidFill>
                <a:latin typeface="Tahoma"/>
                <a:cs typeface="Tahoma"/>
              </a:rPr>
              <a:t>KPI</a:t>
            </a:r>
            <a:r>
              <a:rPr sz="1200" spc="3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Degradation</a:t>
            </a:r>
            <a:r>
              <a:rPr sz="1200" spc="3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Analyzer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1662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r>
              <a:rPr sz="14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Arial Black"/>
                <a:cs typeface="Arial Black"/>
              </a:rPr>
              <a:t>Statement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7520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 Black"/>
                <a:cs typeface="Arial Black"/>
              </a:rPr>
              <a:t>Motivation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 &amp;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Objectives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5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3825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35" dirty="0">
                <a:solidFill>
                  <a:srgbClr val="FFFFFF"/>
                </a:solidFill>
                <a:latin typeface="Arial Black"/>
                <a:cs typeface="Arial Black"/>
              </a:rPr>
              <a:t>Proposed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Solution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6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5" dirty="0"/>
              <a:t>Overall</a:t>
            </a:r>
            <a:r>
              <a:rPr spc="35" dirty="0"/>
              <a:t> </a:t>
            </a:r>
            <a:r>
              <a:rPr spc="-165" dirty="0"/>
              <a:t>System</a:t>
            </a:r>
            <a:r>
              <a:rPr spc="50" dirty="0"/>
              <a:t> </a:t>
            </a:r>
            <a:r>
              <a:rPr spc="-12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0199" y="1473960"/>
            <a:ext cx="1759585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screenshots/tasneem/system_architecture.png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7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6060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70" dirty="0">
                <a:solidFill>
                  <a:srgbClr val="FFFFFF"/>
                </a:solidFill>
                <a:latin typeface="Arial Black"/>
                <a:cs typeface="Arial Black"/>
              </a:rPr>
              <a:t>Telecom</a:t>
            </a:r>
            <a:r>
              <a:rPr sz="14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Hub</a:t>
            </a:r>
            <a:r>
              <a:rPr sz="14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Arial Black"/>
                <a:cs typeface="Arial Black"/>
              </a:rPr>
              <a:t>Landing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Arial Black"/>
                <a:cs typeface="Arial Black"/>
              </a:rPr>
              <a:t>Page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015" y="1473960"/>
            <a:ext cx="1494155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screenshots/tasneem/hub_landing.png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8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401827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KPI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Degradation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Analyzer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Module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9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2148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KPI</a:t>
            </a:r>
            <a:r>
              <a:rPr sz="140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Arial Black"/>
                <a:cs typeface="Arial Black"/>
              </a:rPr>
              <a:t>Categories</a:t>
            </a:r>
            <a:r>
              <a:rPr sz="1400" spc="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Monitored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10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35648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Detection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Pipeline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Root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Arial Black"/>
                <a:cs typeface="Arial Black"/>
              </a:rPr>
              <a:t>Cause</a:t>
            </a:r>
            <a:r>
              <a:rPr sz="1400" spc="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11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KPI</a:t>
            </a:r>
            <a:r>
              <a:rPr spc="25" dirty="0"/>
              <a:t> </a:t>
            </a:r>
            <a:r>
              <a:rPr spc="-130" dirty="0"/>
              <a:t>Degradation</a:t>
            </a:r>
            <a:r>
              <a:rPr spc="30" dirty="0"/>
              <a:t> </a:t>
            </a:r>
            <a:r>
              <a:rPr spc="-125" dirty="0"/>
              <a:t>Analyzer</a:t>
            </a:r>
            <a:r>
              <a:rPr spc="25" dirty="0"/>
              <a:t> </a:t>
            </a:r>
            <a:r>
              <a:rPr spc="165" dirty="0"/>
              <a:t>—</a:t>
            </a:r>
            <a:r>
              <a:rPr spc="30" dirty="0"/>
              <a:t> </a:t>
            </a:r>
            <a:r>
              <a:rPr spc="-120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0366" y="1473960"/>
            <a:ext cx="171958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screenshots/tasneem/kpi_degradation_ui.png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12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304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KPI</a:t>
            </a:r>
            <a:r>
              <a:rPr spc="10" dirty="0"/>
              <a:t> </a:t>
            </a:r>
            <a:r>
              <a:rPr spc="-130" dirty="0"/>
              <a:t>Degradation</a:t>
            </a:r>
            <a:r>
              <a:rPr spc="25" dirty="0"/>
              <a:t> </a:t>
            </a:r>
            <a:r>
              <a:rPr spc="165" dirty="0"/>
              <a:t>—</a:t>
            </a:r>
            <a:r>
              <a:rPr spc="25" dirty="0"/>
              <a:t> </a:t>
            </a:r>
            <a:r>
              <a:rPr spc="-150" dirty="0"/>
              <a:t>Sample</a:t>
            </a:r>
            <a:r>
              <a:rPr spc="35" dirty="0"/>
              <a:t> </a:t>
            </a:r>
            <a:r>
              <a:rPr spc="-12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9541" y="1473960"/>
            <a:ext cx="192151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screenshots/tasneem/kpi_degradation_results.png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13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27" y="860157"/>
            <a:ext cx="4523105" cy="529590"/>
            <a:chOff x="97827" y="860157"/>
            <a:chExt cx="4523105" cy="529590"/>
          </a:xfrm>
        </p:grpSpPr>
        <p:sp>
          <p:nvSpPr>
            <p:cNvPr id="3" name="object 3"/>
            <p:cNvSpPr/>
            <p:nvPr/>
          </p:nvSpPr>
          <p:spPr>
            <a:xfrm>
              <a:off x="97827" y="860157"/>
              <a:ext cx="4472305" cy="82550"/>
            </a:xfrm>
            <a:custGeom>
              <a:avLst/>
              <a:gdLst/>
              <a:ahLst/>
              <a:cxnLst/>
              <a:rect l="l" t="t" r="r" b="b"/>
              <a:pathLst>
                <a:path w="4472305" h="82550">
                  <a:moveTo>
                    <a:pt x="442106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71864" y="82384"/>
                  </a:lnTo>
                  <a:lnTo>
                    <a:pt x="4471864" y="50800"/>
                  </a:lnTo>
                  <a:lnTo>
                    <a:pt x="4467855" y="31075"/>
                  </a:lnTo>
                  <a:lnTo>
                    <a:pt x="4456941" y="14922"/>
                  </a:lnTo>
                  <a:lnTo>
                    <a:pt x="4440788" y="4008"/>
                  </a:lnTo>
                  <a:lnTo>
                    <a:pt x="4421063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23413"/>
              <a:ext cx="4472305" cy="466090"/>
            </a:xfrm>
            <a:custGeom>
              <a:avLst/>
              <a:gdLst/>
              <a:ahLst/>
              <a:cxnLst/>
              <a:rect l="l" t="t" r="r" b="b"/>
              <a:pathLst>
                <a:path w="4472305" h="466090">
                  <a:moveTo>
                    <a:pt x="4471864" y="0"/>
                  </a:moveTo>
                  <a:lnTo>
                    <a:pt x="0" y="0"/>
                  </a:lnTo>
                  <a:lnTo>
                    <a:pt x="0" y="466094"/>
                  </a:lnTo>
                  <a:lnTo>
                    <a:pt x="4471864" y="466094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27" y="904576"/>
              <a:ext cx="4472305" cy="434340"/>
            </a:xfrm>
            <a:custGeom>
              <a:avLst/>
              <a:gdLst/>
              <a:ahLst/>
              <a:cxnLst/>
              <a:rect l="l" t="t" r="r" b="b"/>
              <a:pathLst>
                <a:path w="4472305" h="434340">
                  <a:moveTo>
                    <a:pt x="4471864" y="0"/>
                  </a:moveTo>
                  <a:lnTo>
                    <a:pt x="0" y="0"/>
                  </a:lnTo>
                  <a:lnTo>
                    <a:pt x="0" y="383330"/>
                  </a:lnTo>
                  <a:lnTo>
                    <a:pt x="4008" y="403055"/>
                  </a:lnTo>
                  <a:lnTo>
                    <a:pt x="14922" y="419208"/>
                  </a:lnTo>
                  <a:lnTo>
                    <a:pt x="31075" y="430122"/>
                  </a:lnTo>
                  <a:lnTo>
                    <a:pt x="50800" y="434130"/>
                  </a:lnTo>
                  <a:lnTo>
                    <a:pt x="4421063" y="434130"/>
                  </a:lnTo>
                  <a:lnTo>
                    <a:pt x="4440788" y="430122"/>
                  </a:lnTo>
                  <a:lnTo>
                    <a:pt x="4456941" y="419208"/>
                  </a:lnTo>
                  <a:lnTo>
                    <a:pt x="4467855" y="403055"/>
                  </a:lnTo>
                  <a:lnTo>
                    <a:pt x="4471864" y="383330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628" y="923413"/>
            <a:ext cx="4472305" cy="4660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z="1400" spc="-140" dirty="0">
                <a:solidFill>
                  <a:srgbClr val="FFFFFF"/>
                </a:solidFill>
                <a:latin typeface="Arial Black"/>
                <a:cs typeface="Arial Black"/>
              </a:rPr>
              <a:t>Ibrahim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Black"/>
                <a:cs typeface="Arial Black"/>
              </a:rPr>
              <a:t>Samy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815" y="1520761"/>
            <a:ext cx="4472305" cy="584835"/>
          </a:xfrm>
          <a:custGeom>
            <a:avLst/>
            <a:gdLst/>
            <a:ahLst/>
            <a:cxnLst/>
            <a:rect l="l" t="t" r="r" b="b"/>
            <a:pathLst>
              <a:path w="4472305" h="584835">
                <a:moveTo>
                  <a:pt x="4471873" y="44424"/>
                </a:moveTo>
                <a:lnTo>
                  <a:pt x="4470565" y="44424"/>
                </a:lnTo>
                <a:lnTo>
                  <a:pt x="4467860" y="31076"/>
                </a:lnTo>
                <a:lnTo>
                  <a:pt x="4456950" y="14922"/>
                </a:lnTo>
                <a:lnTo>
                  <a:pt x="4440796" y="4013"/>
                </a:lnTo>
                <a:lnTo>
                  <a:pt x="44210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533603"/>
                </a:lnTo>
                <a:lnTo>
                  <a:pt x="4013" y="553339"/>
                </a:lnTo>
                <a:lnTo>
                  <a:pt x="14922" y="569493"/>
                </a:lnTo>
                <a:lnTo>
                  <a:pt x="31076" y="580402"/>
                </a:lnTo>
                <a:lnTo>
                  <a:pt x="50812" y="584415"/>
                </a:lnTo>
                <a:lnTo>
                  <a:pt x="4421073" y="584415"/>
                </a:lnTo>
                <a:lnTo>
                  <a:pt x="4440796" y="580402"/>
                </a:lnTo>
                <a:lnTo>
                  <a:pt x="4456950" y="569493"/>
                </a:lnTo>
                <a:lnTo>
                  <a:pt x="4467860" y="553339"/>
                </a:lnTo>
                <a:lnTo>
                  <a:pt x="4471873" y="533603"/>
                </a:lnTo>
                <a:lnTo>
                  <a:pt x="4471873" y="82384"/>
                </a:lnTo>
                <a:lnTo>
                  <a:pt x="4471873" y="50800"/>
                </a:lnTo>
                <a:lnTo>
                  <a:pt x="4471873" y="44424"/>
                </a:lnTo>
                <a:close/>
              </a:path>
            </a:pathLst>
          </a:custGeom>
          <a:solidFill>
            <a:srgbClr val="E5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9930" y="1607309"/>
            <a:ext cx="37477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8095" marR="5080" indent="-125603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132C"/>
                </a:solidFill>
                <a:latin typeface="Tahoma"/>
                <a:cs typeface="Tahoma"/>
              </a:rPr>
              <a:t>KPI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Forecasting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Engine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3132C"/>
                </a:solidFill>
                <a:latin typeface="Tahoma"/>
                <a:cs typeface="Tahoma"/>
              </a:rPr>
              <a:t>Models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3132C"/>
                </a:solidFill>
                <a:latin typeface="Tahoma"/>
                <a:cs typeface="Tahoma"/>
              </a:rPr>
              <a:t>Feature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Engineering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05" dirty="0">
                <a:solidFill>
                  <a:srgbClr val="13132C"/>
                </a:solidFill>
                <a:latin typeface="Tahoma"/>
                <a:cs typeface="Tahoma"/>
              </a:rPr>
              <a:t>• </a:t>
            </a:r>
            <a:r>
              <a:rPr sz="1200" spc="-40" dirty="0">
                <a:solidFill>
                  <a:srgbClr val="13132C"/>
                </a:solidFill>
                <a:latin typeface="Tahoma"/>
                <a:cs typeface="Tahoma"/>
              </a:rPr>
              <a:t>Accuracy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70" dirty="0">
                <a:solidFill>
                  <a:srgbClr val="13132C"/>
                </a:solidFill>
                <a:latin typeface="Tahoma"/>
                <a:cs typeface="Tahoma"/>
              </a:rPr>
              <a:t>&amp;</a:t>
            </a:r>
            <a:r>
              <a:rPr sz="1200" spc="-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Results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14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36899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65" dirty="0">
                <a:solidFill>
                  <a:srgbClr val="FFFFFF"/>
                </a:solidFill>
                <a:latin typeface="Arial Black"/>
                <a:cs typeface="Arial Black"/>
              </a:rPr>
              <a:t>Forecasting</a:t>
            </a:r>
            <a:r>
              <a:rPr sz="1400" spc="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Module</a:t>
            </a:r>
            <a:r>
              <a:rPr sz="14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r>
              <a:rPr sz="1400" spc="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Motivation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15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4277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65" dirty="0">
                <a:solidFill>
                  <a:srgbClr val="FFFFFF"/>
                </a:solidFill>
                <a:latin typeface="Arial Black"/>
                <a:cs typeface="Arial Black"/>
              </a:rPr>
              <a:t>Forecasting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Arial Black"/>
                <a:cs typeface="Arial Black"/>
              </a:rPr>
              <a:t>Approach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XGBoost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Arial Black"/>
                <a:cs typeface="Arial Black"/>
              </a:rPr>
              <a:t>Holt-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Winters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16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4213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45" dirty="0">
                <a:solidFill>
                  <a:srgbClr val="FFFFFF"/>
                </a:solidFill>
                <a:latin typeface="Arial Black"/>
                <a:cs typeface="Arial Black"/>
              </a:rPr>
              <a:t>Feature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Arial Black"/>
                <a:cs typeface="Arial Black"/>
              </a:rPr>
              <a:t>Engineering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Arial Black"/>
                <a:cs typeface="Arial Black"/>
              </a:rPr>
              <a:t>Seasonality</a:t>
            </a:r>
            <a:r>
              <a:rPr sz="1400" spc="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Decomposition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17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5" dirty="0"/>
              <a:t>Forecasting</a:t>
            </a:r>
            <a:r>
              <a:rPr spc="60" dirty="0"/>
              <a:t> </a:t>
            </a:r>
            <a:r>
              <a:rPr spc="-100" dirty="0"/>
              <a:t>Module</a:t>
            </a:r>
            <a:r>
              <a:rPr spc="60" dirty="0"/>
              <a:t> </a:t>
            </a:r>
            <a:r>
              <a:rPr spc="165" dirty="0"/>
              <a:t>—</a:t>
            </a:r>
            <a:r>
              <a:rPr spc="65" dirty="0"/>
              <a:t> </a:t>
            </a:r>
            <a:r>
              <a:rPr spc="-120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1024" y="1473960"/>
            <a:ext cx="155829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screenshots/ibrahim/forecasting_ui.png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18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Model</a:t>
            </a:r>
            <a:r>
              <a:rPr spc="10" dirty="0"/>
              <a:t> </a:t>
            </a:r>
            <a:r>
              <a:rPr spc="-130" dirty="0"/>
              <a:t>Evaluation</a:t>
            </a:r>
            <a:r>
              <a:rPr spc="35" dirty="0"/>
              <a:t> </a:t>
            </a:r>
            <a:r>
              <a:rPr dirty="0"/>
              <a:t>&amp;</a:t>
            </a:r>
            <a:r>
              <a:rPr spc="35" dirty="0"/>
              <a:t> </a:t>
            </a:r>
            <a:r>
              <a:rPr spc="-180" dirty="0"/>
              <a:t>Accuracy</a:t>
            </a:r>
            <a:r>
              <a:rPr spc="55" dirty="0"/>
              <a:t> </a:t>
            </a:r>
            <a:r>
              <a:rPr spc="-9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73960"/>
            <a:ext cx="1638935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screenshots/ibrahim/accuracy_metrics.png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19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26092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7-</a:t>
            </a:r>
            <a:r>
              <a:rPr spc="-85" dirty="0"/>
              <a:t>Day</a:t>
            </a:r>
            <a:r>
              <a:rPr spc="-35" dirty="0"/>
              <a:t> </a:t>
            </a:r>
            <a:r>
              <a:rPr spc="-10" dirty="0"/>
              <a:t>KPI</a:t>
            </a:r>
            <a:r>
              <a:rPr spc="15" dirty="0"/>
              <a:t> </a:t>
            </a:r>
            <a:r>
              <a:rPr spc="-170" dirty="0"/>
              <a:t>Forecast</a:t>
            </a:r>
            <a:r>
              <a:rPr spc="50" dirty="0"/>
              <a:t> </a:t>
            </a:r>
            <a:r>
              <a:rPr spc="165" dirty="0"/>
              <a:t>—</a:t>
            </a:r>
            <a:r>
              <a:rPr spc="15" dirty="0"/>
              <a:t> </a:t>
            </a:r>
            <a:r>
              <a:rPr spc="-6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1024" y="1473960"/>
            <a:ext cx="155829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screenshots/ibrahim/forecast_chart.png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20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XGBoost</a:t>
            </a:r>
            <a:r>
              <a:rPr spc="45" dirty="0"/>
              <a:t> </a:t>
            </a:r>
            <a:r>
              <a:rPr spc="-145" dirty="0"/>
              <a:t>Feature</a:t>
            </a:r>
            <a:r>
              <a:rPr spc="45" dirty="0"/>
              <a:t> </a:t>
            </a:r>
            <a:r>
              <a:rPr spc="-130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0366" y="1473960"/>
            <a:ext cx="171958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screenshots/ibrahim/feature_importance.png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21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27" y="864374"/>
            <a:ext cx="4523105" cy="529590"/>
            <a:chOff x="97827" y="864374"/>
            <a:chExt cx="4523105" cy="529590"/>
          </a:xfrm>
        </p:grpSpPr>
        <p:sp>
          <p:nvSpPr>
            <p:cNvPr id="3" name="object 3"/>
            <p:cNvSpPr/>
            <p:nvPr/>
          </p:nvSpPr>
          <p:spPr>
            <a:xfrm>
              <a:off x="97827" y="864374"/>
              <a:ext cx="4472305" cy="82550"/>
            </a:xfrm>
            <a:custGeom>
              <a:avLst/>
              <a:gdLst/>
              <a:ahLst/>
              <a:cxnLst/>
              <a:rect l="l" t="t" r="r" b="b"/>
              <a:pathLst>
                <a:path w="4472305" h="82550">
                  <a:moveTo>
                    <a:pt x="442106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71864" y="82384"/>
                  </a:lnTo>
                  <a:lnTo>
                    <a:pt x="4471864" y="50800"/>
                  </a:lnTo>
                  <a:lnTo>
                    <a:pt x="4467855" y="31075"/>
                  </a:lnTo>
                  <a:lnTo>
                    <a:pt x="4456941" y="14922"/>
                  </a:lnTo>
                  <a:lnTo>
                    <a:pt x="4440788" y="4008"/>
                  </a:lnTo>
                  <a:lnTo>
                    <a:pt x="4421063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27629"/>
              <a:ext cx="4472305" cy="466090"/>
            </a:xfrm>
            <a:custGeom>
              <a:avLst/>
              <a:gdLst/>
              <a:ahLst/>
              <a:cxnLst/>
              <a:rect l="l" t="t" r="r" b="b"/>
              <a:pathLst>
                <a:path w="4472305" h="466090">
                  <a:moveTo>
                    <a:pt x="4471864" y="0"/>
                  </a:moveTo>
                  <a:lnTo>
                    <a:pt x="0" y="0"/>
                  </a:lnTo>
                  <a:lnTo>
                    <a:pt x="0" y="466094"/>
                  </a:lnTo>
                  <a:lnTo>
                    <a:pt x="4471864" y="466094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27" y="908792"/>
              <a:ext cx="4472305" cy="434340"/>
            </a:xfrm>
            <a:custGeom>
              <a:avLst/>
              <a:gdLst/>
              <a:ahLst/>
              <a:cxnLst/>
              <a:rect l="l" t="t" r="r" b="b"/>
              <a:pathLst>
                <a:path w="4472305" h="434340">
                  <a:moveTo>
                    <a:pt x="4471864" y="0"/>
                  </a:moveTo>
                  <a:lnTo>
                    <a:pt x="0" y="0"/>
                  </a:lnTo>
                  <a:lnTo>
                    <a:pt x="0" y="383330"/>
                  </a:lnTo>
                  <a:lnTo>
                    <a:pt x="4008" y="403055"/>
                  </a:lnTo>
                  <a:lnTo>
                    <a:pt x="14922" y="419208"/>
                  </a:lnTo>
                  <a:lnTo>
                    <a:pt x="31075" y="430122"/>
                  </a:lnTo>
                  <a:lnTo>
                    <a:pt x="50800" y="434130"/>
                  </a:lnTo>
                  <a:lnTo>
                    <a:pt x="4421063" y="434130"/>
                  </a:lnTo>
                  <a:lnTo>
                    <a:pt x="4440788" y="430122"/>
                  </a:lnTo>
                  <a:lnTo>
                    <a:pt x="4456941" y="419208"/>
                  </a:lnTo>
                  <a:lnTo>
                    <a:pt x="4467855" y="403055"/>
                  </a:lnTo>
                  <a:lnTo>
                    <a:pt x="4471864" y="383330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48628" y="927629"/>
            <a:ext cx="4472305" cy="4660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pc="-140" dirty="0"/>
              <a:t>Khaled</a:t>
            </a:r>
            <a:r>
              <a:rPr spc="35" dirty="0"/>
              <a:t> </a:t>
            </a:r>
            <a:r>
              <a:rPr spc="-10" dirty="0"/>
              <a:t>Mogahed</a:t>
            </a:r>
          </a:p>
        </p:txBody>
      </p:sp>
      <p:sp>
        <p:nvSpPr>
          <p:cNvPr id="7" name="object 7"/>
          <p:cNvSpPr/>
          <p:nvPr/>
        </p:nvSpPr>
        <p:spPr>
          <a:xfrm>
            <a:off x="97815" y="1524977"/>
            <a:ext cx="4472305" cy="574040"/>
          </a:xfrm>
          <a:custGeom>
            <a:avLst/>
            <a:gdLst/>
            <a:ahLst/>
            <a:cxnLst/>
            <a:rect l="l" t="t" r="r" b="b"/>
            <a:pathLst>
              <a:path w="4472305" h="574039">
                <a:moveTo>
                  <a:pt x="4471873" y="44424"/>
                </a:moveTo>
                <a:lnTo>
                  <a:pt x="4470565" y="44424"/>
                </a:lnTo>
                <a:lnTo>
                  <a:pt x="4467860" y="31076"/>
                </a:lnTo>
                <a:lnTo>
                  <a:pt x="4456950" y="14922"/>
                </a:lnTo>
                <a:lnTo>
                  <a:pt x="4440796" y="4013"/>
                </a:lnTo>
                <a:lnTo>
                  <a:pt x="44210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523074"/>
                </a:lnTo>
                <a:lnTo>
                  <a:pt x="4013" y="542798"/>
                </a:lnTo>
                <a:lnTo>
                  <a:pt x="14922" y="558952"/>
                </a:lnTo>
                <a:lnTo>
                  <a:pt x="31076" y="569861"/>
                </a:lnTo>
                <a:lnTo>
                  <a:pt x="50812" y="573874"/>
                </a:lnTo>
                <a:lnTo>
                  <a:pt x="4421073" y="573874"/>
                </a:lnTo>
                <a:lnTo>
                  <a:pt x="4440796" y="569861"/>
                </a:lnTo>
                <a:lnTo>
                  <a:pt x="4456950" y="558952"/>
                </a:lnTo>
                <a:lnTo>
                  <a:pt x="4467860" y="542798"/>
                </a:lnTo>
                <a:lnTo>
                  <a:pt x="4471873" y="523074"/>
                </a:lnTo>
                <a:lnTo>
                  <a:pt x="4471873" y="82384"/>
                </a:lnTo>
                <a:lnTo>
                  <a:pt x="4471873" y="50812"/>
                </a:lnTo>
                <a:lnTo>
                  <a:pt x="4471873" y="44424"/>
                </a:lnTo>
                <a:close/>
              </a:path>
            </a:pathLst>
          </a:custGeom>
          <a:solidFill>
            <a:srgbClr val="E5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8236" y="1611525"/>
            <a:ext cx="413194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6235" marR="5080" indent="-161417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13132C"/>
                </a:solidFill>
                <a:latin typeface="Tahoma"/>
                <a:cs typeface="Tahoma"/>
              </a:rPr>
              <a:t>Optimization</a:t>
            </a:r>
            <a:r>
              <a:rPr sz="1200" spc="-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Action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Analyzer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Configuration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3132C"/>
                </a:solidFill>
                <a:latin typeface="Tahoma"/>
                <a:cs typeface="Tahoma"/>
              </a:rPr>
              <a:t>Tracking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3132C"/>
                </a:solidFill>
                <a:latin typeface="Tahoma"/>
                <a:cs typeface="Tahoma"/>
              </a:rPr>
              <a:t>Impact 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Quantification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22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3141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20" dirty="0">
                <a:solidFill>
                  <a:srgbClr val="FFFFFF"/>
                </a:solidFill>
                <a:latin typeface="Arial Black"/>
                <a:cs typeface="Arial Black"/>
              </a:rPr>
              <a:t>Action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Analyzer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Module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23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790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Configuration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Arial Black"/>
                <a:cs typeface="Arial Black"/>
              </a:rPr>
              <a:t>Tracking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Dolt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24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0" dirty="0"/>
              <a:t>Action</a:t>
            </a:r>
            <a:r>
              <a:rPr spc="45" dirty="0"/>
              <a:t> </a:t>
            </a:r>
            <a:r>
              <a:rPr spc="-125" dirty="0"/>
              <a:t>Analyzer</a:t>
            </a:r>
            <a:r>
              <a:rPr spc="50" dirty="0"/>
              <a:t> </a:t>
            </a:r>
            <a:r>
              <a:rPr spc="165" dirty="0"/>
              <a:t>—</a:t>
            </a:r>
            <a:r>
              <a:rPr spc="45" dirty="0"/>
              <a:t> </a:t>
            </a:r>
            <a:r>
              <a:rPr spc="-130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0534" y="1473960"/>
            <a:ext cx="1678939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screenshots/khaled/action_analyzer_ui.png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25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18281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20" dirty="0">
                <a:solidFill>
                  <a:srgbClr val="FFFFFF"/>
                </a:solidFill>
                <a:latin typeface="Arial Black"/>
                <a:cs typeface="Arial Black"/>
              </a:rPr>
              <a:t>Action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Timeline</a:t>
            </a:r>
            <a:r>
              <a:rPr sz="1400" spc="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Arial Black"/>
                <a:cs typeface="Arial Black"/>
              </a:rPr>
              <a:t>View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1024" y="1473960"/>
            <a:ext cx="155829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screenshots/khaled/action_timeline.png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26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30086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5" dirty="0"/>
              <a:t>Before</a:t>
            </a:r>
            <a:r>
              <a:rPr spc="15" dirty="0"/>
              <a:t> </a:t>
            </a:r>
            <a:r>
              <a:rPr spc="395" dirty="0"/>
              <a:t>/</a:t>
            </a:r>
            <a:r>
              <a:rPr spc="-40" dirty="0"/>
              <a:t> </a:t>
            </a:r>
            <a:r>
              <a:rPr spc="-75" dirty="0"/>
              <a:t>After</a:t>
            </a:r>
            <a:r>
              <a:rPr spc="5" dirty="0"/>
              <a:t> </a:t>
            </a:r>
            <a:r>
              <a:rPr spc="-10" dirty="0"/>
              <a:t>KPI</a:t>
            </a:r>
            <a:r>
              <a:rPr dirty="0"/>
              <a:t> </a:t>
            </a:r>
            <a:r>
              <a:rPr spc="-140" dirty="0"/>
              <a:t>Impact</a:t>
            </a:r>
            <a:r>
              <a:rPr spc="25" dirty="0"/>
              <a:t> </a:t>
            </a:r>
            <a:r>
              <a:rPr spc="-12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459" y="425226"/>
            <a:ext cx="1709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0" dirty="0">
                <a:latin typeface="Arial Black"/>
                <a:cs typeface="Arial Black"/>
              </a:rPr>
              <a:t>Before</a:t>
            </a:r>
            <a:r>
              <a:rPr sz="1000" spc="25" dirty="0">
                <a:latin typeface="Arial Black"/>
                <a:cs typeface="Arial Black"/>
              </a:rPr>
              <a:t> </a:t>
            </a:r>
            <a:r>
              <a:rPr sz="1000" spc="-95" dirty="0">
                <a:latin typeface="Arial Black"/>
                <a:cs typeface="Arial Black"/>
              </a:rPr>
              <a:t>Configuration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Change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472" y="654837"/>
            <a:ext cx="2703195" cy="229489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Times New Roman"/>
              <a:cs typeface="Times New Roman"/>
            </a:endParaRPr>
          </a:p>
          <a:p>
            <a:pPr marL="617220">
              <a:lnSpc>
                <a:spcPct val="100000"/>
              </a:lnSpc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screenshots/khaled/before_change.png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2121" y="425226"/>
            <a:ext cx="1630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Arial Black"/>
                <a:cs typeface="Arial Black"/>
              </a:rPr>
              <a:t>After</a:t>
            </a:r>
            <a:r>
              <a:rPr sz="1000" spc="-5" dirty="0">
                <a:latin typeface="Arial Black"/>
                <a:cs typeface="Arial Black"/>
              </a:rPr>
              <a:t> </a:t>
            </a:r>
            <a:r>
              <a:rPr sz="1000" spc="-95" dirty="0">
                <a:latin typeface="Arial Black"/>
                <a:cs typeface="Arial Black"/>
              </a:rPr>
              <a:t>Configuration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spc="-110" dirty="0">
                <a:latin typeface="Arial Black"/>
                <a:cs typeface="Arial Black"/>
              </a:rPr>
              <a:t>Change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8498" y="654837"/>
            <a:ext cx="2703195" cy="229489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Times New Roman"/>
              <a:cs typeface="Times New Roman"/>
            </a:endParaRPr>
          </a:p>
          <a:p>
            <a:pPr marL="617220">
              <a:lnSpc>
                <a:spcPct val="100000"/>
              </a:lnSpc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64516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screenshots/khaled/after_change.png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8" name="object 8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27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1760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KPI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Delta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Bar</a:t>
            </a:r>
            <a:r>
              <a:rPr sz="14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Chart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1024" y="1473960"/>
            <a:ext cx="1558290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screenshots/khaled/delta_bar_chart.png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28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27" y="874331"/>
            <a:ext cx="4523105" cy="494030"/>
            <a:chOff x="97827" y="874331"/>
            <a:chExt cx="4523105" cy="494030"/>
          </a:xfrm>
        </p:grpSpPr>
        <p:sp>
          <p:nvSpPr>
            <p:cNvPr id="3" name="object 3"/>
            <p:cNvSpPr/>
            <p:nvPr/>
          </p:nvSpPr>
          <p:spPr>
            <a:xfrm>
              <a:off x="97827" y="874331"/>
              <a:ext cx="4472305" cy="82550"/>
            </a:xfrm>
            <a:custGeom>
              <a:avLst/>
              <a:gdLst/>
              <a:ahLst/>
              <a:cxnLst/>
              <a:rect l="l" t="t" r="r" b="b"/>
              <a:pathLst>
                <a:path w="4472305" h="82550">
                  <a:moveTo>
                    <a:pt x="442106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71864" y="82384"/>
                  </a:lnTo>
                  <a:lnTo>
                    <a:pt x="4471864" y="50800"/>
                  </a:lnTo>
                  <a:lnTo>
                    <a:pt x="4467855" y="31075"/>
                  </a:lnTo>
                  <a:lnTo>
                    <a:pt x="4456941" y="14922"/>
                  </a:lnTo>
                  <a:lnTo>
                    <a:pt x="4440788" y="4008"/>
                  </a:lnTo>
                  <a:lnTo>
                    <a:pt x="4421063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37580"/>
              <a:ext cx="4472305" cy="431165"/>
            </a:xfrm>
            <a:custGeom>
              <a:avLst/>
              <a:gdLst/>
              <a:ahLst/>
              <a:cxnLst/>
              <a:rect l="l" t="t" r="r" b="b"/>
              <a:pathLst>
                <a:path w="4472305" h="431165">
                  <a:moveTo>
                    <a:pt x="4471864" y="0"/>
                  </a:moveTo>
                  <a:lnTo>
                    <a:pt x="0" y="0"/>
                  </a:lnTo>
                  <a:lnTo>
                    <a:pt x="0" y="430667"/>
                  </a:lnTo>
                  <a:lnTo>
                    <a:pt x="4471864" y="430667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27" y="918743"/>
              <a:ext cx="4472305" cy="398780"/>
            </a:xfrm>
            <a:custGeom>
              <a:avLst/>
              <a:gdLst/>
              <a:ahLst/>
              <a:cxnLst/>
              <a:rect l="l" t="t" r="r" b="b"/>
              <a:pathLst>
                <a:path w="4472305" h="398780">
                  <a:moveTo>
                    <a:pt x="4471864" y="0"/>
                  </a:moveTo>
                  <a:lnTo>
                    <a:pt x="0" y="0"/>
                  </a:lnTo>
                  <a:lnTo>
                    <a:pt x="0" y="347903"/>
                  </a:lnTo>
                  <a:lnTo>
                    <a:pt x="4008" y="367627"/>
                  </a:lnTo>
                  <a:lnTo>
                    <a:pt x="14922" y="383780"/>
                  </a:lnTo>
                  <a:lnTo>
                    <a:pt x="31075" y="394695"/>
                  </a:lnTo>
                  <a:lnTo>
                    <a:pt x="50800" y="398703"/>
                  </a:lnTo>
                  <a:lnTo>
                    <a:pt x="4421063" y="398703"/>
                  </a:lnTo>
                  <a:lnTo>
                    <a:pt x="4440788" y="394695"/>
                  </a:lnTo>
                  <a:lnTo>
                    <a:pt x="4456941" y="383780"/>
                  </a:lnTo>
                  <a:lnTo>
                    <a:pt x="4467855" y="367627"/>
                  </a:lnTo>
                  <a:lnTo>
                    <a:pt x="4471864" y="347903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628" y="937580"/>
            <a:ext cx="4472305" cy="431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Mahmoud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Ashraf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815" y="1499501"/>
            <a:ext cx="4472305" cy="584835"/>
          </a:xfrm>
          <a:custGeom>
            <a:avLst/>
            <a:gdLst/>
            <a:ahLst/>
            <a:cxnLst/>
            <a:rect l="l" t="t" r="r" b="b"/>
            <a:pathLst>
              <a:path w="4472305" h="584835">
                <a:moveTo>
                  <a:pt x="4471873" y="44424"/>
                </a:moveTo>
                <a:lnTo>
                  <a:pt x="4470565" y="44424"/>
                </a:lnTo>
                <a:lnTo>
                  <a:pt x="4467860" y="31076"/>
                </a:lnTo>
                <a:lnTo>
                  <a:pt x="4456950" y="14922"/>
                </a:lnTo>
                <a:lnTo>
                  <a:pt x="4440796" y="4013"/>
                </a:lnTo>
                <a:lnTo>
                  <a:pt x="44210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533603"/>
                </a:lnTo>
                <a:lnTo>
                  <a:pt x="4013" y="553339"/>
                </a:lnTo>
                <a:lnTo>
                  <a:pt x="14922" y="569493"/>
                </a:lnTo>
                <a:lnTo>
                  <a:pt x="31076" y="580402"/>
                </a:lnTo>
                <a:lnTo>
                  <a:pt x="50812" y="584415"/>
                </a:lnTo>
                <a:lnTo>
                  <a:pt x="4421073" y="584415"/>
                </a:lnTo>
                <a:lnTo>
                  <a:pt x="4440796" y="580402"/>
                </a:lnTo>
                <a:lnTo>
                  <a:pt x="4456950" y="569493"/>
                </a:lnTo>
                <a:lnTo>
                  <a:pt x="4467860" y="553339"/>
                </a:lnTo>
                <a:lnTo>
                  <a:pt x="4471873" y="533603"/>
                </a:lnTo>
                <a:lnTo>
                  <a:pt x="4471873" y="82384"/>
                </a:lnTo>
                <a:lnTo>
                  <a:pt x="4471873" y="50800"/>
                </a:lnTo>
                <a:lnTo>
                  <a:pt x="4471873" y="44424"/>
                </a:lnTo>
                <a:close/>
              </a:path>
            </a:pathLst>
          </a:custGeom>
          <a:solidFill>
            <a:srgbClr val="E5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1176" y="1586049"/>
            <a:ext cx="310515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6120" marR="5080" indent="-694055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13132C"/>
                </a:solidFill>
                <a:latin typeface="Tahoma"/>
                <a:cs typeface="Tahoma"/>
              </a:rPr>
              <a:t>Telecom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3132C"/>
                </a:solidFill>
                <a:latin typeface="Tahoma"/>
                <a:cs typeface="Tahoma"/>
              </a:rPr>
              <a:t>RAG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3132C"/>
                </a:solidFill>
                <a:latin typeface="Tahoma"/>
                <a:cs typeface="Tahoma"/>
              </a:rPr>
              <a:t>Assistant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3132C"/>
                </a:solidFill>
                <a:latin typeface="Tahoma"/>
                <a:cs typeface="Tahoma"/>
              </a:rPr>
              <a:t>Pipeline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-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3132C"/>
                </a:solidFill>
                <a:latin typeface="Tahoma"/>
                <a:cs typeface="Tahoma"/>
              </a:rPr>
              <a:t>Interface</a:t>
            </a:r>
            <a:r>
              <a:rPr sz="1200" spc="-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05" dirty="0">
                <a:solidFill>
                  <a:srgbClr val="13132C"/>
                </a:solidFill>
                <a:latin typeface="Tahoma"/>
                <a:cs typeface="Tahoma"/>
              </a:rPr>
              <a:t>• </a:t>
            </a:r>
            <a:r>
              <a:rPr lang="en-US" sz="1200" spc="-40" dirty="0" smtClean="0">
                <a:solidFill>
                  <a:srgbClr val="13132C"/>
                </a:solidFill>
                <a:latin typeface="Tahoma"/>
                <a:cs typeface="Tahoma"/>
              </a:rPr>
              <a:t>Real case </a:t>
            </a:r>
            <a:r>
              <a:rPr lang="en-US" sz="1200" spc="-40" dirty="0" err="1" smtClean="0">
                <a:solidFill>
                  <a:srgbClr val="13132C"/>
                </a:solidFill>
                <a:latin typeface="Tahoma"/>
                <a:cs typeface="Tahoma"/>
              </a:rPr>
              <a:t>senario</a:t>
            </a:r>
            <a:endParaRPr sz="120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29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RAG</a:t>
            </a:r>
            <a:r>
              <a:rPr spc="25" dirty="0"/>
              <a:t> </a:t>
            </a:r>
            <a:r>
              <a:rPr spc="-145" dirty="0"/>
              <a:t>Assistant</a:t>
            </a:r>
            <a:r>
              <a:rPr spc="25" dirty="0"/>
              <a:t> </a:t>
            </a:r>
            <a:r>
              <a:rPr spc="165" dirty="0"/>
              <a:t>—</a:t>
            </a:r>
            <a:r>
              <a:rPr spc="25" dirty="0"/>
              <a:t> </a:t>
            </a:r>
            <a:r>
              <a:rPr spc="-145" dirty="0"/>
              <a:t>Overview</a:t>
            </a:r>
            <a:r>
              <a:rPr spc="30" dirty="0"/>
              <a:t> </a:t>
            </a:r>
            <a:r>
              <a:rPr dirty="0"/>
              <a:t>&amp;</a:t>
            </a:r>
            <a:r>
              <a:rPr spc="25" dirty="0"/>
              <a:t> </a:t>
            </a:r>
            <a:r>
              <a:rPr spc="-85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1235" y="394445"/>
            <a:ext cx="2761480" cy="603229"/>
          </a:xfrm>
          <a:custGeom>
            <a:avLst/>
            <a:gdLst/>
            <a:ahLst/>
            <a:cxnLst/>
            <a:rect l="l" t="t" r="r" b="b"/>
            <a:pathLst>
              <a:path w="2560320" h="208915">
                <a:moveTo>
                  <a:pt x="250904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06"/>
                </a:lnTo>
                <a:lnTo>
                  <a:pt x="2559847" y="208906"/>
                </a:lnTo>
                <a:lnTo>
                  <a:pt x="2559847" y="50800"/>
                </a:lnTo>
                <a:lnTo>
                  <a:pt x="2555839" y="31075"/>
                </a:lnTo>
                <a:lnTo>
                  <a:pt x="2544925" y="14922"/>
                </a:lnTo>
                <a:lnTo>
                  <a:pt x="2528772" y="4008"/>
                </a:lnTo>
                <a:lnTo>
                  <a:pt x="2509047" y="0"/>
                </a:lnTo>
                <a:close/>
              </a:path>
            </a:pathLst>
          </a:custGeom>
          <a:solidFill>
            <a:srgbClr val="B4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9300" y="393637"/>
            <a:ext cx="969644" cy="2667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235" y="659993"/>
            <a:ext cx="2761989" cy="2410232"/>
            <a:chOff x="230390" y="1035799"/>
            <a:chExt cx="2560320" cy="1647636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390" y="1035799"/>
              <a:ext cx="2559847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0390" y="1080060"/>
              <a:ext cx="2560320" cy="1603375"/>
            </a:xfrm>
            <a:custGeom>
              <a:avLst/>
              <a:gdLst/>
              <a:ahLst/>
              <a:cxnLst/>
              <a:rect l="l" t="t" r="r" b="b"/>
              <a:pathLst>
                <a:path w="2560320" h="1603375">
                  <a:moveTo>
                    <a:pt x="2559847" y="0"/>
                  </a:moveTo>
                  <a:lnTo>
                    <a:pt x="0" y="0"/>
                  </a:lnTo>
                  <a:lnTo>
                    <a:pt x="0" y="1552014"/>
                  </a:lnTo>
                  <a:lnTo>
                    <a:pt x="4008" y="1571739"/>
                  </a:lnTo>
                  <a:lnTo>
                    <a:pt x="14922" y="1587892"/>
                  </a:lnTo>
                  <a:lnTo>
                    <a:pt x="31075" y="1598806"/>
                  </a:lnTo>
                  <a:lnTo>
                    <a:pt x="50800" y="1602814"/>
                  </a:lnTo>
                  <a:lnTo>
                    <a:pt x="2509047" y="1602814"/>
                  </a:lnTo>
                  <a:lnTo>
                    <a:pt x="2528772" y="1598806"/>
                  </a:lnTo>
                  <a:lnTo>
                    <a:pt x="2544925" y="1587892"/>
                  </a:lnTo>
                  <a:lnTo>
                    <a:pt x="2555839" y="1571739"/>
                  </a:lnTo>
                  <a:lnTo>
                    <a:pt x="2559847" y="1552014"/>
                  </a:lnTo>
                  <a:lnTo>
                    <a:pt x="2559847" y="0"/>
                  </a:lnTo>
                  <a:close/>
                </a:path>
              </a:pathLst>
            </a:custGeom>
            <a:solidFill>
              <a:srgbClr val="E5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9427" y="665850"/>
            <a:ext cx="2755380" cy="20435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en-US" sz="1100" dirty="0" smtClean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1-Manual </a:t>
            </a:r>
            <a:r>
              <a:rPr lang="en-US" sz="1100" dirty="0">
                <a:latin typeface="Arial Black" panose="020B0A04020102020204" pitchFamily="34" charset="0"/>
              </a:rPr>
              <a:t>PDF search is slow and </a:t>
            </a:r>
            <a:r>
              <a:rPr lang="en-US" sz="1100" dirty="0" smtClean="0">
                <a:latin typeface="Arial Black" panose="020B0A04020102020204" pitchFamily="34" charset="0"/>
              </a:rPr>
              <a:t>tedious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2-Keyword </a:t>
            </a:r>
            <a:r>
              <a:rPr lang="en-US" sz="1100" dirty="0">
                <a:latin typeface="Arial Black" panose="020B0A04020102020204" pitchFamily="34" charset="0"/>
              </a:rPr>
              <a:t>search misses </a:t>
            </a:r>
            <a:r>
              <a:rPr lang="en-US" sz="1100" dirty="0">
                <a:latin typeface="Arial Black" panose="020B0A04020102020204" pitchFamily="34" charset="0"/>
                <a:cs typeface="Arial" panose="020B0604020202020204" pitchFamily="34" charset="0"/>
              </a:rPr>
              <a:t>paraphrased</a:t>
            </a:r>
            <a:r>
              <a:rPr lang="en-US" sz="1100" dirty="0">
                <a:latin typeface="Arial Black" panose="020B0A04020102020204" pitchFamily="34" charset="0"/>
              </a:rPr>
              <a:t> </a:t>
            </a:r>
            <a:r>
              <a:rPr lang="en-US" sz="1100" dirty="0" smtClean="0">
                <a:latin typeface="Arial Black" panose="020B0A04020102020204" pitchFamily="34" charset="0"/>
              </a:rPr>
              <a:t>content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3-Generic </a:t>
            </a:r>
            <a:r>
              <a:rPr lang="en-US" sz="1100" dirty="0">
                <a:latin typeface="Arial Black" panose="020B0A04020102020204" pitchFamily="34" charset="0"/>
              </a:rPr>
              <a:t>LLMs fabricate protocol </a:t>
            </a:r>
            <a:r>
              <a:rPr lang="en-US" sz="1100" dirty="0" smtClean="0">
                <a:latin typeface="Arial Black" panose="020B0A04020102020204" pitchFamily="34" charset="0"/>
              </a:rPr>
              <a:t>details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4-No </a:t>
            </a:r>
            <a:r>
              <a:rPr lang="en-US" sz="1100" dirty="0">
                <a:latin typeface="Arial Black" panose="020B0A04020102020204" pitchFamily="34" charset="0"/>
              </a:rPr>
              <a:t>tool offers cited, spec-grounded answers</a:t>
            </a:r>
          </a:p>
        </p:txBody>
      </p:sp>
      <p:sp>
        <p:nvSpPr>
          <p:cNvPr id="10" name="object 10"/>
          <p:cNvSpPr/>
          <p:nvPr/>
        </p:nvSpPr>
        <p:spPr>
          <a:xfrm>
            <a:off x="2941347" y="390400"/>
            <a:ext cx="2735942" cy="320674"/>
          </a:xfrm>
          <a:custGeom>
            <a:avLst/>
            <a:gdLst/>
            <a:ahLst/>
            <a:cxnLst/>
            <a:rect l="l" t="t" r="r" b="b"/>
            <a:pathLst>
              <a:path w="2560320" h="208915">
                <a:moveTo>
                  <a:pt x="250904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06"/>
                </a:lnTo>
                <a:lnTo>
                  <a:pt x="2559847" y="208906"/>
                </a:lnTo>
                <a:lnTo>
                  <a:pt x="2559847" y="50800"/>
                </a:lnTo>
                <a:lnTo>
                  <a:pt x="2555839" y="31075"/>
                </a:lnTo>
                <a:lnTo>
                  <a:pt x="2544925" y="14922"/>
                </a:lnTo>
                <a:lnTo>
                  <a:pt x="2528772" y="4008"/>
                </a:lnTo>
                <a:lnTo>
                  <a:pt x="2509047" y="0"/>
                </a:lnTo>
                <a:close/>
              </a:path>
            </a:pathLst>
          </a:custGeom>
          <a:solidFill>
            <a:srgbClr val="B4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67770" y="393293"/>
            <a:ext cx="952500" cy="2667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41856" y="635184"/>
            <a:ext cx="2735434" cy="2435041"/>
            <a:chOff x="2969792" y="1035799"/>
            <a:chExt cx="2560320" cy="1647643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9792" y="1035799"/>
              <a:ext cx="2559847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69792" y="1080067"/>
              <a:ext cx="2560320" cy="1603375"/>
            </a:xfrm>
            <a:custGeom>
              <a:avLst/>
              <a:gdLst/>
              <a:ahLst/>
              <a:cxnLst/>
              <a:rect l="l" t="t" r="r" b="b"/>
              <a:pathLst>
                <a:path w="2560320" h="1603375">
                  <a:moveTo>
                    <a:pt x="2559847" y="0"/>
                  </a:moveTo>
                  <a:lnTo>
                    <a:pt x="0" y="0"/>
                  </a:lnTo>
                  <a:lnTo>
                    <a:pt x="0" y="1552019"/>
                  </a:lnTo>
                  <a:lnTo>
                    <a:pt x="4008" y="1571744"/>
                  </a:lnTo>
                  <a:lnTo>
                    <a:pt x="14922" y="1587897"/>
                  </a:lnTo>
                  <a:lnTo>
                    <a:pt x="31075" y="1598811"/>
                  </a:lnTo>
                  <a:lnTo>
                    <a:pt x="50800" y="1602820"/>
                  </a:lnTo>
                  <a:lnTo>
                    <a:pt x="2509047" y="1602820"/>
                  </a:lnTo>
                  <a:lnTo>
                    <a:pt x="2528772" y="1598811"/>
                  </a:lnTo>
                  <a:lnTo>
                    <a:pt x="2544925" y="1587897"/>
                  </a:lnTo>
                  <a:lnTo>
                    <a:pt x="2555839" y="1571744"/>
                  </a:lnTo>
                  <a:lnTo>
                    <a:pt x="2559847" y="1552019"/>
                  </a:lnTo>
                  <a:lnTo>
                    <a:pt x="2559847" y="0"/>
                  </a:lnTo>
                  <a:close/>
                </a:path>
              </a:pathLst>
            </a:custGeom>
            <a:solidFill>
              <a:srgbClr val="E5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76026" y="645684"/>
            <a:ext cx="2644724" cy="23820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en-US" sz="1100" dirty="0" smtClean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Telecom </a:t>
            </a:r>
            <a:r>
              <a:rPr lang="en-US" sz="1100" dirty="0" smtClean="0">
                <a:latin typeface="Arial Black" panose="020B0A04020102020204" pitchFamily="34" charset="0"/>
              </a:rPr>
              <a:t>LLM </a:t>
            </a:r>
            <a:r>
              <a:rPr lang="en-US" sz="1100" dirty="0" smtClean="0">
                <a:latin typeface="Arial Black" panose="020B0A04020102020204" pitchFamily="34" charset="0"/>
              </a:rPr>
              <a:t>RAG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1-Purpose-built </a:t>
            </a:r>
            <a:r>
              <a:rPr lang="en-US" sz="1100" dirty="0">
                <a:latin typeface="Arial Black" panose="020B0A04020102020204" pitchFamily="34" charset="0"/>
              </a:rPr>
              <a:t>specifically for </a:t>
            </a:r>
            <a:r>
              <a:rPr lang="en-US" sz="1100" dirty="0" smtClean="0">
                <a:latin typeface="Arial Black" panose="020B0A04020102020204" pitchFamily="34" charset="0"/>
              </a:rPr>
              <a:t>       telecom papers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2-Fully </a:t>
            </a:r>
            <a:r>
              <a:rPr lang="en-US" sz="1100" dirty="0">
                <a:latin typeface="Arial Black" panose="020B0A04020102020204" pitchFamily="34" charset="0"/>
              </a:rPr>
              <a:t>local: embeddings, vector store, </a:t>
            </a:r>
            <a:r>
              <a:rPr lang="en-US" sz="1100" dirty="0" smtClean="0">
                <a:latin typeface="Arial Black" panose="020B0A04020102020204" pitchFamily="34" charset="0"/>
              </a:rPr>
              <a:t>re-ranking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3-Every </a:t>
            </a:r>
            <a:r>
              <a:rPr lang="en-US" sz="1100" dirty="0">
                <a:latin typeface="Arial Black" panose="020B0A04020102020204" pitchFamily="34" charset="0"/>
              </a:rPr>
              <a:t>answer cites: TS number, Release, Section, </a:t>
            </a:r>
            <a:r>
              <a:rPr lang="en-US" sz="1100" dirty="0" smtClean="0">
                <a:latin typeface="Arial Black" panose="020B0A04020102020204" pitchFamily="34" charset="0"/>
              </a:rPr>
              <a:t>page</a:t>
            </a:r>
          </a:p>
          <a:p>
            <a:endParaRPr lang="en-US" sz="1100" dirty="0">
              <a:latin typeface="Arial Black" panose="020B0A04020102020204" pitchFamily="34" charset="0"/>
            </a:endParaRPr>
          </a:p>
          <a:p>
            <a:r>
              <a:rPr lang="en-US" sz="1100" dirty="0" smtClean="0">
                <a:latin typeface="Arial Black" panose="020B0A04020102020204" pitchFamily="34" charset="0"/>
              </a:rPr>
              <a:t>4-Integrated </a:t>
            </a:r>
            <a:r>
              <a:rPr lang="en-US" sz="1100" dirty="0">
                <a:latin typeface="Arial Black" panose="020B0A04020102020204" pitchFamily="34" charset="0"/>
              </a:rPr>
              <a:t>into RANPilotAI — no tool switching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8" name="object 18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30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244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RAG</a:t>
            </a:r>
            <a:r>
              <a:rPr sz="14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Pipeline</a:t>
            </a:r>
            <a:r>
              <a:rPr sz="1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Architecture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1143"/>
            <a:ext cx="5760542" cy="280124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31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Pipeline</a:t>
            </a:r>
            <a:r>
              <a:rPr spc="50" dirty="0"/>
              <a:t> </a:t>
            </a:r>
            <a:r>
              <a:rPr spc="165" dirty="0"/>
              <a:t>—</a:t>
            </a:r>
            <a:r>
              <a:rPr spc="50" dirty="0"/>
              <a:t> </a:t>
            </a:r>
            <a:r>
              <a:rPr spc="-125" dirty="0"/>
              <a:t>Key</a:t>
            </a:r>
            <a:r>
              <a:rPr spc="50" dirty="0"/>
              <a:t> </a:t>
            </a:r>
            <a:r>
              <a:rPr spc="-145" dirty="0"/>
              <a:t>Engineering</a:t>
            </a:r>
            <a:r>
              <a:rPr spc="50" dirty="0"/>
              <a:t> </a:t>
            </a:r>
            <a:r>
              <a:rPr spc="-135" dirty="0"/>
              <a:t>Decisions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6" name="object 6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32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  <p:graphicFrame>
        <p:nvGraphicFramePr>
          <p:cNvPr id="54" name="Diagram 53"/>
          <p:cNvGraphicFramePr/>
          <p:nvPr>
            <p:extLst>
              <p:ext uri="{D42A27DB-BD31-4B8C-83A1-F6EECF244321}">
                <p14:modId xmlns:p14="http://schemas.microsoft.com/office/powerpoint/2010/main" val="4223439954"/>
              </p:ext>
            </p:extLst>
          </p:nvPr>
        </p:nvGraphicFramePr>
        <p:xfrm>
          <a:off x="95300" y="403225"/>
          <a:ext cx="5601969" cy="269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2" name="Flowchart: Process 61"/>
          <p:cNvSpPr/>
          <p:nvPr/>
        </p:nvSpPr>
        <p:spPr>
          <a:xfrm>
            <a:off x="72705" y="893327"/>
            <a:ext cx="1339800" cy="27664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/>
              <a:t>2</a:t>
            </a:r>
            <a:r>
              <a:rPr lang="en-US" sz="1000" dirty="0" smtClean="0">
                <a:solidFill>
                  <a:schemeClr val="lt1"/>
                </a:solidFill>
              </a:rPr>
              <a:t>. </a:t>
            </a:r>
            <a:r>
              <a:rPr lang="en-US" sz="1000" dirty="0" smtClean="0"/>
              <a:t>Chunking</a:t>
            </a:r>
            <a:endParaRPr lang="en-US" sz="1000" dirty="0"/>
          </a:p>
        </p:txBody>
      </p:sp>
      <p:sp>
        <p:nvSpPr>
          <p:cNvPr id="63" name="Flowchart: Process 62"/>
          <p:cNvSpPr/>
          <p:nvPr/>
        </p:nvSpPr>
        <p:spPr>
          <a:xfrm>
            <a:off x="72705" y="1224746"/>
            <a:ext cx="1339800" cy="29158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/>
              <a:t>3</a:t>
            </a:r>
            <a:r>
              <a:rPr lang="en-US" sz="1000" dirty="0" smtClean="0">
                <a:solidFill>
                  <a:schemeClr val="lt1"/>
                </a:solidFill>
              </a:rPr>
              <a:t>. </a:t>
            </a:r>
            <a:r>
              <a:rPr lang="en-US" sz="1000" dirty="0" smtClean="0">
                <a:solidFill>
                  <a:schemeClr val="lt1"/>
                </a:solidFill>
              </a:rPr>
              <a:t>Embedding </a:t>
            </a:r>
          </a:p>
          <a:p>
            <a:pPr algn="l"/>
            <a:r>
              <a:rPr lang="en-US" sz="10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(BGE-large)</a:t>
            </a:r>
            <a:r>
              <a:rPr lang="en-US" sz="1000" dirty="0" smtClean="0">
                <a:solidFill>
                  <a:schemeClr val="lt1"/>
                </a:solidFill>
              </a:rPr>
              <a:t> </a:t>
            </a:r>
            <a:endParaRPr lang="en-US" sz="1000" dirty="0"/>
          </a:p>
        </p:txBody>
      </p:sp>
      <p:sp>
        <p:nvSpPr>
          <p:cNvPr id="64" name="Flowchart: Process 63"/>
          <p:cNvSpPr/>
          <p:nvPr/>
        </p:nvSpPr>
        <p:spPr>
          <a:xfrm>
            <a:off x="77528" y="1571110"/>
            <a:ext cx="1339800" cy="3084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/>
              <a:t>4</a:t>
            </a:r>
            <a:r>
              <a:rPr lang="en-US" sz="1000" dirty="0" smtClean="0">
                <a:solidFill>
                  <a:schemeClr val="lt1"/>
                </a:solidFill>
              </a:rPr>
              <a:t>. </a:t>
            </a:r>
            <a:r>
              <a:rPr lang="en-US" sz="1000" dirty="0" smtClean="0"/>
              <a:t>Vector Storage</a:t>
            </a:r>
          </a:p>
          <a:p>
            <a:pPr algn="l"/>
            <a:r>
              <a:rPr lang="en-US" sz="10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0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Local Qdrant)</a:t>
            </a:r>
            <a:endParaRPr lang="en-US" sz="1000" dirty="0"/>
          </a:p>
        </p:txBody>
      </p:sp>
      <p:sp>
        <p:nvSpPr>
          <p:cNvPr id="65" name="Flowchart: Process 64"/>
          <p:cNvSpPr/>
          <p:nvPr/>
        </p:nvSpPr>
        <p:spPr>
          <a:xfrm>
            <a:off x="72705" y="1934353"/>
            <a:ext cx="1339800" cy="31692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/>
              <a:t>5</a:t>
            </a:r>
            <a:r>
              <a:rPr lang="en-US" sz="1000" dirty="0" smtClean="0">
                <a:solidFill>
                  <a:schemeClr val="lt1"/>
                </a:solidFill>
              </a:rPr>
              <a:t>. </a:t>
            </a:r>
            <a:r>
              <a:rPr lang="en-US" sz="1000" dirty="0" smtClean="0">
                <a:solidFill>
                  <a:schemeClr val="lt1"/>
                </a:solidFill>
              </a:rPr>
              <a:t>Retrieval</a:t>
            </a:r>
            <a:endParaRPr lang="en-US" sz="1000" dirty="0"/>
          </a:p>
        </p:txBody>
      </p:sp>
      <p:sp>
        <p:nvSpPr>
          <p:cNvPr id="66" name="Flowchart: Process 65"/>
          <p:cNvSpPr/>
          <p:nvPr/>
        </p:nvSpPr>
        <p:spPr>
          <a:xfrm>
            <a:off x="72705" y="2297594"/>
            <a:ext cx="1339800" cy="31454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 smtClean="0"/>
              <a:t>6. Re-ranking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67" name="Flowchart: Process 66"/>
          <p:cNvSpPr/>
          <p:nvPr/>
        </p:nvSpPr>
        <p:spPr>
          <a:xfrm>
            <a:off x="72705" y="2680765"/>
            <a:ext cx="1339800" cy="31325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 smtClean="0"/>
              <a:t>7. Generation (OpenRouter API</a:t>
            </a:r>
            <a:endParaRPr lang="en-US" sz="1000" dirty="0"/>
          </a:p>
        </p:txBody>
      </p:sp>
      <p:sp>
        <p:nvSpPr>
          <p:cNvPr id="68" name="Flowchart: Process 67"/>
          <p:cNvSpPr/>
          <p:nvPr/>
        </p:nvSpPr>
        <p:spPr>
          <a:xfrm>
            <a:off x="72705" y="547061"/>
            <a:ext cx="1339800" cy="2914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dirty="0">
                <a:solidFill>
                  <a:schemeClr val="lt1"/>
                </a:solidFill>
              </a:rPr>
              <a:t>1. Ingestion &amp; Parsing (PyMuPDF)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7984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RAG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Arial Black"/>
                <a:cs typeface="Arial Black"/>
              </a:rPr>
              <a:t>Assistant</a:t>
            </a:r>
            <a:r>
              <a:rPr sz="14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 Black"/>
                <a:cs typeface="Arial Black"/>
              </a:rPr>
              <a:t>Main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Interface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1143"/>
            <a:ext cx="5760542" cy="280124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33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76905"/>
            <a:ext cx="1788020" cy="8290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333247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Live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Arial Black"/>
                <a:cs typeface="Arial Black"/>
              </a:rPr>
              <a:t>Query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65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Pipeline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Arial Black"/>
                <a:cs typeface="Arial Black"/>
              </a:rPr>
              <a:t>Execution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Steps</a:t>
            </a:r>
            <a:endParaRPr sz="1400" dirty="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b="11115"/>
          <a:stretch/>
        </p:blipFill>
        <p:spPr>
          <a:xfrm>
            <a:off x="0" y="321143"/>
            <a:ext cx="5760542" cy="27848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34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" b="4883"/>
          <a:stretch/>
        </p:blipFill>
        <p:spPr>
          <a:xfrm>
            <a:off x="-5258" y="784225"/>
            <a:ext cx="5783758" cy="233816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5300" y="57337"/>
            <a:ext cx="3148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40" dirty="0">
                <a:solidFill>
                  <a:srgbClr val="FFFFFF"/>
                </a:solidFill>
                <a:latin typeface="Arial Black"/>
                <a:cs typeface="Arial Black"/>
              </a:rPr>
              <a:t>Retrieved</a:t>
            </a:r>
            <a:r>
              <a:rPr sz="1400" spc="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Arial Black"/>
                <a:cs typeface="Arial Black"/>
              </a:rPr>
              <a:t>Chunks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Arial Black"/>
                <a:cs typeface="Arial Black"/>
              </a:rPr>
              <a:t>Source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Arial Black"/>
                <a:cs typeface="Arial Black"/>
              </a:rPr>
              <a:t>Citations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3" cstate="print"/>
          <a:srcRect r="-220" b="19412"/>
          <a:stretch/>
        </p:blipFill>
        <p:spPr>
          <a:xfrm>
            <a:off x="-5257" y="321144"/>
            <a:ext cx="5783757" cy="152988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35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0" y="1596930"/>
            <a:ext cx="1681854" cy="15061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342892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70" dirty="0" smtClean="0">
                <a:solidFill>
                  <a:srgbClr val="FFFFFF"/>
                </a:solidFill>
                <a:latin typeface="Arial Black"/>
                <a:cs typeface="Arial Black"/>
              </a:rPr>
              <a:t> what if I </a:t>
            </a:r>
            <a:r>
              <a:rPr lang="en-US" sz="1400" spc="-170" dirty="0" smtClean="0">
                <a:solidFill>
                  <a:srgbClr val="FFFFFF"/>
                </a:solidFill>
                <a:latin typeface="Arial Black"/>
                <a:cs typeface="Arial Black"/>
              </a:rPr>
              <a:t>asked </a:t>
            </a:r>
            <a:r>
              <a:rPr lang="en-US" sz="1400" spc="-170" dirty="0" smtClean="0">
                <a:solidFill>
                  <a:srgbClr val="FFFFFF"/>
                </a:solidFill>
                <a:latin typeface="Arial Black"/>
                <a:cs typeface="Arial Black"/>
              </a:rPr>
              <a:t>Non telecom  Question?</a:t>
            </a:r>
            <a:endParaRPr sz="1400" dirty="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8" name="object 8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36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b="4592"/>
          <a:stretch/>
        </p:blipFill>
        <p:spPr>
          <a:xfrm>
            <a:off x="0" y="327025"/>
            <a:ext cx="5760542" cy="279536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27" y="886142"/>
            <a:ext cx="4523105" cy="494030"/>
            <a:chOff x="97827" y="886142"/>
            <a:chExt cx="4523105" cy="494030"/>
          </a:xfrm>
        </p:grpSpPr>
        <p:sp>
          <p:nvSpPr>
            <p:cNvPr id="3" name="object 3"/>
            <p:cNvSpPr/>
            <p:nvPr/>
          </p:nvSpPr>
          <p:spPr>
            <a:xfrm>
              <a:off x="97827" y="886142"/>
              <a:ext cx="4472305" cy="82550"/>
            </a:xfrm>
            <a:custGeom>
              <a:avLst/>
              <a:gdLst/>
              <a:ahLst/>
              <a:cxnLst/>
              <a:rect l="l" t="t" r="r" b="b"/>
              <a:pathLst>
                <a:path w="4472305" h="82550">
                  <a:moveTo>
                    <a:pt x="442106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71864" y="82384"/>
                  </a:lnTo>
                  <a:lnTo>
                    <a:pt x="4471864" y="50800"/>
                  </a:lnTo>
                  <a:lnTo>
                    <a:pt x="4467855" y="31075"/>
                  </a:lnTo>
                  <a:lnTo>
                    <a:pt x="4456941" y="14922"/>
                  </a:lnTo>
                  <a:lnTo>
                    <a:pt x="4440788" y="4008"/>
                  </a:lnTo>
                  <a:lnTo>
                    <a:pt x="4421063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49391"/>
              <a:ext cx="4472305" cy="431165"/>
            </a:xfrm>
            <a:custGeom>
              <a:avLst/>
              <a:gdLst/>
              <a:ahLst/>
              <a:cxnLst/>
              <a:rect l="l" t="t" r="r" b="b"/>
              <a:pathLst>
                <a:path w="4472305" h="431165">
                  <a:moveTo>
                    <a:pt x="4471864" y="0"/>
                  </a:moveTo>
                  <a:lnTo>
                    <a:pt x="0" y="0"/>
                  </a:lnTo>
                  <a:lnTo>
                    <a:pt x="0" y="430667"/>
                  </a:lnTo>
                  <a:lnTo>
                    <a:pt x="4471864" y="430667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27" y="930554"/>
              <a:ext cx="4472305" cy="398780"/>
            </a:xfrm>
            <a:custGeom>
              <a:avLst/>
              <a:gdLst/>
              <a:ahLst/>
              <a:cxnLst/>
              <a:rect l="l" t="t" r="r" b="b"/>
              <a:pathLst>
                <a:path w="4472305" h="398780">
                  <a:moveTo>
                    <a:pt x="4471864" y="0"/>
                  </a:moveTo>
                  <a:lnTo>
                    <a:pt x="0" y="0"/>
                  </a:lnTo>
                  <a:lnTo>
                    <a:pt x="0" y="347903"/>
                  </a:lnTo>
                  <a:lnTo>
                    <a:pt x="4008" y="367627"/>
                  </a:lnTo>
                  <a:lnTo>
                    <a:pt x="14922" y="383780"/>
                  </a:lnTo>
                  <a:lnTo>
                    <a:pt x="31075" y="394695"/>
                  </a:lnTo>
                  <a:lnTo>
                    <a:pt x="50800" y="398703"/>
                  </a:lnTo>
                  <a:lnTo>
                    <a:pt x="4421063" y="398703"/>
                  </a:lnTo>
                  <a:lnTo>
                    <a:pt x="4440788" y="394695"/>
                  </a:lnTo>
                  <a:lnTo>
                    <a:pt x="4456941" y="383780"/>
                  </a:lnTo>
                  <a:lnTo>
                    <a:pt x="4467855" y="367627"/>
                  </a:lnTo>
                  <a:lnTo>
                    <a:pt x="4471864" y="347903"/>
                  </a:lnTo>
                  <a:lnTo>
                    <a:pt x="4471864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628" y="949391"/>
            <a:ext cx="4472305" cy="431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z="1400" spc="-100" dirty="0">
                <a:solidFill>
                  <a:srgbClr val="FFFFFF"/>
                </a:solidFill>
                <a:latin typeface="Arial Black"/>
                <a:cs typeface="Arial Black"/>
              </a:rPr>
              <a:t>Mohab</a:t>
            </a:r>
            <a:r>
              <a:rPr sz="1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Tarek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815" y="1511312"/>
            <a:ext cx="4472305" cy="554990"/>
          </a:xfrm>
          <a:custGeom>
            <a:avLst/>
            <a:gdLst/>
            <a:ahLst/>
            <a:cxnLst/>
            <a:rect l="l" t="t" r="r" b="b"/>
            <a:pathLst>
              <a:path w="4472305" h="554989">
                <a:moveTo>
                  <a:pt x="4471873" y="44437"/>
                </a:moveTo>
                <a:lnTo>
                  <a:pt x="4470578" y="44437"/>
                </a:lnTo>
                <a:lnTo>
                  <a:pt x="4467860" y="31076"/>
                </a:lnTo>
                <a:lnTo>
                  <a:pt x="4456950" y="14922"/>
                </a:lnTo>
                <a:lnTo>
                  <a:pt x="4440796" y="4013"/>
                </a:lnTo>
                <a:lnTo>
                  <a:pt x="44210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504101"/>
                </a:lnTo>
                <a:lnTo>
                  <a:pt x="4013" y="523824"/>
                </a:lnTo>
                <a:lnTo>
                  <a:pt x="14922" y="539978"/>
                </a:lnTo>
                <a:lnTo>
                  <a:pt x="31076" y="550887"/>
                </a:lnTo>
                <a:lnTo>
                  <a:pt x="50812" y="554901"/>
                </a:lnTo>
                <a:lnTo>
                  <a:pt x="4421073" y="554901"/>
                </a:lnTo>
                <a:lnTo>
                  <a:pt x="4440796" y="550887"/>
                </a:lnTo>
                <a:lnTo>
                  <a:pt x="4456950" y="539978"/>
                </a:lnTo>
                <a:lnTo>
                  <a:pt x="4467860" y="523824"/>
                </a:lnTo>
                <a:lnTo>
                  <a:pt x="4471873" y="504101"/>
                </a:lnTo>
                <a:lnTo>
                  <a:pt x="4471873" y="82384"/>
                </a:lnTo>
                <a:lnTo>
                  <a:pt x="4471873" y="50800"/>
                </a:lnTo>
                <a:lnTo>
                  <a:pt x="4471873" y="44437"/>
                </a:lnTo>
                <a:close/>
              </a:path>
            </a:pathLst>
          </a:custGeom>
          <a:solidFill>
            <a:srgbClr val="E5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9552" y="1597860"/>
            <a:ext cx="410908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70" dirty="0">
                <a:solidFill>
                  <a:srgbClr val="13132C"/>
                </a:solidFill>
                <a:latin typeface="Tahoma"/>
                <a:cs typeface="Tahoma"/>
              </a:rPr>
              <a:t>Software</a:t>
            </a:r>
            <a:r>
              <a:rPr sz="1200" spc="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Testing</a:t>
            </a:r>
            <a:r>
              <a:rPr sz="1200" spc="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3132C"/>
                </a:solidFill>
                <a:latin typeface="Tahoma"/>
                <a:cs typeface="Tahoma"/>
              </a:rPr>
              <a:t>Real-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Case</a:t>
            </a:r>
            <a:r>
              <a:rPr sz="1200" spc="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3132C"/>
                </a:solidFill>
                <a:latin typeface="Tahoma"/>
                <a:cs typeface="Tahoma"/>
              </a:rPr>
              <a:t>Experimental</a:t>
            </a:r>
            <a:r>
              <a:rPr sz="1200" spc="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Results</a:t>
            </a:r>
            <a:r>
              <a:rPr sz="1200" spc="1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355" dirty="0">
                <a:solidFill>
                  <a:srgbClr val="13132C"/>
                </a:solidFill>
                <a:latin typeface="Tahoma"/>
                <a:cs typeface="Tahoma"/>
              </a:rPr>
              <a:t>•</a:t>
            </a:r>
            <a:r>
              <a:rPr sz="1200" spc="10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3132C"/>
                </a:solidFill>
                <a:latin typeface="Tahoma"/>
                <a:cs typeface="Tahoma"/>
              </a:rPr>
              <a:t>Conclusion</a:t>
            </a:r>
            <a:endParaRPr sz="1200">
              <a:latin typeface="Tahoma"/>
              <a:cs typeface="Tahoma"/>
            </a:endParaRPr>
          </a:p>
          <a:p>
            <a:pPr marL="1744980" indent="-164465">
              <a:lnSpc>
                <a:spcPct val="100000"/>
              </a:lnSpc>
              <a:spcBef>
                <a:spcPts val="5"/>
              </a:spcBef>
              <a:buChar char="•"/>
              <a:tabLst>
                <a:tab pos="1744980" algn="l"/>
              </a:tabLst>
            </a:pPr>
            <a:r>
              <a:rPr sz="1200" spc="-40" dirty="0">
                <a:solidFill>
                  <a:srgbClr val="13132C"/>
                </a:solidFill>
                <a:latin typeface="Tahoma"/>
                <a:cs typeface="Tahoma"/>
              </a:rPr>
              <a:t>Future</a:t>
            </a:r>
            <a:r>
              <a:rPr sz="1200" spc="-55" dirty="0">
                <a:solidFill>
                  <a:srgbClr val="13132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3132C"/>
                </a:solidFill>
                <a:latin typeface="Tahoma"/>
                <a:cs typeface="Tahoma"/>
              </a:rPr>
              <a:t>Work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37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889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40" dirty="0">
                <a:solidFill>
                  <a:srgbClr val="FFFFFF"/>
                </a:solidFill>
                <a:latin typeface="Arial Black"/>
                <a:cs typeface="Arial Black"/>
              </a:rPr>
              <a:t>Testing</a:t>
            </a:r>
            <a:r>
              <a:rPr sz="14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Strategy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Arial Black"/>
                <a:cs typeface="Arial Black"/>
              </a:rPr>
              <a:t>Test</a:t>
            </a:r>
            <a:r>
              <a:rPr sz="14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Coverage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38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26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Unit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Integration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Testing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39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2580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Real-</a:t>
            </a:r>
            <a:r>
              <a:rPr sz="1400" spc="-155" dirty="0">
                <a:solidFill>
                  <a:srgbClr val="FFFFFF"/>
                </a:solidFill>
                <a:latin typeface="Arial Black"/>
                <a:cs typeface="Arial Black"/>
              </a:rPr>
              <a:t>Case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 Black"/>
                <a:cs typeface="Arial Black"/>
              </a:rPr>
              <a:t>Dataset</a:t>
            </a:r>
            <a:r>
              <a:rPr sz="1400" spc="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Arial Black"/>
                <a:cs typeface="Arial Black"/>
              </a:rPr>
              <a:t>Description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40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KPI</a:t>
            </a:r>
            <a:r>
              <a:rPr spc="30" dirty="0"/>
              <a:t> </a:t>
            </a:r>
            <a:r>
              <a:rPr spc="-130" dirty="0"/>
              <a:t>Degradation</a:t>
            </a:r>
            <a:r>
              <a:rPr spc="35" dirty="0"/>
              <a:t> </a:t>
            </a:r>
            <a:r>
              <a:rPr spc="165" dirty="0"/>
              <a:t>—</a:t>
            </a:r>
            <a:r>
              <a:rPr spc="35" dirty="0"/>
              <a:t> </a:t>
            </a:r>
            <a:r>
              <a:rPr spc="-145" dirty="0"/>
              <a:t>Experimental</a:t>
            </a:r>
            <a:r>
              <a:rPr spc="35" dirty="0"/>
              <a:t> </a:t>
            </a:r>
            <a:r>
              <a:rPr spc="-114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0534" y="1473960"/>
            <a:ext cx="1678939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screenshots/mohab/results_degradation.png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41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3060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5" dirty="0"/>
              <a:t>Forecasting</a:t>
            </a:r>
            <a:r>
              <a:rPr spc="85" dirty="0"/>
              <a:t> </a:t>
            </a:r>
            <a:r>
              <a:rPr spc="165" dirty="0"/>
              <a:t>—</a:t>
            </a:r>
            <a:r>
              <a:rPr spc="85" dirty="0"/>
              <a:t> </a:t>
            </a:r>
            <a:r>
              <a:rPr spc="-145" dirty="0"/>
              <a:t>Experimental</a:t>
            </a:r>
            <a:r>
              <a:rPr spc="90" dirty="0"/>
              <a:t> </a:t>
            </a:r>
            <a:r>
              <a:rPr spc="-12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0534" y="1473960"/>
            <a:ext cx="1678939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screenshots/mohab/results_forecasting.png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42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0" dirty="0"/>
              <a:t>Action</a:t>
            </a:r>
            <a:r>
              <a:rPr spc="55" dirty="0"/>
              <a:t> </a:t>
            </a:r>
            <a:r>
              <a:rPr spc="-125" dirty="0"/>
              <a:t>Analyzer</a:t>
            </a:r>
            <a:r>
              <a:rPr spc="60" dirty="0"/>
              <a:t> </a:t>
            </a:r>
            <a:r>
              <a:rPr spc="165" dirty="0"/>
              <a:t>—</a:t>
            </a:r>
            <a:r>
              <a:rPr spc="55" dirty="0"/>
              <a:t> </a:t>
            </a:r>
            <a:r>
              <a:rPr spc="-145" dirty="0"/>
              <a:t>Experimental</a:t>
            </a:r>
            <a:r>
              <a:rPr spc="60" dirty="0"/>
              <a:t> </a:t>
            </a:r>
            <a:r>
              <a:rPr spc="-12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560" y="425226"/>
            <a:ext cx="16637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5" dirty="0">
                <a:latin typeface="Arial Black"/>
                <a:cs typeface="Arial Black"/>
              </a:rPr>
              <a:t>Configuration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20" dirty="0">
                <a:latin typeface="Arial Black"/>
                <a:cs typeface="Arial Black"/>
              </a:rPr>
              <a:t>Change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90" dirty="0">
                <a:latin typeface="Arial Black"/>
                <a:cs typeface="Arial Black"/>
              </a:rPr>
              <a:t>Event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472" y="654837"/>
            <a:ext cx="2703195" cy="229489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screenshots/mohab/results_action_before.png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2319" y="425226"/>
            <a:ext cx="1310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Arial Black"/>
                <a:cs typeface="Arial Black"/>
              </a:rPr>
              <a:t>KPI</a:t>
            </a:r>
            <a:r>
              <a:rPr sz="1000" spc="-5" dirty="0">
                <a:latin typeface="Arial Black"/>
                <a:cs typeface="Arial Black"/>
              </a:rPr>
              <a:t> </a:t>
            </a:r>
            <a:r>
              <a:rPr sz="1000" spc="-120" dirty="0">
                <a:latin typeface="Arial Black"/>
                <a:cs typeface="Arial Black"/>
              </a:rPr>
              <a:t>Impact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Measured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8498" y="654837"/>
            <a:ext cx="2703195" cy="229489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screenshots/mohab/results_action_after.png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8" name="object 8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43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RAG</a:t>
            </a:r>
            <a:r>
              <a:rPr spc="40" dirty="0"/>
              <a:t> </a:t>
            </a:r>
            <a:r>
              <a:rPr spc="-145" dirty="0"/>
              <a:t>Assistant</a:t>
            </a:r>
            <a:r>
              <a:rPr spc="35" dirty="0"/>
              <a:t> </a:t>
            </a:r>
            <a:r>
              <a:rPr spc="165" dirty="0"/>
              <a:t>—</a:t>
            </a:r>
            <a:r>
              <a:rPr spc="40" dirty="0"/>
              <a:t> </a:t>
            </a:r>
            <a:r>
              <a:rPr spc="-145" dirty="0"/>
              <a:t>Experimental</a:t>
            </a:r>
            <a:r>
              <a:rPr spc="35" dirty="0"/>
              <a:t> </a:t>
            </a:r>
            <a:r>
              <a:rPr spc="-12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015" y="1473960"/>
            <a:ext cx="1494155" cy="4387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Screenshot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not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3132C"/>
                </a:solidFill>
                <a:latin typeface="Calibri"/>
                <a:cs typeface="Calibri"/>
              </a:rPr>
              <a:t>yet</a:t>
            </a:r>
            <a:r>
              <a:rPr sz="1100" i="1" spc="120" dirty="0">
                <a:solidFill>
                  <a:srgbClr val="13132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13132C"/>
                </a:solidFill>
                <a:latin typeface="Calibri"/>
                <a:cs typeface="Calibri"/>
              </a:rPr>
              <a:t>added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600" spc="-10" dirty="0">
                <a:solidFill>
                  <a:srgbClr val="13132C"/>
                </a:solidFill>
                <a:latin typeface="Palatino Linotype"/>
                <a:cs typeface="Palatino Linotype"/>
              </a:rPr>
              <a:t>screenshots/mohab/results_rag.png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764" y="473087"/>
            <a:ext cx="5002530" cy="2484755"/>
            <a:chOff x="378764" y="473087"/>
            <a:chExt cx="5002530" cy="2484755"/>
          </a:xfrm>
        </p:grpSpPr>
        <p:sp>
          <p:nvSpPr>
            <p:cNvPr id="5" name="object 5"/>
            <p:cNvSpPr/>
            <p:nvPr/>
          </p:nvSpPr>
          <p:spPr>
            <a:xfrm>
              <a:off x="378764" y="475614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292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8704" y="475614"/>
              <a:ext cx="0" cy="2479675"/>
            </a:xfrm>
            <a:custGeom>
              <a:avLst/>
              <a:gdLst/>
              <a:ahLst/>
              <a:cxnLst/>
              <a:rect l="l" t="t" r="r" b="b"/>
              <a:pathLst>
                <a:path h="2479675">
                  <a:moveTo>
                    <a:pt x="0" y="24792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64" y="2954832"/>
              <a:ext cx="5002530" cy="0"/>
            </a:xfrm>
            <a:custGeom>
              <a:avLst/>
              <a:gdLst/>
              <a:ahLst/>
              <a:cxnLst/>
              <a:rect l="l" t="t" r="r" b="b"/>
              <a:pathLst>
                <a:path w="5002530">
                  <a:moveTo>
                    <a:pt x="0" y="0"/>
                  </a:moveTo>
                  <a:lnTo>
                    <a:pt x="500246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44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920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45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45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7337"/>
            <a:ext cx="10801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Future</a:t>
            </a:r>
            <a:r>
              <a:rPr sz="1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Arial Black"/>
                <a:cs typeface="Arial Black"/>
              </a:rPr>
              <a:t>Work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0209" y="1519171"/>
            <a:ext cx="1699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[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Fill</a:t>
            </a:r>
            <a:r>
              <a:rPr sz="1200" i="1" spc="8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in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your</a:t>
            </a:r>
            <a:r>
              <a:rPr sz="1200" i="1" spc="75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CACB5"/>
                </a:solidFill>
                <a:latin typeface="Calibri"/>
                <a:cs typeface="Calibri"/>
              </a:rPr>
              <a:t>content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CACB5"/>
                </a:solidFill>
                <a:latin typeface="Calibri"/>
                <a:cs typeface="Calibri"/>
              </a:rPr>
              <a:t>here</a:t>
            </a:r>
            <a:r>
              <a:rPr sz="1200" i="1" spc="80" dirty="0">
                <a:solidFill>
                  <a:srgbClr val="ACACB5"/>
                </a:solidFill>
                <a:latin typeface="Calibri"/>
                <a:cs typeface="Calibri"/>
              </a:rPr>
              <a:t> </a:t>
            </a:r>
            <a:r>
              <a:rPr sz="1200" i="1" spc="-50" dirty="0">
                <a:solidFill>
                  <a:srgbClr val="ACACB5"/>
                </a:solidFill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79"/>
            <a:ext cx="5760085" cy="114935"/>
            <a:chOff x="0" y="3125279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79"/>
              <a:ext cx="2016125" cy="114935"/>
            </a:xfrm>
            <a:custGeom>
              <a:avLst/>
              <a:gdLst/>
              <a:ahLst/>
              <a:cxnLst/>
              <a:rect l="l" t="t" r="r" b="b"/>
              <a:pathLst>
                <a:path w="2016125" h="114935">
                  <a:moveTo>
                    <a:pt x="2016036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016036" y="114719"/>
                  </a:lnTo>
                  <a:lnTo>
                    <a:pt x="2016036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036" y="3125279"/>
              <a:ext cx="2592070" cy="114935"/>
            </a:xfrm>
            <a:custGeom>
              <a:avLst/>
              <a:gdLst/>
              <a:ahLst/>
              <a:cxnLst/>
              <a:rect l="l" t="t" r="r" b="b"/>
              <a:pathLst>
                <a:path w="2592070" h="114935">
                  <a:moveTo>
                    <a:pt x="2591981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2591981" y="114719"/>
                  </a:lnTo>
                  <a:lnTo>
                    <a:pt x="2591981" y="0"/>
                  </a:lnTo>
                  <a:close/>
                </a:path>
              </a:pathLst>
            </a:custGeom>
            <a:solidFill>
              <a:srgbClr val="3737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08017" y="3125279"/>
              <a:ext cx="1152525" cy="114935"/>
            </a:xfrm>
            <a:custGeom>
              <a:avLst/>
              <a:gdLst/>
              <a:ahLst/>
              <a:cxnLst/>
              <a:rect l="l" t="t" r="r" b="b"/>
              <a:pathLst>
                <a:path w="1152525" h="114935">
                  <a:moveTo>
                    <a:pt x="1151978" y="0"/>
                  </a:moveTo>
                  <a:lnTo>
                    <a:pt x="0" y="0"/>
                  </a:lnTo>
                  <a:lnTo>
                    <a:pt x="0" y="114719"/>
                  </a:lnTo>
                  <a:lnTo>
                    <a:pt x="1151978" y="114719"/>
                  </a:lnTo>
                  <a:lnTo>
                    <a:pt x="1151978" y="0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ITI </a:t>
            </a:r>
            <a:r>
              <a:rPr spc="-10" dirty="0"/>
              <a:t>Intake</a:t>
            </a:r>
            <a:r>
              <a:rPr spc="5" dirty="0"/>
              <a:t> </a:t>
            </a:r>
            <a:r>
              <a:rPr spc="-25" dirty="0"/>
              <a:t>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0044" y="3105948"/>
            <a:ext cx="42418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RANPilotAI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46</a:t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628" y="0"/>
            <a:ext cx="5611495" cy="1296035"/>
            <a:chOff x="148628" y="0"/>
            <a:chExt cx="5611495" cy="1296035"/>
          </a:xfrm>
        </p:grpSpPr>
        <p:sp>
          <p:nvSpPr>
            <p:cNvPr id="3" name="object 3"/>
            <p:cNvSpPr/>
            <p:nvPr/>
          </p:nvSpPr>
          <p:spPr>
            <a:xfrm>
              <a:off x="148628" y="0"/>
              <a:ext cx="5611495" cy="972185"/>
            </a:xfrm>
            <a:custGeom>
              <a:avLst/>
              <a:gdLst/>
              <a:ahLst/>
              <a:cxnLst/>
              <a:rect l="l" t="t" r="r" b="b"/>
              <a:pathLst>
                <a:path w="5611495" h="972185">
                  <a:moveTo>
                    <a:pt x="0" y="971972"/>
                  </a:moveTo>
                  <a:lnTo>
                    <a:pt x="5611367" y="971972"/>
                  </a:lnTo>
                  <a:lnTo>
                    <a:pt x="5611367" y="0"/>
                  </a:lnTo>
                  <a:lnTo>
                    <a:pt x="0" y="0"/>
                  </a:lnTo>
                  <a:lnTo>
                    <a:pt x="0" y="971972"/>
                  </a:lnTo>
                  <a:close/>
                </a:path>
              </a:pathLst>
            </a:custGeom>
            <a:solidFill>
              <a:srgbClr val="131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628" y="971973"/>
              <a:ext cx="5611495" cy="324485"/>
            </a:xfrm>
            <a:custGeom>
              <a:avLst/>
              <a:gdLst/>
              <a:ahLst/>
              <a:cxnLst/>
              <a:rect l="l" t="t" r="r" b="b"/>
              <a:pathLst>
                <a:path w="5611495" h="324484">
                  <a:moveTo>
                    <a:pt x="5611367" y="0"/>
                  </a:moveTo>
                  <a:lnTo>
                    <a:pt x="0" y="0"/>
                  </a:lnTo>
                  <a:lnTo>
                    <a:pt x="0" y="324023"/>
                  </a:lnTo>
                  <a:lnTo>
                    <a:pt x="5611367" y="324023"/>
                  </a:lnTo>
                  <a:lnTo>
                    <a:pt x="561136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628" y="923374"/>
              <a:ext cx="5611495" cy="48895"/>
            </a:xfrm>
            <a:custGeom>
              <a:avLst/>
              <a:gdLst/>
              <a:ahLst/>
              <a:cxnLst/>
              <a:rect l="l" t="t" r="r" b="b"/>
              <a:pathLst>
                <a:path w="5611495" h="48894">
                  <a:moveTo>
                    <a:pt x="5611367" y="0"/>
                  </a:moveTo>
                  <a:lnTo>
                    <a:pt x="0" y="0"/>
                  </a:lnTo>
                  <a:lnTo>
                    <a:pt x="0" y="48598"/>
                  </a:lnTo>
                  <a:lnTo>
                    <a:pt x="5611367" y="48598"/>
                  </a:lnTo>
                  <a:lnTo>
                    <a:pt x="5611367" y="0"/>
                  </a:lnTo>
                  <a:close/>
                </a:path>
              </a:pathLst>
            </a:custGeom>
            <a:solidFill>
              <a:srgbClr val="B4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628" y="1024367"/>
            <a:ext cx="5611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7955" algn="ctr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 Black"/>
                <a:cs typeface="Arial Black"/>
              </a:rPr>
              <a:t>RANPilotAI</a:t>
            </a:r>
            <a:r>
              <a:rPr sz="11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i="1" dirty="0">
                <a:solidFill>
                  <a:srgbClr val="FFFFFF"/>
                </a:solidFill>
                <a:latin typeface="Utopia Std Caption"/>
                <a:cs typeface="Utopia Std Caption"/>
              </a:rPr>
              <a:t>·</a:t>
            </a:r>
            <a:r>
              <a:rPr sz="1100" i="1" spc="155" dirty="0">
                <a:solidFill>
                  <a:srgbClr val="FFFFFF"/>
                </a:solidFill>
                <a:latin typeface="Utopia Std Caption"/>
                <a:cs typeface="Utopia Std Caption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ITI</a:t>
            </a:r>
            <a:r>
              <a:rPr sz="11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40" dirty="0">
                <a:solidFill>
                  <a:srgbClr val="FFFFFF"/>
                </a:solidFill>
                <a:latin typeface="Arial Black"/>
                <a:cs typeface="Arial Black"/>
              </a:rPr>
              <a:t>Intake</a:t>
            </a:r>
            <a:r>
              <a:rPr sz="11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45" dirty="0">
                <a:solidFill>
                  <a:srgbClr val="FFFFFF"/>
                </a:solidFill>
                <a:latin typeface="Arial Black"/>
                <a:cs typeface="Arial Black"/>
              </a:rPr>
              <a:t>46</a:t>
            </a:r>
            <a:r>
              <a:rPr sz="11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i="1" dirty="0">
                <a:solidFill>
                  <a:srgbClr val="FFFFFF"/>
                </a:solidFill>
                <a:latin typeface="Utopia Std Caption"/>
                <a:cs typeface="Utopia Std Caption"/>
              </a:rPr>
              <a:t>·</a:t>
            </a:r>
            <a:r>
              <a:rPr sz="1100" i="1" spc="160" dirty="0">
                <a:solidFill>
                  <a:srgbClr val="FFFFFF"/>
                </a:solidFill>
                <a:latin typeface="Utopia Std Caption"/>
                <a:cs typeface="Utopia Std Caption"/>
              </a:rPr>
              <a:t> </a:t>
            </a:r>
            <a:r>
              <a:rPr sz="1100" spc="-140" dirty="0">
                <a:solidFill>
                  <a:srgbClr val="FFFFFF"/>
                </a:solidFill>
                <a:latin typeface="Arial Black"/>
                <a:cs typeface="Arial Black"/>
              </a:rPr>
              <a:t>Ismailia</a:t>
            </a:r>
            <a:r>
              <a:rPr sz="11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35" dirty="0">
                <a:solidFill>
                  <a:srgbClr val="FFFFFF"/>
                </a:solidFill>
                <a:latin typeface="Arial Black"/>
                <a:cs typeface="Arial Black"/>
              </a:rPr>
              <a:t>Branch</a:t>
            </a:r>
            <a:r>
              <a:rPr sz="11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i="1" dirty="0">
                <a:solidFill>
                  <a:srgbClr val="FFFFFF"/>
                </a:solidFill>
                <a:latin typeface="Utopia Std Caption"/>
                <a:cs typeface="Utopia Std Caption"/>
              </a:rPr>
              <a:t>·</a:t>
            </a:r>
            <a:r>
              <a:rPr sz="1100" i="1" spc="160" dirty="0">
                <a:solidFill>
                  <a:srgbClr val="FFFFFF"/>
                </a:solidFill>
                <a:latin typeface="Utopia Std Caption"/>
                <a:cs typeface="Utopia Std Caption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2026</a:t>
            </a:r>
            <a:endParaRPr sz="1100" dirty="0">
              <a:latin typeface="Arial Black"/>
              <a:cs typeface="Arial Black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1351</TotalTime>
  <Words>955</Words>
  <Application>Microsoft Office PowerPoint</Application>
  <PresentationFormat>Custom</PresentationFormat>
  <Paragraphs>322</Paragraphs>
  <Slides>47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Arial Black</vt:lpstr>
      <vt:lpstr>Calibri</vt:lpstr>
      <vt:lpstr>Palatino Linotype</vt:lpstr>
      <vt:lpstr>Tahoma</vt:lpstr>
      <vt:lpstr>Times New Roman</vt:lpstr>
      <vt:lpstr>Utopia Std Caption</vt:lpstr>
      <vt:lpstr>Office Theme</vt:lpstr>
      <vt:lpstr>RANPilotAI</vt:lpstr>
      <vt:lpstr>Agenda</vt:lpstr>
      <vt:lpstr>Tasneem Amein</vt:lpstr>
      <vt:lpstr>PowerPoint Presentation</vt:lpstr>
      <vt:lpstr>PowerPoint Presentation</vt:lpstr>
      <vt:lpstr>PowerPoint Presentation</vt:lpstr>
      <vt:lpstr>Overall System Architecture</vt:lpstr>
      <vt:lpstr>PowerPoint Presentation</vt:lpstr>
      <vt:lpstr>PowerPoint Presentation</vt:lpstr>
      <vt:lpstr>PowerPoint Presentation</vt:lpstr>
      <vt:lpstr>PowerPoint Presentation</vt:lpstr>
      <vt:lpstr>KPI Degradation Analyzer — Interface</vt:lpstr>
      <vt:lpstr>KPI Degradation — Sample Results</vt:lpstr>
      <vt:lpstr>PowerPoint Presentation</vt:lpstr>
      <vt:lpstr>PowerPoint Presentation</vt:lpstr>
      <vt:lpstr>PowerPoint Presentation</vt:lpstr>
      <vt:lpstr>PowerPoint Presentation</vt:lpstr>
      <vt:lpstr>Forecasting Module — Interface</vt:lpstr>
      <vt:lpstr>Model Evaluation &amp; Accuracy Metrics</vt:lpstr>
      <vt:lpstr>7-Day KPI Forecast — Output</vt:lpstr>
      <vt:lpstr>XGBoost Feature Importance</vt:lpstr>
      <vt:lpstr>Khaled Mogahed</vt:lpstr>
      <vt:lpstr>PowerPoint Presentation</vt:lpstr>
      <vt:lpstr>PowerPoint Presentation</vt:lpstr>
      <vt:lpstr>Action Analyzer — Interface</vt:lpstr>
      <vt:lpstr>PowerPoint Presentation</vt:lpstr>
      <vt:lpstr>Before / After KPI Impact Analysis</vt:lpstr>
      <vt:lpstr>PowerPoint Presentation</vt:lpstr>
      <vt:lpstr>PowerPoint Presentation</vt:lpstr>
      <vt:lpstr>RAG Assistant — Overview &amp; Motivation</vt:lpstr>
      <vt:lpstr>PowerPoint Presentation</vt:lpstr>
      <vt:lpstr>Pipeline — Key Engineering Decisions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 Degradation — Experimental Results</vt:lpstr>
      <vt:lpstr>Forecasting — Experimental Results</vt:lpstr>
      <vt:lpstr>Action Analyzer — Experimental Results</vt:lpstr>
      <vt:lpstr>RAG Assistant — Experimental Results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RANPilotAI</dc:title>
  <dc:creator>Tasneem · Ibrahim · Khaled · Mahmoud · Mohab</dc:creator>
  <cp:lastModifiedBy>Mahmoud Ashraf Mahmoud</cp:lastModifiedBy>
  <cp:revision>35</cp:revision>
  <dcterms:created xsi:type="dcterms:W3CDTF">2026-08-06T23:05:55Z</dcterms:created>
  <dcterms:modified xsi:type="dcterms:W3CDTF">2026-08-08T12:58:27Z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2026-08-06T00:00:00Z</vt:filetime>
  </property>
  <property fmtid="{D5CDD505-2E9C-101B-9397-08002B2CF9AE}" pid="5" name="PTEX.Fullbanner">
    <vt:lpwstr>This is MiKTeX-pdfTeX 4.23.0 (1.40.28)</vt:lpwstr>
  </property>
  <property fmtid="{D5CDD505-2E9C-101B-9397-08002B2CF9AE}" pid="6" name="Producer">
    <vt:lpwstr>MiKTeX pdfTeX-1.40.28</vt:lpwstr>
  </property>
</Properties>
</file>