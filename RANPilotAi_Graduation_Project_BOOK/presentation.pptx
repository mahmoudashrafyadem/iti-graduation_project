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Default Extension="jpg" ContentType="image/jpg"/>
  <Override PartName="/ppt/slides/slide2.xml" ContentType="application/vnd.openxmlformats-officedocument.presentationml.slide+xml"/>
  <Default Extension="png" ContentType="image/png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</p:sldIdLst>
  <p:sldSz cx="5765800" cy="3244850"/>
  <p:notesSz cx="5765800" cy="324485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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#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#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#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#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#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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5760085" cy="345440"/>
          </a:xfrm>
          <a:custGeom>
            <a:avLst/>
            <a:gdLst/>
            <a:ahLst/>
            <a:cxnLst/>
            <a:rect l="l" t="t" r="r" b="b"/>
            <a:pathLst>
              <a:path w="5760085" h="345440">
                <a:moveTo>
                  <a:pt x="5759996" y="0"/>
                </a:moveTo>
                <a:lnTo>
                  <a:pt x="0" y="0"/>
                </a:lnTo>
                <a:lnTo>
                  <a:pt x="0" y="345058"/>
                </a:lnTo>
                <a:lnTo>
                  <a:pt x="5759996" y="345058"/>
                </a:lnTo>
                <a:lnTo>
                  <a:pt x="5759996" y="0"/>
                </a:lnTo>
                <a:close/>
              </a:path>
            </a:pathLst>
          </a:custGeom>
          <a:solidFill>
            <a:srgbClr val="13132C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57337"/>
            <a:ext cx="3531870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0" i="0">
                <a:solidFill>
                  <a:schemeClr val="bg1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6385" y="630325"/>
            <a:ext cx="2736215" cy="17379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0" i="0">
                <a:solidFill>
                  <a:schemeClr val="tx1"/>
                </a:solidFill>
                <a:latin typeface="Arial Black"/>
                <a:cs typeface="Arial Black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63220" y="3105948"/>
            <a:ext cx="464820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5415965" y="3105948"/>
            <a:ext cx="281304" cy="13716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#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
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slide" Target="slide3.xml"/><Relationship Id="rId4" Type="http://schemas.openxmlformats.org/officeDocument/2006/relationships/slide" Target="slide14.xml"/><Relationship Id="rId5" Type="http://schemas.openxmlformats.org/officeDocument/2006/relationships/slide" Target="slide22.xml"/><Relationship Id="rId6" Type="http://schemas.openxmlformats.org/officeDocument/2006/relationships/slide" Target="slide29.xml"/><Relationship Id="rId7" Type="http://schemas.openxmlformats.org/officeDocument/2006/relationships/slide" Target="slide37.xml"/><Relationship Id="rId8" Type="http://schemas.openxmlformats.org/officeDocument/2006/relationships/image" Target="../media/image4.png"/><Relationship Id="rId9" Type="http://schemas.openxmlformats.org/officeDocument/2006/relationships/image" Target="../media/image5.png"/><Relationship Id="rId10" Type="http://schemas.openxmlformats.org/officeDocument/2006/relationships/image" Target="../media/image6.png"/><Relationship Id="rId11" Type="http://schemas.openxmlformats.org/officeDocument/2006/relationships/image" Target="../media/image7.png"/><Relationship Id="rId12" Type="http://schemas.openxmlformats.org/officeDocument/2006/relationships/slide" Target="slide1.xml"/></Relationships>
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" Target="slide1.xml"/></Relationships>
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" Target="slide1.xml"/></Relationships>
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
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
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slide" Target="slide1.xml"/></Relationships>
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3.jpg"/><Relationship Id="rId3" Type="http://schemas.openxmlformats.org/officeDocument/2006/relationships/slide" Target="slide1.xml"/></Relationships>
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4.jpg"/><Relationship Id="rId3" Type="http://schemas.openxmlformats.org/officeDocument/2006/relationships/image" Target="../media/image12.png"/><Relationship Id="rId4" Type="http://schemas.openxmlformats.org/officeDocument/2006/relationships/slide" Target="slide1.xml"/></Relationships>
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" Target="slide1.xml"/></Relationships>
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" Target="slide1.xml"/></Relationships>
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" Target="slide1.xml"/></Relationships>
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-4" y="793774"/>
            <a:ext cx="5760085" cy="2122805"/>
          </a:xfrm>
          <a:custGeom>
            <a:avLst/>
            <a:gdLst/>
            <a:ahLst/>
            <a:cxnLst/>
            <a:rect l="l" t="t" r="r" b="b"/>
            <a:pathLst>
              <a:path w="5760085" h="2122805">
                <a:moveTo>
                  <a:pt x="0" y="2122223"/>
                </a:moveTo>
                <a:lnTo>
                  <a:pt x="5760073" y="2122223"/>
                </a:lnTo>
                <a:lnTo>
                  <a:pt x="5760073" y="0"/>
                </a:lnTo>
                <a:lnTo>
                  <a:pt x="0" y="0"/>
                </a:lnTo>
                <a:lnTo>
                  <a:pt x="0" y="2122223"/>
                </a:lnTo>
                <a:close/>
              </a:path>
            </a:pathLst>
          </a:custGeom>
          <a:solidFill>
            <a:srgbClr val="13132C"/>
          </a:solidFill>
        </p:spPr>
        <p:txBody>
          <a:bodyPr wrap="square" lIns="0" tIns="0" rIns="0" bIns="0" rtlCol="0"/>
          <a:lstStyle/>
          <a:p/>
        </p:txBody>
      </p:sp>
      <p:grpSp>
        <p:nvGrpSpPr>
          <p:cNvPr id="3" name="object 3"/>
          <p:cNvGrpSpPr/>
          <p:nvPr/>
        </p:nvGrpSpPr>
        <p:grpSpPr>
          <a:xfrm>
            <a:off x="-4" y="-19"/>
            <a:ext cx="5760085" cy="794385"/>
            <a:chOff x="-4" y="-19"/>
            <a:chExt cx="5760085" cy="794385"/>
          </a:xfrm>
        </p:grpSpPr>
        <p:sp>
          <p:nvSpPr>
            <p:cNvPr id="4" name="object 4"/>
            <p:cNvSpPr/>
            <p:nvPr/>
          </p:nvSpPr>
          <p:spPr>
            <a:xfrm>
              <a:off x="-4" y="-19"/>
              <a:ext cx="5760085" cy="713105"/>
            </a:xfrm>
            <a:custGeom>
              <a:avLst/>
              <a:gdLst/>
              <a:ahLst/>
              <a:cxnLst/>
              <a:rect l="l" t="t" r="r" b="b"/>
              <a:pathLst>
                <a:path w="5760085" h="713105">
                  <a:moveTo>
                    <a:pt x="0" y="712813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712813"/>
                  </a:lnTo>
                  <a:lnTo>
                    <a:pt x="0" y="712813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-4" y="712793"/>
              <a:ext cx="5760085" cy="81280"/>
            </a:xfrm>
            <a:custGeom>
              <a:avLst/>
              <a:gdLst/>
              <a:ahLst/>
              <a:cxnLst/>
              <a:rect l="l" t="t" r="r" b="b"/>
              <a:pathLst>
                <a:path w="5760085" h="81279">
                  <a:moveTo>
                    <a:pt x="0" y="80981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80981"/>
                  </a:lnTo>
                  <a:lnTo>
                    <a:pt x="0" y="80981"/>
                  </a:lnTo>
                  <a:close/>
                </a:path>
              </a:pathLst>
            </a:custGeom>
            <a:solidFill>
              <a:srgbClr val="717180"/>
            </a:solidFill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6" name="object 6"/>
          <p:cNvGrpSpPr/>
          <p:nvPr/>
        </p:nvGrpSpPr>
        <p:grpSpPr>
          <a:xfrm>
            <a:off x="-4" y="2867399"/>
            <a:ext cx="5760085" cy="372745"/>
            <a:chOff x="-4" y="2867399"/>
            <a:chExt cx="5760085" cy="372745"/>
          </a:xfrm>
        </p:grpSpPr>
        <p:sp>
          <p:nvSpPr>
            <p:cNvPr id="7" name="object 7"/>
            <p:cNvSpPr/>
            <p:nvPr/>
          </p:nvSpPr>
          <p:spPr>
            <a:xfrm>
              <a:off x="-4" y="2915997"/>
              <a:ext cx="5760085" cy="324485"/>
            </a:xfrm>
            <a:custGeom>
              <a:avLst/>
              <a:gdLst/>
              <a:ahLst/>
              <a:cxnLst/>
              <a:rect l="l" t="t" r="r" b="b"/>
              <a:pathLst>
                <a:path w="5760085" h="324485">
                  <a:moveTo>
                    <a:pt x="0" y="324023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324023"/>
                  </a:lnTo>
                  <a:lnTo>
                    <a:pt x="0" y="324023"/>
                  </a:lnTo>
                  <a:close/>
                </a:path>
              </a:pathLst>
            </a:custGeom>
            <a:solidFill>
              <a:srgbClr val="66666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-4" y="2867399"/>
              <a:ext cx="5760085" cy="48895"/>
            </a:xfrm>
            <a:custGeom>
              <a:avLst/>
              <a:gdLst/>
              <a:ahLst/>
              <a:cxnLst/>
              <a:rect l="l" t="t" r="r" b="b"/>
              <a:pathLst>
                <a:path w="5760085" h="48894">
                  <a:moveTo>
                    <a:pt x="0" y="48598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48598"/>
                  </a:lnTo>
                  <a:lnTo>
                    <a:pt x="0" y="48598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2435" y="86437"/>
            <a:ext cx="539964" cy="539964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009616" y="122453"/>
            <a:ext cx="467944" cy="467944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4856276" y="569561"/>
            <a:ext cx="720090" cy="116839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600" i="1">
                <a:solidFill>
                  <a:srgbClr val="FFFFFF"/>
                </a:solidFill>
                <a:latin typeface="Calibri"/>
                <a:cs typeface="Calibri"/>
              </a:rPr>
              <a:t>In</a:t>
            </a:r>
            <a:r>
              <a:rPr dirty="0" sz="600" spc="125" i="1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600" i="1">
                <a:solidFill>
                  <a:srgbClr val="FFFFFF"/>
                </a:solidFill>
                <a:latin typeface="Calibri"/>
                <a:cs typeface="Calibri"/>
              </a:rPr>
              <a:t>collaboration</a:t>
            </a:r>
            <a:r>
              <a:rPr dirty="0" sz="600" spc="125" i="1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dirty="0" sz="600" spc="-20" i="1">
                <a:solidFill>
                  <a:srgbClr val="FFFFFF"/>
                </a:solidFill>
                <a:latin typeface="Calibri"/>
                <a:cs typeface="Calibri"/>
              </a:rPr>
              <a:t>with</a:t>
            </a:r>
            <a:endParaRPr sz="600">
              <a:latin typeface="Calibri"/>
              <a:cs typeface="Calibri"/>
            </a:endParaRPr>
          </a:p>
        </p:txBody>
      </p:sp>
      <p:sp>
        <p:nvSpPr>
          <p:cNvPr id="12" name="object 12" descr="$PPTXTitle"/>
          <p:cNvSpPr txBox="1">
            <a:spLocks noGrp="1"/>
          </p:cNvSpPr>
          <p:nvPr>
            <p:ph type="title"/>
          </p:nvPr>
        </p:nvSpPr>
        <p:spPr>
          <a:xfrm>
            <a:off x="1692363" y="937704"/>
            <a:ext cx="2373630" cy="54165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3350" spc="-180"/>
              <a:t>RANPilotAI</a:t>
            </a:r>
            <a:endParaRPr sz="3350"/>
          </a:p>
        </p:txBody>
      </p:sp>
      <p:sp>
        <p:nvSpPr>
          <p:cNvPr id="13" name="object 13"/>
          <p:cNvSpPr txBox="1"/>
          <p:nvPr/>
        </p:nvSpPr>
        <p:spPr>
          <a:xfrm>
            <a:off x="880452" y="1373451"/>
            <a:ext cx="3999229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70" i="1">
                <a:solidFill>
                  <a:srgbClr val="E5E5EB"/>
                </a:solidFill>
                <a:latin typeface="Calibri"/>
                <a:cs typeface="Calibri"/>
              </a:rPr>
              <a:t>AI-</a:t>
            </a:r>
            <a:r>
              <a:rPr dirty="0" sz="1400" spc="-10" i="1">
                <a:solidFill>
                  <a:srgbClr val="E5E5EB"/>
                </a:solidFill>
                <a:latin typeface="Calibri"/>
                <a:cs typeface="Calibri"/>
              </a:rPr>
              <a:t>Powered</a:t>
            </a:r>
            <a:r>
              <a:rPr dirty="0" sz="1400" spc="150" i="1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dirty="0" sz="1400" spc="105" i="1">
                <a:solidFill>
                  <a:srgbClr val="E5E5EB"/>
                </a:solidFill>
                <a:latin typeface="Calibri"/>
                <a:cs typeface="Calibri"/>
              </a:rPr>
              <a:t>RAN</a:t>
            </a:r>
            <a:r>
              <a:rPr dirty="0" sz="1400" spc="150" i="1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dirty="0" sz="1400" i="1">
                <a:solidFill>
                  <a:srgbClr val="E5E5EB"/>
                </a:solidFill>
                <a:latin typeface="Calibri"/>
                <a:cs typeface="Calibri"/>
              </a:rPr>
              <a:t>Performance</a:t>
            </a:r>
            <a:r>
              <a:rPr dirty="0" sz="1400" spc="150" i="1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dirty="0" sz="1400" i="1">
                <a:solidFill>
                  <a:srgbClr val="E5E5EB"/>
                </a:solidFill>
                <a:latin typeface="Calibri"/>
                <a:cs typeface="Calibri"/>
              </a:rPr>
              <a:t>Optimization</a:t>
            </a:r>
            <a:r>
              <a:rPr dirty="0" sz="1400" spc="150" i="1">
                <a:solidFill>
                  <a:srgbClr val="E5E5EB"/>
                </a:solidFill>
                <a:latin typeface="Calibri"/>
                <a:cs typeface="Calibri"/>
              </a:rPr>
              <a:t> </a:t>
            </a:r>
            <a:r>
              <a:rPr dirty="0" sz="1400" spc="-10" i="1">
                <a:solidFill>
                  <a:srgbClr val="E5E5EB"/>
                </a:solidFill>
                <a:latin typeface="Calibri"/>
                <a:cs typeface="Calibri"/>
              </a:rPr>
              <a:t>Platform</a:t>
            </a:r>
            <a:endParaRPr sz="1400">
              <a:latin typeface="Calibri"/>
              <a:cs typeface="Calibri"/>
            </a:endParaRPr>
          </a:p>
        </p:txBody>
      </p:sp>
      <p:sp>
        <p:nvSpPr>
          <p:cNvPr id="14" name="object 14"/>
          <p:cNvSpPr/>
          <p:nvPr/>
        </p:nvSpPr>
        <p:spPr>
          <a:xfrm>
            <a:off x="863970" y="1684815"/>
            <a:ext cx="4032250" cy="0"/>
          </a:xfrm>
          <a:custGeom>
            <a:avLst/>
            <a:gdLst/>
            <a:ahLst/>
            <a:cxnLst/>
            <a:rect l="l" t="t" r="r" b="b"/>
            <a:pathLst>
              <a:path w="4032250" h="0">
                <a:moveTo>
                  <a:pt x="0" y="0"/>
                </a:moveTo>
                <a:lnTo>
                  <a:pt x="4032122" y="0"/>
                </a:lnTo>
              </a:path>
            </a:pathLst>
          </a:custGeom>
          <a:ln w="10122">
            <a:solidFill>
              <a:srgbClr val="CA5A5A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5" name="object 15"/>
          <p:cNvSpPr/>
          <p:nvPr/>
        </p:nvSpPr>
        <p:spPr>
          <a:xfrm>
            <a:off x="1440013" y="2413795"/>
            <a:ext cx="2880360" cy="0"/>
          </a:xfrm>
          <a:custGeom>
            <a:avLst/>
            <a:gdLst/>
            <a:ahLst/>
            <a:cxnLst/>
            <a:rect l="l" t="t" r="r" b="b"/>
            <a:pathLst>
              <a:path w="2880360" h="0">
                <a:moveTo>
                  <a:pt x="0" y="0"/>
                </a:moveTo>
                <a:lnTo>
                  <a:pt x="2880037" y="0"/>
                </a:lnTo>
              </a:path>
            </a:pathLst>
          </a:custGeom>
          <a:ln w="5060">
            <a:solidFill>
              <a:srgbClr val="F7F7F8"/>
            </a:solidFill>
          </a:ln>
        </p:spPr>
        <p:txBody>
          <a:bodyPr wrap="square" lIns="0" tIns="0" rIns="0" bIns="0" rtlCol="0"/>
          <a:lstStyle/>
          <a:p/>
        </p:txBody>
      </p:sp>
      <p:sp>
        <p:nvSpPr>
          <p:cNvPr id="16" name="object 16"/>
          <p:cNvSpPr txBox="1"/>
          <p:nvPr/>
        </p:nvSpPr>
        <p:spPr>
          <a:xfrm>
            <a:off x="888276" y="1651616"/>
            <a:ext cx="3983990" cy="967105"/>
          </a:xfrm>
          <a:prstGeom prst="rect">
            <a:avLst/>
          </a:prstGeom>
        </p:spPr>
        <p:txBody>
          <a:bodyPr wrap="square" lIns="0" tIns="57785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455"/>
              </a:spcBef>
            </a:pPr>
            <a:r>
              <a:rPr dirty="0" sz="1100" i="1">
                <a:solidFill>
                  <a:srgbClr val="EBEBEF"/>
                </a:solidFill>
                <a:latin typeface="Calibri"/>
                <a:cs typeface="Calibri"/>
              </a:rPr>
              <a:t>Graduation</a:t>
            </a:r>
            <a:r>
              <a:rPr dirty="0" sz="1100" spc="130" i="1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EBEBEF"/>
                </a:solidFill>
                <a:latin typeface="Calibri"/>
                <a:cs typeface="Calibri"/>
              </a:rPr>
              <a:t>Project</a:t>
            </a:r>
            <a:r>
              <a:rPr dirty="0" sz="1100" spc="130" i="1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dirty="0" sz="1100" spc="295" i="1">
                <a:solidFill>
                  <a:srgbClr val="EBEBEF"/>
                </a:solidFill>
                <a:latin typeface="Calibri"/>
                <a:cs typeface="Calibri"/>
              </a:rPr>
              <a:t>•</a:t>
            </a:r>
            <a:r>
              <a:rPr dirty="0" sz="1100" spc="135" i="1">
                <a:solidFill>
                  <a:srgbClr val="EBEBEF"/>
                </a:solidFill>
                <a:latin typeface="Calibri"/>
                <a:cs typeface="Calibri"/>
              </a:rPr>
              <a:t> </a:t>
            </a:r>
            <a:r>
              <a:rPr dirty="0" sz="1100" spc="-20" i="1">
                <a:solidFill>
                  <a:srgbClr val="EBEBEF"/>
                </a:solidFill>
                <a:latin typeface="Calibri"/>
                <a:cs typeface="Calibri"/>
              </a:rPr>
              <a:t>2026</a:t>
            </a:r>
            <a:endParaRPr sz="1100">
              <a:latin typeface="Calibri"/>
              <a:cs typeface="Calibri"/>
            </a:endParaRPr>
          </a:p>
          <a:p>
            <a:pPr algn="ctr" marL="12065" marR="5080">
              <a:lnSpc>
                <a:spcPct val="114399"/>
              </a:lnSpc>
              <a:spcBef>
                <a:spcPts val="185"/>
              </a:spcBef>
              <a:tabLst>
                <a:tab pos="1264920" algn="l"/>
                <a:tab pos="1353820" algn="l"/>
                <a:tab pos="2575560" algn="l"/>
              </a:tabLst>
            </a:pPr>
            <a:r>
              <a:rPr dirty="0" sz="1200" spc="-180">
                <a:solidFill>
                  <a:srgbClr val="FFFFFF"/>
                </a:solidFill>
                <a:latin typeface="Arial Black"/>
                <a:cs typeface="Arial Black"/>
              </a:rPr>
              <a:t>Tasneem</a:t>
            </a:r>
            <a:r>
              <a:rPr dirty="0" sz="1200" spc="8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200" spc="-10">
                <a:solidFill>
                  <a:srgbClr val="FFFFFF"/>
                </a:solidFill>
                <a:latin typeface="Arial Black"/>
                <a:cs typeface="Arial Black"/>
              </a:rPr>
              <a:t>Amein</a:t>
            </a:r>
            <a:r>
              <a:rPr dirty="0" sz="120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dirty="0" sz="1200" spc="42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dirty="0" sz="1200" spc="28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200" spc="-140">
                <a:solidFill>
                  <a:srgbClr val="FFFFFF"/>
                </a:solidFill>
                <a:latin typeface="Arial Black"/>
                <a:cs typeface="Arial Black"/>
              </a:rPr>
              <a:t>Ibrahim</a:t>
            </a:r>
            <a:r>
              <a:rPr dirty="0" sz="1200" spc="5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200" spc="-20">
                <a:solidFill>
                  <a:srgbClr val="FFFFFF"/>
                </a:solidFill>
                <a:latin typeface="Arial Black"/>
                <a:cs typeface="Arial Black"/>
              </a:rPr>
              <a:t>Samy</a:t>
            </a:r>
            <a:r>
              <a:rPr dirty="0" sz="120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dirty="0" sz="1200" spc="42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dirty="0" sz="1200" spc="26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200" spc="-140">
                <a:solidFill>
                  <a:srgbClr val="FFFFFF"/>
                </a:solidFill>
                <a:latin typeface="Arial Black"/>
                <a:cs typeface="Arial Black"/>
              </a:rPr>
              <a:t>Khaled</a:t>
            </a:r>
            <a:r>
              <a:rPr dirty="0" sz="12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200" spc="-130">
                <a:solidFill>
                  <a:srgbClr val="FFFFFF"/>
                </a:solidFill>
                <a:latin typeface="Arial Black"/>
                <a:cs typeface="Arial Black"/>
              </a:rPr>
              <a:t>Mogahed Mahmoud</a:t>
            </a:r>
            <a:r>
              <a:rPr dirty="0" sz="1200" spc="5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200" spc="-10">
                <a:solidFill>
                  <a:srgbClr val="FFFFFF"/>
                </a:solidFill>
                <a:latin typeface="Arial Black"/>
                <a:cs typeface="Arial Black"/>
              </a:rPr>
              <a:t>Ashraf</a:t>
            </a:r>
            <a:r>
              <a:rPr dirty="0" sz="1200">
                <a:solidFill>
                  <a:srgbClr val="FFFFFF"/>
                </a:solidFill>
                <a:latin typeface="Arial Black"/>
                <a:cs typeface="Arial Black"/>
              </a:rPr>
              <a:t>	</a:t>
            </a:r>
            <a:r>
              <a:rPr dirty="0" sz="1200" spc="420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dirty="0" sz="1200" spc="24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200" spc="-110">
                <a:solidFill>
                  <a:srgbClr val="FFFFFF"/>
                </a:solidFill>
                <a:latin typeface="Arial Black"/>
                <a:cs typeface="Arial Black"/>
              </a:rPr>
              <a:t>Mohab</a:t>
            </a:r>
            <a:r>
              <a:rPr dirty="0" sz="1200" spc="3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200" spc="-20">
                <a:solidFill>
                  <a:srgbClr val="FFFFFF"/>
                </a:solidFill>
                <a:latin typeface="Arial Black"/>
                <a:cs typeface="Arial Black"/>
              </a:rPr>
              <a:t>Tarek</a:t>
            </a:r>
            <a:endParaRPr sz="1200">
              <a:latin typeface="Arial Black"/>
              <a:cs typeface="Arial Black"/>
            </a:endParaRPr>
          </a:p>
          <a:p>
            <a:pPr algn="ctr">
              <a:lnSpc>
                <a:spcPct val="100000"/>
              </a:lnSpc>
              <a:spcBef>
                <a:spcPts val="940"/>
              </a:spcBef>
            </a:pPr>
            <a:r>
              <a:rPr dirty="0" sz="1100" spc="-40">
                <a:solidFill>
                  <a:srgbClr val="E5E5EB"/>
                </a:solidFill>
                <a:latin typeface="Tahoma"/>
                <a:cs typeface="Tahoma"/>
              </a:rPr>
              <a:t>Supervisor:</a:t>
            </a:r>
            <a:r>
              <a:rPr dirty="0" sz="1100" spc="20">
                <a:solidFill>
                  <a:srgbClr val="E5E5EB"/>
                </a:solidFill>
                <a:latin typeface="Tahoma"/>
                <a:cs typeface="Tahoma"/>
              </a:rPr>
              <a:t> </a:t>
            </a:r>
            <a:r>
              <a:rPr dirty="0" sz="1100">
                <a:solidFill>
                  <a:srgbClr val="E5E5EB"/>
                </a:solidFill>
                <a:latin typeface="Arial Black"/>
                <a:cs typeface="Arial Black"/>
              </a:rPr>
              <a:t>Dr.</a:t>
            </a:r>
            <a:r>
              <a:rPr dirty="0" sz="1100" spc="-20">
                <a:solidFill>
                  <a:srgbClr val="E5E5EB"/>
                </a:solidFill>
                <a:latin typeface="Arial Black"/>
                <a:cs typeface="Arial Black"/>
              </a:rPr>
              <a:t> </a:t>
            </a:r>
            <a:r>
              <a:rPr dirty="0" sz="1100" spc="-150">
                <a:solidFill>
                  <a:srgbClr val="E5E5EB"/>
                </a:solidFill>
                <a:latin typeface="Arial Black"/>
                <a:cs typeface="Arial Black"/>
              </a:rPr>
              <a:t>Salma</a:t>
            </a:r>
            <a:r>
              <a:rPr dirty="0" sz="1100" spc="30">
                <a:solidFill>
                  <a:srgbClr val="E5E5EB"/>
                </a:solidFill>
                <a:latin typeface="Arial Black"/>
                <a:cs typeface="Arial Black"/>
              </a:rPr>
              <a:t> </a:t>
            </a:r>
            <a:r>
              <a:rPr dirty="0" sz="1100" spc="-10">
                <a:solidFill>
                  <a:srgbClr val="E5E5EB"/>
                </a:solidFill>
                <a:latin typeface="Arial Black"/>
                <a:cs typeface="Arial Black"/>
              </a:rPr>
              <a:t>Sobhy</a:t>
            </a:r>
            <a:endParaRPr sz="1100">
              <a:latin typeface="Arial Black"/>
              <a:cs typeface="Arial Black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550087" y="2954907"/>
            <a:ext cx="86677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140">
                <a:solidFill>
                  <a:srgbClr val="FFFFFF"/>
                </a:solidFill>
                <a:latin typeface="Arial Black"/>
                <a:cs typeface="Arial Black"/>
              </a:rPr>
              <a:t>Intake</a:t>
            </a:r>
            <a:r>
              <a:rPr dirty="0" sz="1100" spc="3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100">
                <a:solidFill>
                  <a:srgbClr val="FFFFFF"/>
                </a:solidFill>
                <a:latin typeface="Arial Black"/>
                <a:cs typeface="Arial Black"/>
              </a:rPr>
              <a:t>46</a:t>
            </a:r>
            <a:r>
              <a:rPr dirty="0" sz="1100" spc="37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100" spc="325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endParaRPr sz="1100">
              <a:latin typeface="Arial Black"/>
              <a:cs typeface="Arial Black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1619548" y="2954907"/>
            <a:ext cx="359092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120">
                <a:solidFill>
                  <a:srgbClr val="FFFFFF"/>
                </a:solidFill>
                <a:latin typeface="Arial Black"/>
                <a:cs typeface="Arial Black"/>
              </a:rPr>
              <a:t>Telco-Cloud</a:t>
            </a:r>
            <a:r>
              <a:rPr dirty="0" sz="1100" spc="2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100" spc="-85">
                <a:solidFill>
                  <a:srgbClr val="FFFFFF"/>
                </a:solidFill>
                <a:latin typeface="Arial Black"/>
                <a:cs typeface="Arial Black"/>
              </a:rPr>
              <a:t>Track</a:t>
            </a:r>
            <a:r>
              <a:rPr dirty="0" sz="1100" spc="85">
                <a:solidFill>
                  <a:srgbClr val="FFFFFF"/>
                </a:solidFill>
                <a:latin typeface="Arial Black"/>
                <a:cs typeface="Arial Black"/>
              </a:rPr>
              <a:t>  </a:t>
            </a:r>
            <a:r>
              <a:rPr dirty="0" sz="1100" spc="375">
                <a:solidFill>
                  <a:srgbClr val="FFFFFF"/>
                </a:solidFill>
                <a:latin typeface="Arial Black"/>
                <a:cs typeface="Arial Black"/>
              </a:rPr>
              <a:t>•</a:t>
            </a:r>
            <a:r>
              <a:rPr dirty="0" sz="1100" spc="20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100" spc="-120">
                <a:solidFill>
                  <a:srgbClr val="FFFFFF"/>
                </a:solidFill>
                <a:latin typeface="Arial Black"/>
                <a:cs typeface="Arial Black"/>
              </a:rPr>
              <a:t>Information</a:t>
            </a:r>
            <a:r>
              <a:rPr dirty="0" sz="1100" spc="2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100" spc="-145">
                <a:solidFill>
                  <a:srgbClr val="FFFFFF"/>
                </a:solidFill>
                <a:latin typeface="Arial Black"/>
                <a:cs typeface="Arial Black"/>
              </a:rPr>
              <a:t>Technology</a:t>
            </a:r>
            <a:r>
              <a:rPr dirty="0" sz="1100" spc="3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100" spc="-85">
                <a:solidFill>
                  <a:srgbClr val="FFFFFF"/>
                </a:solidFill>
                <a:latin typeface="Arial Black"/>
                <a:cs typeface="Arial Black"/>
              </a:rPr>
              <a:t>Institute</a:t>
            </a:r>
            <a:endParaRPr sz="1100">
              <a:latin typeface="Arial Black"/>
              <a:cs typeface="Arial Black"/>
            </a:endParaRPr>
          </a:p>
        </p:txBody>
      </p:sp>
    </p:spTree>
  </p:cSld>
  <p:clrMapOvr>
    <a:masterClrMapping/>
  </p:clrMapOvr>
  <p:transition spd="fast">
    <p:cut thruBlk="0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40"/>
              <a:t>Agenda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4653" y="784618"/>
            <a:ext cx="175450" cy="175450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42786" y="791627"/>
            <a:ext cx="7937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>
                <a:solidFill>
                  <a:srgbClr val="E7E7EA"/>
                </a:solidFill>
                <a:latin typeface="Tahoma"/>
                <a:cs typeface="Tahoma"/>
              </a:rPr>
              <a:t>1</a:t>
            </a:r>
            <a:endParaRPr sz="80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21500" y="755050"/>
            <a:ext cx="2886710" cy="1798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spc="-45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Introduction,</a:t>
            </a:r>
            <a:r>
              <a:rPr dirty="0" sz="1200" spc="5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dirty="0" sz="1200" spc="-35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Architecture</a:t>
            </a:r>
            <a:r>
              <a:rPr dirty="0" sz="1200" spc="1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dirty="0" sz="1200" spc="7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&amp;</a:t>
            </a:r>
            <a:r>
              <a:rPr dirty="0" sz="1200" spc="1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dirty="0" sz="120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KPI</a:t>
            </a:r>
            <a:r>
              <a:rPr dirty="0" sz="1200" spc="5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dirty="0" sz="1200" spc="-40">
                <a:solidFill>
                  <a:srgbClr val="13132C"/>
                </a:solidFill>
                <a:latin typeface="Tahoma"/>
                <a:cs typeface="Tahoma"/>
                <a:hlinkClick r:id="rId3" action="ppaction://hlinksldjump"/>
              </a:rPr>
              <a:t>Degradation</a:t>
            </a:r>
            <a:endParaRPr sz="1200">
              <a:latin typeface="Tahoma"/>
              <a:cs typeface="Tahoma"/>
            </a:endParaRPr>
          </a:p>
          <a:p>
            <a:pPr marL="12700" marR="1035050">
              <a:lnSpc>
                <a:spcPct val="217400"/>
              </a:lnSpc>
            </a:pPr>
            <a:r>
              <a:rPr dirty="0" sz="120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KPI</a:t>
            </a:r>
            <a:r>
              <a:rPr dirty="0" sz="1200" spc="35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dirty="0" sz="1200" spc="-55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Forecasting</a:t>
            </a:r>
            <a:r>
              <a:rPr dirty="0" sz="1200" spc="3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  <a:hlinkClick r:id="rId4" action="ppaction://hlinksldjump"/>
              </a:rPr>
              <a:t>Engine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25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Optimization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 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Action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 </a:t>
            </a:r>
            <a:r>
              <a:rPr dirty="0" sz="1200" spc="-50">
                <a:solidFill>
                  <a:srgbClr val="13132C"/>
                </a:solidFill>
                <a:latin typeface="Tahoma"/>
                <a:cs typeface="Tahoma"/>
                <a:hlinkClick r:id="rId5" action="ppaction://hlinksldjump"/>
              </a:rPr>
              <a:t>Analyzer</a:t>
            </a:r>
            <a:r>
              <a:rPr dirty="0" sz="1200" spc="-5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65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Telecom</a:t>
            </a:r>
            <a:r>
              <a:rPr dirty="0" sz="1200" spc="5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 </a:t>
            </a:r>
            <a:r>
              <a:rPr dirty="0" sz="120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RAG</a:t>
            </a:r>
            <a:r>
              <a:rPr dirty="0" sz="1200" spc="5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 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  <a:hlinkClick r:id="rId6" action="ppaction://hlinksldjump"/>
              </a:rPr>
              <a:t>Assistant</a:t>
            </a:r>
            <a:endParaRPr sz="12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240"/>
              </a:spcBef>
            </a:pPr>
            <a:endParaRPr sz="12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</a:pPr>
            <a:r>
              <a:rPr dirty="0" sz="1200" spc="-7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Software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Testing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dirty="0" sz="1200" spc="7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&amp;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Experimental</a:t>
            </a:r>
            <a:r>
              <a:rPr dirty="0" sz="120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 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  <a:hlinkClick r:id="rId7" action="ppaction://hlinksldjump"/>
              </a:rPr>
              <a:t>Results</a:t>
            </a:r>
            <a:endParaRPr sz="1200">
              <a:latin typeface="Tahoma"/>
              <a:cs typeface="Tahoma"/>
            </a:endParaRPr>
          </a:p>
        </p:txBody>
      </p:sp>
      <p:pic>
        <p:nvPicPr>
          <p:cNvPr id="6" name="object 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94653" y="1182192"/>
            <a:ext cx="175450" cy="175450"/>
          </a:xfrm>
          <a:prstGeom prst="rect">
            <a:avLst/>
          </a:prstGeom>
        </p:spPr>
      </p:pic>
      <p:sp>
        <p:nvSpPr>
          <p:cNvPr id="7" name="object 7"/>
          <p:cNvSpPr txBox="1"/>
          <p:nvPr/>
        </p:nvSpPr>
        <p:spPr>
          <a:xfrm>
            <a:off x="142786" y="1189213"/>
            <a:ext cx="7937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>
                <a:solidFill>
                  <a:srgbClr val="E7E7EA"/>
                </a:solidFill>
                <a:latin typeface="Tahoma"/>
                <a:cs typeface="Tahoma"/>
              </a:rPr>
              <a:t>2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8" name="object 8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94653" y="1579765"/>
            <a:ext cx="175450" cy="175450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42786" y="1586787"/>
            <a:ext cx="7937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>
                <a:solidFill>
                  <a:srgbClr val="E7E7EA"/>
                </a:solidFill>
                <a:latin typeface="Tahoma"/>
                <a:cs typeface="Tahoma"/>
              </a:rPr>
              <a:t>3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10" name="object 10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94653" y="1977339"/>
            <a:ext cx="175450" cy="175450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42786" y="1984361"/>
            <a:ext cx="7937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>
                <a:solidFill>
                  <a:srgbClr val="E7E7EA"/>
                </a:solidFill>
                <a:latin typeface="Tahoma"/>
                <a:cs typeface="Tahoma"/>
              </a:rPr>
              <a:t>4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12" name="object 12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94653" y="2374912"/>
            <a:ext cx="175450" cy="175450"/>
          </a:xfrm>
          <a:prstGeom prst="rect">
            <a:avLst/>
          </a:prstGeom>
        </p:spPr>
      </p:pic>
      <p:sp>
        <p:nvSpPr>
          <p:cNvPr id="13" name="object 13"/>
          <p:cNvSpPr txBox="1"/>
          <p:nvPr/>
        </p:nvSpPr>
        <p:spPr>
          <a:xfrm>
            <a:off x="142786" y="2381934"/>
            <a:ext cx="79375" cy="14732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800" spc="-50">
                <a:solidFill>
                  <a:srgbClr val="E7E7EA"/>
                </a:solidFill>
                <a:latin typeface="Tahoma"/>
                <a:cs typeface="Tahoma"/>
              </a:rPr>
              <a:t>5</a:t>
            </a:r>
            <a:endParaRPr sz="800">
              <a:latin typeface="Tahoma"/>
              <a:cs typeface="Tahoma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5" name="object 1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6" name="object 1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7" name="object 1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8" name="object 1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1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74331"/>
            <a:ext cx="4523105" cy="494030"/>
            <a:chOff x="97827" y="874331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74331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148628" y="937580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97827" y="918743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48628" y="937580"/>
            <a:ext cx="4472305" cy="431165"/>
          </a:xfrm>
          <a:prstGeom prst="rect"/>
        </p:spPr>
        <p:txBody>
          <a:bodyPr wrap="square" lIns="0" tIns="56515" rIns="0" bIns="0" rtlCol="0" vert="horz">
            <a:spAutoFit/>
          </a:bodyPr>
          <a:lstStyle/>
          <a:p>
            <a:pPr algn="ctr" marR="93980">
              <a:lnSpc>
                <a:spcPct val="100000"/>
              </a:lnSpc>
              <a:spcBef>
                <a:spcPts val="445"/>
              </a:spcBef>
            </a:pPr>
            <a:r>
              <a:rPr dirty="0" spc="-190"/>
              <a:t>Tasneem</a:t>
            </a:r>
            <a:r>
              <a:rPr dirty="0" spc="105"/>
              <a:t> </a:t>
            </a:r>
            <a:r>
              <a:rPr dirty="0" spc="-20"/>
              <a:t>Amein</a:t>
            </a:r>
          </a:p>
        </p:txBody>
      </p:sp>
      <p:sp>
        <p:nvSpPr>
          <p:cNvPr id="7" name="object 7"/>
          <p:cNvSpPr/>
          <p:nvPr/>
        </p:nvSpPr>
        <p:spPr>
          <a:xfrm>
            <a:off x="97815" y="149950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234467" y="1586049"/>
            <a:ext cx="4199890" cy="3911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87780" marR="5080" indent="-1275715">
              <a:lnSpc>
                <a:spcPct val="100000"/>
              </a:lnSpc>
              <a:spcBef>
                <a:spcPts val="95"/>
              </a:spcBef>
            </a:pPr>
            <a:r>
              <a:rPr dirty="0" sz="1200" spc="-35">
                <a:solidFill>
                  <a:srgbClr val="13132C"/>
                </a:solidFill>
                <a:latin typeface="Tahoma"/>
                <a:cs typeface="Tahoma"/>
              </a:rPr>
              <a:t>Problem</a:t>
            </a:r>
            <a:r>
              <a:rPr dirty="0" sz="1200" spc="-2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50">
                <a:solidFill>
                  <a:srgbClr val="13132C"/>
                </a:solidFill>
                <a:latin typeface="Tahoma"/>
                <a:cs typeface="Tahoma"/>
              </a:rPr>
              <a:t>Statement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355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dirty="0" sz="1200" spc="-2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</a:rPr>
              <a:t>Proposed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30">
                <a:solidFill>
                  <a:srgbClr val="13132C"/>
                </a:solidFill>
                <a:latin typeface="Tahoma"/>
                <a:cs typeface="Tahoma"/>
              </a:rPr>
              <a:t>Solution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355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35">
                <a:solidFill>
                  <a:srgbClr val="13132C"/>
                </a:solidFill>
                <a:latin typeface="Tahoma"/>
                <a:cs typeface="Tahoma"/>
              </a:rPr>
              <a:t>Overall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35">
                <a:solidFill>
                  <a:srgbClr val="13132C"/>
                </a:solidFill>
                <a:latin typeface="Tahoma"/>
                <a:cs typeface="Tahoma"/>
              </a:rPr>
              <a:t>Architecture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305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dirty="0" sz="1200">
                <a:solidFill>
                  <a:srgbClr val="13132C"/>
                </a:solidFill>
                <a:latin typeface="Tahoma"/>
                <a:cs typeface="Tahoma"/>
              </a:rPr>
              <a:t>KPI</a:t>
            </a:r>
            <a:r>
              <a:rPr dirty="0" sz="1200" spc="3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</a:rPr>
              <a:t>Degradation</a:t>
            </a:r>
            <a:r>
              <a:rPr dirty="0" sz="1200" spc="3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Analyzer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66243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30">
                <a:solidFill>
                  <a:srgbClr val="FFFFFF"/>
                </a:solidFill>
                <a:latin typeface="Arial Black"/>
                <a:cs typeface="Arial Black"/>
              </a:rPr>
              <a:t>Problem</a:t>
            </a:r>
            <a:r>
              <a:rPr dirty="0" sz="1400" spc="5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20">
                <a:solidFill>
                  <a:srgbClr val="FFFFFF"/>
                </a:solidFill>
                <a:latin typeface="Arial Black"/>
                <a:cs typeface="Arial Black"/>
              </a:rPr>
              <a:t>Statement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75209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14">
                <a:solidFill>
                  <a:srgbClr val="FFFFFF"/>
                </a:solidFill>
                <a:latin typeface="Arial Black"/>
                <a:cs typeface="Arial Black"/>
              </a:rPr>
              <a:t>Project</a:t>
            </a:r>
            <a:r>
              <a:rPr dirty="0" sz="140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90">
                <a:solidFill>
                  <a:srgbClr val="FFFFFF"/>
                </a:solidFill>
                <a:latin typeface="Arial Black"/>
                <a:cs typeface="Arial Black"/>
              </a:rPr>
              <a:t>Motivation</a:t>
            </a:r>
            <a:r>
              <a:rPr dirty="0" sz="1400">
                <a:solidFill>
                  <a:srgbClr val="FFFFFF"/>
                </a:solidFill>
                <a:latin typeface="Arial Black"/>
                <a:cs typeface="Arial Black"/>
              </a:rPr>
              <a:t> &amp; </a:t>
            </a:r>
            <a:r>
              <a:rPr dirty="0" sz="1400" spc="-130">
                <a:solidFill>
                  <a:srgbClr val="FFFFFF"/>
                </a:solidFill>
                <a:latin typeface="Arial Black"/>
                <a:cs typeface="Arial Black"/>
              </a:rPr>
              <a:t>Objectives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38252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35">
                <a:solidFill>
                  <a:srgbClr val="FFFFFF"/>
                </a:solidFill>
                <a:latin typeface="Arial Black"/>
                <a:cs typeface="Arial Black"/>
              </a:rPr>
              <a:t>Proposed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14">
                <a:solidFill>
                  <a:srgbClr val="FFFFFF"/>
                </a:solidFill>
                <a:latin typeface="Arial Black"/>
                <a:cs typeface="Arial Black"/>
              </a:rPr>
              <a:t>Solution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35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25"/>
              <a:t>Overall</a:t>
            </a:r>
            <a:r>
              <a:rPr dirty="0" spc="35"/>
              <a:t> </a:t>
            </a:r>
            <a:r>
              <a:rPr dirty="0" spc="-165"/>
              <a:t>System</a:t>
            </a:r>
            <a:r>
              <a:rPr dirty="0" spc="50"/>
              <a:t> </a:t>
            </a:r>
            <a:r>
              <a:rPr dirty="0" spc="-120"/>
              <a:t>Architecture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00199" y="1473960"/>
            <a:ext cx="1759585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screenshots/tasneem/system_architecture.png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60604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70">
                <a:solidFill>
                  <a:srgbClr val="FFFFFF"/>
                </a:solidFill>
                <a:latin typeface="Arial Black"/>
                <a:cs typeface="Arial Black"/>
              </a:rPr>
              <a:t>Telecom</a:t>
            </a:r>
            <a:r>
              <a:rPr dirty="0" sz="1400" spc="5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75">
                <a:solidFill>
                  <a:srgbClr val="FFFFFF"/>
                </a:solidFill>
                <a:latin typeface="Arial Black"/>
                <a:cs typeface="Arial Black"/>
              </a:rPr>
              <a:t>Hub</a:t>
            </a:r>
            <a:r>
              <a:rPr dirty="0" sz="1400" spc="3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165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40">
                <a:solidFill>
                  <a:srgbClr val="FFFFFF"/>
                </a:solidFill>
                <a:latin typeface="Arial Black"/>
                <a:cs typeface="Arial Black"/>
              </a:rPr>
              <a:t>Landing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05">
                <a:solidFill>
                  <a:srgbClr val="FFFFFF"/>
                </a:solidFill>
                <a:latin typeface="Arial Black"/>
                <a:cs typeface="Arial Black"/>
              </a:rPr>
              <a:t>Page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33015" y="1473960"/>
            <a:ext cx="1494155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40640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screenshots/tasneem/hub_landing.png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018279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0">
                <a:solidFill>
                  <a:srgbClr val="FFFFFF"/>
                </a:solidFill>
                <a:latin typeface="Arial Black"/>
                <a:cs typeface="Arial Black"/>
              </a:rPr>
              <a:t>KPI</a:t>
            </a:r>
            <a:r>
              <a:rPr dirty="0" sz="1400" spc="2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30">
                <a:solidFill>
                  <a:srgbClr val="FFFFFF"/>
                </a:solidFill>
                <a:latin typeface="Arial Black"/>
                <a:cs typeface="Arial Black"/>
              </a:rPr>
              <a:t>Degradation</a:t>
            </a:r>
            <a:r>
              <a:rPr dirty="0" sz="1400" spc="2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25">
                <a:solidFill>
                  <a:srgbClr val="FFFFFF"/>
                </a:solidFill>
                <a:latin typeface="Arial Black"/>
                <a:cs typeface="Arial Black"/>
              </a:rPr>
              <a:t>Analyzer</a:t>
            </a:r>
            <a:r>
              <a:rPr dirty="0" sz="1400" spc="2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165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dirty="0" sz="1400" spc="2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00">
                <a:solidFill>
                  <a:srgbClr val="FFFFFF"/>
                </a:solidFill>
                <a:latin typeface="Arial Black"/>
                <a:cs typeface="Arial Black"/>
              </a:rPr>
              <a:t>Module</a:t>
            </a:r>
            <a:r>
              <a:rPr dirty="0" sz="1400" spc="2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14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1488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0">
                <a:solidFill>
                  <a:srgbClr val="FFFFFF"/>
                </a:solidFill>
                <a:latin typeface="Arial Black"/>
                <a:cs typeface="Arial Black"/>
              </a:rPr>
              <a:t>KPI</a:t>
            </a:r>
            <a:r>
              <a:rPr dirty="0" sz="1400" spc="-2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60">
                <a:solidFill>
                  <a:srgbClr val="FFFFFF"/>
                </a:solidFill>
                <a:latin typeface="Arial Black"/>
                <a:cs typeface="Arial Black"/>
              </a:rPr>
              <a:t>Categories</a:t>
            </a:r>
            <a:r>
              <a:rPr dirty="0" sz="1400" spc="4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00">
                <a:solidFill>
                  <a:srgbClr val="FFFFFF"/>
                </a:solidFill>
                <a:latin typeface="Arial Black"/>
                <a:cs typeface="Arial Black"/>
              </a:rPr>
              <a:t>Monitored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56489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25">
                <a:solidFill>
                  <a:srgbClr val="FFFFFF"/>
                </a:solidFill>
                <a:latin typeface="Arial Black"/>
                <a:cs typeface="Arial Black"/>
              </a:rPr>
              <a:t>Detection</a:t>
            </a:r>
            <a:r>
              <a:rPr dirty="0" sz="1400" spc="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14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dirty="0" sz="1400" spc="2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dirty="0" sz="1400" spc="3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80">
                <a:solidFill>
                  <a:srgbClr val="FFFFFF"/>
                </a:solidFill>
                <a:latin typeface="Arial Black"/>
                <a:cs typeface="Arial Black"/>
              </a:rPr>
              <a:t>Root</a:t>
            </a:r>
            <a:r>
              <a:rPr dirty="0" sz="1400" spc="2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80">
                <a:solidFill>
                  <a:srgbClr val="FFFFFF"/>
                </a:solidFill>
                <a:latin typeface="Arial Black"/>
                <a:cs typeface="Arial Black"/>
              </a:rPr>
              <a:t>Cause</a:t>
            </a:r>
            <a:r>
              <a:rPr dirty="0" sz="1400" spc="5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25">
                <a:solidFill>
                  <a:srgbClr val="FFFFFF"/>
                </a:solidFill>
                <a:latin typeface="Arial Black"/>
                <a:cs typeface="Arial Black"/>
              </a:rPr>
              <a:t>Analysis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0"/>
              <a:t>KPI</a:t>
            </a:r>
            <a:r>
              <a:rPr dirty="0" spc="25"/>
              <a:t> </a:t>
            </a:r>
            <a:r>
              <a:rPr dirty="0" spc="-130"/>
              <a:t>Degradation</a:t>
            </a:r>
            <a:r>
              <a:rPr dirty="0" spc="30"/>
              <a:t> </a:t>
            </a:r>
            <a:r>
              <a:rPr dirty="0" spc="-125"/>
              <a:t>Analyzer</a:t>
            </a:r>
            <a:r>
              <a:rPr dirty="0" spc="25"/>
              <a:t> </a:t>
            </a:r>
            <a:r>
              <a:rPr dirty="0" spc="165"/>
              <a:t>—</a:t>
            </a:r>
            <a:r>
              <a:rPr dirty="0" spc="30"/>
              <a:t> </a:t>
            </a:r>
            <a:r>
              <a:rPr dirty="0" spc="-120"/>
              <a:t>Interface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20366" y="1473960"/>
            <a:ext cx="1719580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screenshots/tasneem/kpi_degradation_ui.png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3046730" cy="24447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0"/>
              <a:t>KPI</a:t>
            </a:r>
            <a:r>
              <a:rPr dirty="0" spc="10"/>
              <a:t> </a:t>
            </a:r>
            <a:r>
              <a:rPr dirty="0" spc="-130"/>
              <a:t>Degradation</a:t>
            </a:r>
            <a:r>
              <a:rPr dirty="0" spc="25"/>
              <a:t> </a:t>
            </a:r>
            <a:r>
              <a:rPr dirty="0" spc="165"/>
              <a:t>—</a:t>
            </a:r>
            <a:r>
              <a:rPr dirty="0" spc="25"/>
              <a:t> </a:t>
            </a:r>
            <a:r>
              <a:rPr dirty="0" spc="-150"/>
              <a:t>Sample</a:t>
            </a:r>
            <a:r>
              <a:rPr dirty="0" spc="35"/>
              <a:t> </a:t>
            </a:r>
            <a:r>
              <a:rPr dirty="0" spc="-125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19541" y="1473960"/>
            <a:ext cx="1921510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screenshots/tasneem/kpi_degradation_results.png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60157"/>
            <a:ext cx="4523105" cy="529590"/>
            <a:chOff x="97827" y="860157"/>
            <a:chExt cx="4523105" cy="529590"/>
          </a:xfrm>
        </p:grpSpPr>
        <p:sp>
          <p:nvSpPr>
            <p:cNvPr id="3" name="object 3"/>
            <p:cNvSpPr/>
            <p:nvPr/>
          </p:nvSpPr>
          <p:spPr>
            <a:xfrm>
              <a:off x="97827" y="860157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148628" y="923413"/>
              <a:ext cx="4472305" cy="466090"/>
            </a:xfrm>
            <a:custGeom>
              <a:avLst/>
              <a:gdLst/>
              <a:ahLst/>
              <a:cxnLst/>
              <a:rect l="l" t="t" r="r" b="b"/>
              <a:pathLst>
                <a:path w="4472305" h="466090">
                  <a:moveTo>
                    <a:pt x="4471864" y="0"/>
                  </a:moveTo>
                  <a:lnTo>
                    <a:pt x="0" y="0"/>
                  </a:lnTo>
                  <a:lnTo>
                    <a:pt x="0" y="466094"/>
                  </a:lnTo>
                  <a:lnTo>
                    <a:pt x="4471864" y="466094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97827" y="904576"/>
              <a:ext cx="4472305" cy="434340"/>
            </a:xfrm>
            <a:custGeom>
              <a:avLst/>
              <a:gdLst/>
              <a:ahLst/>
              <a:cxnLst/>
              <a:rect l="l" t="t" r="r" b="b"/>
              <a:pathLst>
                <a:path w="4472305" h="434340">
                  <a:moveTo>
                    <a:pt x="4471864" y="0"/>
                  </a:moveTo>
                  <a:lnTo>
                    <a:pt x="0" y="0"/>
                  </a:lnTo>
                  <a:lnTo>
                    <a:pt x="0" y="383330"/>
                  </a:lnTo>
                  <a:lnTo>
                    <a:pt x="4008" y="403055"/>
                  </a:lnTo>
                  <a:lnTo>
                    <a:pt x="14922" y="419208"/>
                  </a:lnTo>
                  <a:lnTo>
                    <a:pt x="31075" y="430122"/>
                  </a:lnTo>
                  <a:lnTo>
                    <a:pt x="50800" y="434130"/>
                  </a:lnTo>
                  <a:lnTo>
                    <a:pt x="4421063" y="434130"/>
                  </a:lnTo>
                  <a:lnTo>
                    <a:pt x="4440788" y="430122"/>
                  </a:lnTo>
                  <a:lnTo>
                    <a:pt x="4456941" y="419208"/>
                  </a:lnTo>
                  <a:lnTo>
                    <a:pt x="4467855" y="403055"/>
                  </a:lnTo>
                  <a:lnTo>
                    <a:pt x="4471864" y="383330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148628" y="923413"/>
            <a:ext cx="4472305" cy="466090"/>
          </a:xfrm>
          <a:prstGeom prst="rect">
            <a:avLst/>
          </a:prstGeom>
        </p:spPr>
        <p:txBody>
          <a:bodyPr wrap="square" lIns="0" tIns="56515" rIns="0" bIns="0" rtlCol="0" vert="horz">
            <a:spAutoFit/>
          </a:bodyPr>
          <a:lstStyle/>
          <a:p>
            <a:pPr algn="ctr" marR="93980">
              <a:lnSpc>
                <a:spcPct val="100000"/>
              </a:lnSpc>
              <a:spcBef>
                <a:spcPts val="445"/>
              </a:spcBef>
            </a:pPr>
            <a:r>
              <a:rPr dirty="0" sz="1400" spc="-140">
                <a:solidFill>
                  <a:srgbClr val="FFFFFF"/>
                </a:solidFill>
                <a:latin typeface="Arial Black"/>
                <a:cs typeface="Arial Black"/>
              </a:rPr>
              <a:t>Ibrahim</a:t>
            </a:r>
            <a:r>
              <a:rPr dirty="0" sz="1400" spc="6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20">
                <a:solidFill>
                  <a:srgbClr val="FFFFFF"/>
                </a:solidFill>
                <a:latin typeface="Arial Black"/>
                <a:cs typeface="Arial Black"/>
              </a:rPr>
              <a:t>Samy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52076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459930" y="1607309"/>
            <a:ext cx="3747770" cy="3911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68095" marR="5080" indent="-1256030">
              <a:lnSpc>
                <a:spcPct val="100000"/>
              </a:lnSpc>
              <a:spcBef>
                <a:spcPts val="95"/>
              </a:spcBef>
            </a:pPr>
            <a:r>
              <a:rPr dirty="0" sz="1200">
                <a:solidFill>
                  <a:srgbClr val="13132C"/>
                </a:solidFill>
                <a:latin typeface="Tahoma"/>
                <a:cs typeface="Tahoma"/>
              </a:rPr>
              <a:t>KPI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55">
                <a:solidFill>
                  <a:srgbClr val="13132C"/>
                </a:solidFill>
                <a:latin typeface="Tahoma"/>
                <a:cs typeface="Tahoma"/>
              </a:rPr>
              <a:t>Forecasting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</a:rPr>
              <a:t>Engine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355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30">
                <a:solidFill>
                  <a:srgbClr val="13132C"/>
                </a:solidFill>
                <a:latin typeface="Tahoma"/>
                <a:cs typeface="Tahoma"/>
              </a:rPr>
              <a:t>Models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355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50">
                <a:solidFill>
                  <a:srgbClr val="13132C"/>
                </a:solidFill>
                <a:latin typeface="Tahoma"/>
                <a:cs typeface="Tahoma"/>
              </a:rPr>
              <a:t>Feature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55">
                <a:solidFill>
                  <a:srgbClr val="13132C"/>
                </a:solidFill>
                <a:latin typeface="Tahoma"/>
                <a:cs typeface="Tahoma"/>
              </a:rPr>
              <a:t>Engineering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305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dirty="0" sz="1200" spc="-40">
                <a:solidFill>
                  <a:srgbClr val="13132C"/>
                </a:solidFill>
                <a:latin typeface="Tahoma"/>
                <a:cs typeface="Tahoma"/>
              </a:rPr>
              <a:t>Accuracy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70">
                <a:solidFill>
                  <a:srgbClr val="13132C"/>
                </a:solidFill>
                <a:latin typeface="Tahoma"/>
                <a:cs typeface="Tahoma"/>
              </a:rPr>
              <a:t>&amp;</a:t>
            </a:r>
            <a:r>
              <a:rPr dirty="0" sz="1200" spc="-1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Results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68998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65">
                <a:solidFill>
                  <a:srgbClr val="FFFFFF"/>
                </a:solidFill>
                <a:latin typeface="Arial Black"/>
                <a:cs typeface="Arial Black"/>
              </a:rPr>
              <a:t>Forecasting</a:t>
            </a:r>
            <a:r>
              <a:rPr dirty="0" sz="1400" spc="4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00">
                <a:solidFill>
                  <a:srgbClr val="FFFFFF"/>
                </a:solidFill>
                <a:latin typeface="Arial Black"/>
                <a:cs typeface="Arial Black"/>
              </a:rPr>
              <a:t>Module</a:t>
            </a:r>
            <a:r>
              <a:rPr dirty="0" sz="1400" spc="5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45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r>
              <a:rPr dirty="0" sz="1400" spc="4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dirty="0" sz="1400" spc="5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80">
                <a:solidFill>
                  <a:srgbClr val="FFFFFF"/>
                </a:solidFill>
                <a:latin typeface="Arial Black"/>
                <a:cs typeface="Arial Black"/>
              </a:rPr>
              <a:t>Motivation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27736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65">
                <a:solidFill>
                  <a:srgbClr val="FFFFFF"/>
                </a:solidFill>
                <a:latin typeface="Arial Black"/>
                <a:cs typeface="Arial Black"/>
              </a:rPr>
              <a:t>Forecasting</a:t>
            </a:r>
            <a:r>
              <a:rPr dirty="0" sz="1400" spc="6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50">
                <a:solidFill>
                  <a:srgbClr val="FFFFFF"/>
                </a:solidFill>
                <a:latin typeface="Arial Black"/>
                <a:cs typeface="Arial Black"/>
              </a:rPr>
              <a:t>Approach</a:t>
            </a:r>
            <a:r>
              <a:rPr dirty="0" sz="1400" spc="6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165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dirty="0" sz="1400" spc="6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14">
                <a:solidFill>
                  <a:srgbClr val="FFFFFF"/>
                </a:solidFill>
                <a:latin typeface="Arial Black"/>
                <a:cs typeface="Arial Black"/>
              </a:rPr>
              <a:t>XGBoost</a:t>
            </a:r>
            <a:r>
              <a:rPr dirty="0" sz="1400" spc="6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dirty="0" sz="1400" spc="6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95">
                <a:solidFill>
                  <a:srgbClr val="FFFFFF"/>
                </a:solidFill>
                <a:latin typeface="Arial Black"/>
                <a:cs typeface="Arial Black"/>
              </a:rPr>
              <a:t>Holt-</a:t>
            </a:r>
            <a:r>
              <a:rPr dirty="0" sz="1400" spc="-40">
                <a:solidFill>
                  <a:srgbClr val="FFFFFF"/>
                </a:solidFill>
                <a:latin typeface="Arial Black"/>
                <a:cs typeface="Arial Black"/>
              </a:rPr>
              <a:t>Winters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421386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45">
                <a:solidFill>
                  <a:srgbClr val="FFFFFF"/>
                </a:solidFill>
                <a:latin typeface="Arial Black"/>
                <a:cs typeface="Arial Black"/>
              </a:rPr>
              <a:t>Feature</a:t>
            </a:r>
            <a:r>
              <a:rPr dirty="0" sz="1400" spc="6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45">
                <a:solidFill>
                  <a:srgbClr val="FFFFFF"/>
                </a:solidFill>
                <a:latin typeface="Arial Black"/>
                <a:cs typeface="Arial Black"/>
              </a:rPr>
              <a:t>Engineering</a:t>
            </a:r>
            <a:r>
              <a:rPr dirty="0" sz="1400" spc="6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dirty="0" sz="1400" spc="6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60">
                <a:solidFill>
                  <a:srgbClr val="FFFFFF"/>
                </a:solidFill>
                <a:latin typeface="Arial Black"/>
                <a:cs typeface="Arial Black"/>
              </a:rPr>
              <a:t>Seasonality</a:t>
            </a:r>
            <a:r>
              <a:rPr dirty="0" sz="1400" spc="6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14">
                <a:solidFill>
                  <a:srgbClr val="FFFFFF"/>
                </a:solidFill>
                <a:latin typeface="Arial Black"/>
                <a:cs typeface="Arial Black"/>
              </a:rPr>
              <a:t>Decomposition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65"/>
              <a:t>Forecasting</a:t>
            </a:r>
            <a:r>
              <a:rPr dirty="0" spc="60"/>
              <a:t> </a:t>
            </a:r>
            <a:r>
              <a:rPr dirty="0" spc="-100"/>
              <a:t>Module</a:t>
            </a:r>
            <a:r>
              <a:rPr dirty="0" spc="60"/>
              <a:t> </a:t>
            </a:r>
            <a:r>
              <a:rPr dirty="0" spc="165"/>
              <a:t>—</a:t>
            </a:r>
            <a:r>
              <a:rPr dirty="0" spc="65"/>
              <a:t> </a:t>
            </a:r>
            <a:r>
              <a:rPr dirty="0" spc="-120"/>
              <a:t>Interface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01024" y="1473960"/>
            <a:ext cx="1558290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44450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screenshots/ibrahim/forecasting_ui.png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85"/>
              <a:t>Model</a:t>
            </a:r>
            <a:r>
              <a:rPr dirty="0" spc="10"/>
              <a:t> </a:t>
            </a:r>
            <a:r>
              <a:rPr dirty="0" spc="-130"/>
              <a:t>Evaluation</a:t>
            </a:r>
            <a:r>
              <a:rPr dirty="0" spc="35"/>
              <a:t> </a:t>
            </a:r>
            <a:r>
              <a:rPr dirty="0"/>
              <a:t>&amp;</a:t>
            </a:r>
            <a:r>
              <a:rPr dirty="0" spc="35"/>
              <a:t> </a:t>
            </a:r>
            <a:r>
              <a:rPr dirty="0" spc="-180"/>
              <a:t>Accuracy</a:t>
            </a:r>
            <a:r>
              <a:rPr dirty="0" spc="55"/>
              <a:t> </a:t>
            </a:r>
            <a:r>
              <a:rPr dirty="0" spc="-95"/>
              <a:t>Metrics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60701" y="1473960"/>
            <a:ext cx="1638935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screenshots/ibrahim/accuracy_metrics.png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2609215" cy="24447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55"/>
              <a:t>7-</a:t>
            </a:r>
            <a:r>
              <a:rPr dirty="0" spc="-85"/>
              <a:t>Day</a:t>
            </a:r>
            <a:r>
              <a:rPr dirty="0" spc="-35"/>
              <a:t> </a:t>
            </a:r>
            <a:r>
              <a:rPr dirty="0" spc="-10"/>
              <a:t>KPI</a:t>
            </a:r>
            <a:r>
              <a:rPr dirty="0" spc="15"/>
              <a:t> </a:t>
            </a:r>
            <a:r>
              <a:rPr dirty="0" spc="-170"/>
              <a:t>Forecast</a:t>
            </a:r>
            <a:r>
              <a:rPr dirty="0" spc="50"/>
              <a:t> </a:t>
            </a:r>
            <a:r>
              <a:rPr dirty="0" spc="165"/>
              <a:t>—</a:t>
            </a:r>
            <a:r>
              <a:rPr dirty="0" spc="15"/>
              <a:t> </a:t>
            </a:r>
            <a:r>
              <a:rPr dirty="0" spc="-60"/>
              <a:t>Output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01024" y="1473960"/>
            <a:ext cx="1558290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44450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screenshots/ibrahim/forecast_chart.png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14"/>
              <a:t>XGBoost</a:t>
            </a:r>
            <a:r>
              <a:rPr dirty="0" spc="45"/>
              <a:t> </a:t>
            </a:r>
            <a:r>
              <a:rPr dirty="0" spc="-145"/>
              <a:t>Feature</a:t>
            </a:r>
            <a:r>
              <a:rPr dirty="0" spc="45"/>
              <a:t> </a:t>
            </a:r>
            <a:r>
              <a:rPr dirty="0" spc="-130"/>
              <a:t>Importance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20366" y="1473960"/>
            <a:ext cx="1719580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screenshots/ibrahim/feature_importance.png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64374"/>
            <a:ext cx="4523105" cy="529590"/>
            <a:chOff x="97827" y="864374"/>
            <a:chExt cx="4523105" cy="529590"/>
          </a:xfrm>
        </p:grpSpPr>
        <p:sp>
          <p:nvSpPr>
            <p:cNvPr id="3" name="object 3"/>
            <p:cNvSpPr/>
            <p:nvPr/>
          </p:nvSpPr>
          <p:spPr>
            <a:xfrm>
              <a:off x="97827" y="864374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148628" y="927629"/>
              <a:ext cx="4472305" cy="466090"/>
            </a:xfrm>
            <a:custGeom>
              <a:avLst/>
              <a:gdLst/>
              <a:ahLst/>
              <a:cxnLst/>
              <a:rect l="l" t="t" r="r" b="b"/>
              <a:pathLst>
                <a:path w="4472305" h="466090">
                  <a:moveTo>
                    <a:pt x="4471864" y="0"/>
                  </a:moveTo>
                  <a:lnTo>
                    <a:pt x="0" y="0"/>
                  </a:lnTo>
                  <a:lnTo>
                    <a:pt x="0" y="466094"/>
                  </a:lnTo>
                  <a:lnTo>
                    <a:pt x="4471864" y="466094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97827" y="908792"/>
              <a:ext cx="4472305" cy="434340"/>
            </a:xfrm>
            <a:custGeom>
              <a:avLst/>
              <a:gdLst/>
              <a:ahLst/>
              <a:cxnLst/>
              <a:rect l="l" t="t" r="r" b="b"/>
              <a:pathLst>
                <a:path w="4472305" h="434340">
                  <a:moveTo>
                    <a:pt x="4471864" y="0"/>
                  </a:moveTo>
                  <a:lnTo>
                    <a:pt x="0" y="0"/>
                  </a:lnTo>
                  <a:lnTo>
                    <a:pt x="0" y="383330"/>
                  </a:lnTo>
                  <a:lnTo>
                    <a:pt x="4008" y="403055"/>
                  </a:lnTo>
                  <a:lnTo>
                    <a:pt x="14922" y="419208"/>
                  </a:lnTo>
                  <a:lnTo>
                    <a:pt x="31075" y="430122"/>
                  </a:lnTo>
                  <a:lnTo>
                    <a:pt x="50800" y="434130"/>
                  </a:lnTo>
                  <a:lnTo>
                    <a:pt x="4421063" y="434130"/>
                  </a:lnTo>
                  <a:lnTo>
                    <a:pt x="4440788" y="430122"/>
                  </a:lnTo>
                  <a:lnTo>
                    <a:pt x="4456941" y="419208"/>
                  </a:lnTo>
                  <a:lnTo>
                    <a:pt x="4467855" y="403055"/>
                  </a:lnTo>
                  <a:lnTo>
                    <a:pt x="4471864" y="383330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148628" y="927629"/>
            <a:ext cx="4472305" cy="466090"/>
          </a:xfrm>
          <a:prstGeom prst="rect"/>
        </p:spPr>
        <p:txBody>
          <a:bodyPr wrap="square" lIns="0" tIns="56515" rIns="0" bIns="0" rtlCol="0" vert="horz">
            <a:spAutoFit/>
          </a:bodyPr>
          <a:lstStyle/>
          <a:p>
            <a:pPr algn="ctr" marR="93345">
              <a:lnSpc>
                <a:spcPct val="100000"/>
              </a:lnSpc>
              <a:spcBef>
                <a:spcPts val="445"/>
              </a:spcBef>
            </a:pPr>
            <a:r>
              <a:rPr dirty="0" spc="-140"/>
              <a:t>Khaled</a:t>
            </a:r>
            <a:r>
              <a:rPr dirty="0" spc="35"/>
              <a:t> </a:t>
            </a:r>
            <a:r>
              <a:rPr dirty="0" spc="-10"/>
              <a:t>Mogahed</a:t>
            </a:r>
          </a:p>
        </p:txBody>
      </p:sp>
      <p:sp>
        <p:nvSpPr>
          <p:cNvPr id="7" name="object 7"/>
          <p:cNvSpPr/>
          <p:nvPr/>
        </p:nvSpPr>
        <p:spPr>
          <a:xfrm>
            <a:off x="97815" y="1524977"/>
            <a:ext cx="4472305" cy="574040"/>
          </a:xfrm>
          <a:custGeom>
            <a:avLst/>
            <a:gdLst/>
            <a:ahLst/>
            <a:cxnLst/>
            <a:rect l="l" t="t" r="r" b="b"/>
            <a:pathLst>
              <a:path w="4472305" h="574039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12"/>
                </a:lnTo>
                <a:lnTo>
                  <a:pt x="0" y="82384"/>
                </a:lnTo>
                <a:lnTo>
                  <a:pt x="0" y="523074"/>
                </a:lnTo>
                <a:lnTo>
                  <a:pt x="4013" y="542798"/>
                </a:lnTo>
                <a:lnTo>
                  <a:pt x="14922" y="558952"/>
                </a:lnTo>
                <a:lnTo>
                  <a:pt x="31076" y="569861"/>
                </a:lnTo>
                <a:lnTo>
                  <a:pt x="50812" y="573874"/>
                </a:lnTo>
                <a:lnTo>
                  <a:pt x="4421073" y="573874"/>
                </a:lnTo>
                <a:lnTo>
                  <a:pt x="4440796" y="569861"/>
                </a:lnTo>
                <a:lnTo>
                  <a:pt x="4456950" y="558952"/>
                </a:lnTo>
                <a:lnTo>
                  <a:pt x="4467860" y="542798"/>
                </a:lnTo>
                <a:lnTo>
                  <a:pt x="4471873" y="523074"/>
                </a:lnTo>
                <a:lnTo>
                  <a:pt x="4471873" y="82384"/>
                </a:lnTo>
                <a:lnTo>
                  <a:pt x="4471873" y="50812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268236" y="1611525"/>
            <a:ext cx="4131945" cy="3911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626235" marR="5080" indent="-1614170">
              <a:lnSpc>
                <a:spcPct val="100000"/>
              </a:lnSpc>
              <a:spcBef>
                <a:spcPts val="95"/>
              </a:spcBef>
            </a:pPr>
            <a:r>
              <a:rPr dirty="0" sz="1200" spc="-25">
                <a:solidFill>
                  <a:srgbClr val="13132C"/>
                </a:solidFill>
                <a:latin typeface="Tahoma"/>
                <a:cs typeface="Tahoma"/>
              </a:rPr>
              <a:t>Optimization</a:t>
            </a:r>
            <a:r>
              <a:rPr dirty="0" sz="1200" spc="-1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Action 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</a:rPr>
              <a:t>Analyzer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355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</a:rPr>
              <a:t>Configuration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40">
                <a:solidFill>
                  <a:srgbClr val="13132C"/>
                </a:solidFill>
                <a:latin typeface="Tahoma"/>
                <a:cs typeface="Tahoma"/>
              </a:rPr>
              <a:t>Tracking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355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30">
                <a:solidFill>
                  <a:srgbClr val="13132C"/>
                </a:solidFill>
                <a:latin typeface="Tahoma"/>
                <a:cs typeface="Tahoma"/>
              </a:rPr>
              <a:t>Impact 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Quantification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14198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20">
                <a:solidFill>
                  <a:srgbClr val="FFFFFF"/>
                </a:solidFill>
                <a:latin typeface="Arial Black"/>
                <a:cs typeface="Arial Black"/>
              </a:rPr>
              <a:t>Action</a:t>
            </a:r>
            <a:r>
              <a:rPr dirty="0" sz="1400" spc="3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25">
                <a:solidFill>
                  <a:srgbClr val="FFFFFF"/>
                </a:solidFill>
                <a:latin typeface="Arial Black"/>
                <a:cs typeface="Arial Black"/>
              </a:rPr>
              <a:t>Analyzer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165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00">
                <a:solidFill>
                  <a:srgbClr val="FFFFFF"/>
                </a:solidFill>
                <a:latin typeface="Arial Black"/>
                <a:cs typeface="Arial Black"/>
              </a:rPr>
              <a:t>Module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25">
                <a:solidFill>
                  <a:srgbClr val="FFFFFF"/>
                </a:solidFill>
                <a:latin typeface="Arial Black"/>
                <a:cs typeface="Arial Black"/>
              </a:rPr>
              <a:t>Overview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79082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25">
                <a:solidFill>
                  <a:srgbClr val="FFFFFF"/>
                </a:solidFill>
                <a:latin typeface="Arial Black"/>
                <a:cs typeface="Arial Black"/>
              </a:rPr>
              <a:t>Configuration</a:t>
            </a:r>
            <a:r>
              <a:rPr dirty="0" sz="1400" spc="8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50">
                <a:solidFill>
                  <a:srgbClr val="FFFFFF"/>
                </a:solidFill>
                <a:latin typeface="Arial Black"/>
                <a:cs typeface="Arial Black"/>
              </a:rPr>
              <a:t>Tracking</a:t>
            </a:r>
            <a:r>
              <a:rPr dirty="0" sz="1400" spc="8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30">
                <a:solidFill>
                  <a:srgbClr val="FFFFFF"/>
                </a:solidFill>
                <a:latin typeface="Arial Black"/>
                <a:cs typeface="Arial Black"/>
              </a:rPr>
              <a:t>with</a:t>
            </a:r>
            <a:r>
              <a:rPr dirty="0" sz="1400" spc="8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30">
                <a:solidFill>
                  <a:srgbClr val="FFFFFF"/>
                </a:solidFill>
                <a:latin typeface="Arial Black"/>
                <a:cs typeface="Arial Black"/>
              </a:rPr>
              <a:t>Dolt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20"/>
              <a:t>Action</a:t>
            </a:r>
            <a:r>
              <a:rPr dirty="0" spc="45"/>
              <a:t> </a:t>
            </a:r>
            <a:r>
              <a:rPr dirty="0" spc="-125"/>
              <a:t>Analyzer</a:t>
            </a:r>
            <a:r>
              <a:rPr dirty="0" spc="50"/>
              <a:t> </a:t>
            </a:r>
            <a:r>
              <a:rPr dirty="0" spc="165"/>
              <a:t>—</a:t>
            </a:r>
            <a:r>
              <a:rPr dirty="0" spc="45"/>
              <a:t> </a:t>
            </a:r>
            <a:r>
              <a:rPr dirty="0" spc="-130"/>
              <a:t>Interface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40534" y="1473960"/>
            <a:ext cx="1678939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screenshots/khaled/action_analyzer_ui.png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828164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20">
                <a:solidFill>
                  <a:srgbClr val="FFFFFF"/>
                </a:solidFill>
                <a:latin typeface="Arial Black"/>
                <a:cs typeface="Arial Black"/>
              </a:rPr>
              <a:t>Action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25">
                <a:solidFill>
                  <a:srgbClr val="FFFFFF"/>
                </a:solidFill>
                <a:latin typeface="Arial Black"/>
                <a:cs typeface="Arial Black"/>
              </a:rPr>
              <a:t>Timeline</a:t>
            </a:r>
            <a:r>
              <a:rPr dirty="0" sz="1400" spc="4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20">
                <a:solidFill>
                  <a:srgbClr val="FFFFFF"/>
                </a:solidFill>
                <a:latin typeface="Arial Black"/>
                <a:cs typeface="Arial Black"/>
              </a:rPr>
              <a:t>View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01024" y="1473960"/>
            <a:ext cx="1558290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44450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screenshots/khaled/action_timeline.png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3008630" cy="24447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35"/>
              <a:t>Before</a:t>
            </a:r>
            <a:r>
              <a:rPr dirty="0" spc="15"/>
              <a:t> </a:t>
            </a:r>
            <a:r>
              <a:rPr dirty="0" spc="395"/>
              <a:t>/</a:t>
            </a:r>
            <a:r>
              <a:rPr dirty="0" spc="-40"/>
              <a:t> </a:t>
            </a:r>
            <a:r>
              <a:rPr dirty="0" spc="-75"/>
              <a:t>After</a:t>
            </a:r>
            <a:r>
              <a:rPr dirty="0" spc="5"/>
              <a:t> </a:t>
            </a:r>
            <a:r>
              <a:rPr dirty="0" spc="-10"/>
              <a:t>KPI</a:t>
            </a:r>
            <a:r>
              <a:rPr dirty="0"/>
              <a:t> </a:t>
            </a:r>
            <a:r>
              <a:rPr dirty="0" spc="-140"/>
              <a:t>Impact</a:t>
            </a:r>
            <a:r>
              <a:rPr dirty="0" spc="25"/>
              <a:t> </a:t>
            </a:r>
            <a:r>
              <a:rPr dirty="0" spc="-125"/>
              <a:t>Analysis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28459" y="425226"/>
            <a:ext cx="1709420" cy="1778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000" spc="-110">
                <a:latin typeface="Arial Black"/>
                <a:cs typeface="Arial Black"/>
              </a:rPr>
              <a:t>Before</a:t>
            </a:r>
            <a:r>
              <a:rPr dirty="0" sz="1000" spc="25">
                <a:latin typeface="Arial Black"/>
                <a:cs typeface="Arial Black"/>
              </a:rPr>
              <a:t> </a:t>
            </a:r>
            <a:r>
              <a:rPr dirty="0" sz="1000" spc="-95">
                <a:latin typeface="Arial Black"/>
                <a:cs typeface="Arial Black"/>
              </a:rPr>
              <a:t>Configuration</a:t>
            </a:r>
            <a:r>
              <a:rPr dirty="0" sz="1000" spc="30">
                <a:latin typeface="Arial Black"/>
                <a:cs typeface="Arial Black"/>
              </a:rPr>
              <a:t> </a:t>
            </a:r>
            <a:r>
              <a:rPr dirty="0" sz="1000" spc="-105">
                <a:latin typeface="Arial Black"/>
                <a:cs typeface="Arial Black"/>
              </a:rPr>
              <a:t>Change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74472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marL="617220">
              <a:lnSpc>
                <a:spcPct val="100000"/>
              </a:lnSpc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625475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screenshots/khaled/before_change.png</a:t>
            </a:r>
            <a:endParaRPr sz="600">
              <a:latin typeface="Palatino Linotype"/>
              <a:cs typeface="Palatino Linotype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62121" y="425226"/>
            <a:ext cx="1630045" cy="1778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000" spc="-70">
                <a:latin typeface="Arial Black"/>
                <a:cs typeface="Arial Black"/>
              </a:rPr>
              <a:t>After</a:t>
            </a:r>
            <a:r>
              <a:rPr dirty="0" sz="1000" spc="-5">
                <a:latin typeface="Arial Black"/>
                <a:cs typeface="Arial Black"/>
              </a:rPr>
              <a:t> </a:t>
            </a:r>
            <a:r>
              <a:rPr dirty="0" sz="1000" spc="-95">
                <a:latin typeface="Arial Black"/>
                <a:cs typeface="Arial Black"/>
              </a:rPr>
              <a:t>Configuration</a:t>
            </a:r>
            <a:r>
              <a:rPr dirty="0" sz="1000" spc="10">
                <a:latin typeface="Arial Black"/>
                <a:cs typeface="Arial Black"/>
              </a:rPr>
              <a:t> </a:t>
            </a:r>
            <a:r>
              <a:rPr dirty="0" sz="1000" spc="-110">
                <a:latin typeface="Arial Black"/>
                <a:cs typeface="Arial Black"/>
              </a:rPr>
              <a:t>Change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68498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marL="617220">
              <a:lnSpc>
                <a:spcPct val="100000"/>
              </a:lnSpc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645160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screenshots/khaled/after_change.png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8" name="object 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76022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0">
                <a:solidFill>
                  <a:srgbClr val="FFFFFF"/>
                </a:solidFill>
                <a:latin typeface="Arial Black"/>
                <a:cs typeface="Arial Black"/>
              </a:rPr>
              <a:t>KPI</a:t>
            </a:r>
            <a:r>
              <a:rPr dirty="0" sz="1400" spc="-5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85">
                <a:solidFill>
                  <a:srgbClr val="FFFFFF"/>
                </a:solidFill>
                <a:latin typeface="Arial Black"/>
                <a:cs typeface="Arial Black"/>
              </a:rPr>
              <a:t>Delta</a:t>
            </a:r>
            <a:r>
              <a:rPr dirty="0" sz="1400" spc="-3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00">
                <a:solidFill>
                  <a:srgbClr val="FFFFFF"/>
                </a:solidFill>
                <a:latin typeface="Arial Black"/>
                <a:cs typeface="Arial Black"/>
              </a:rPr>
              <a:t>Bar</a:t>
            </a:r>
            <a:r>
              <a:rPr dirty="0" sz="1400" spc="-1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00">
                <a:solidFill>
                  <a:srgbClr val="FFFFFF"/>
                </a:solidFill>
                <a:latin typeface="Arial Black"/>
                <a:cs typeface="Arial Black"/>
              </a:rPr>
              <a:t>Chart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101024" y="1473960"/>
            <a:ext cx="1558290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44450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screenshots/khaled/delta_bar_chart.png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74331"/>
            <a:ext cx="4523105" cy="494030"/>
            <a:chOff x="97827" y="874331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74331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148628" y="937580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97827" y="918743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148628" y="937580"/>
            <a:ext cx="4472305" cy="431165"/>
          </a:xfrm>
          <a:prstGeom prst="rect">
            <a:avLst/>
          </a:prstGeom>
        </p:spPr>
        <p:txBody>
          <a:bodyPr wrap="square" lIns="0" tIns="56515" rIns="0" bIns="0" rtlCol="0" vert="horz">
            <a:spAutoFit/>
          </a:bodyPr>
          <a:lstStyle/>
          <a:p>
            <a:pPr algn="ctr" marR="93345">
              <a:lnSpc>
                <a:spcPct val="100000"/>
              </a:lnSpc>
              <a:spcBef>
                <a:spcPts val="445"/>
              </a:spcBef>
            </a:pPr>
            <a:r>
              <a:rPr dirty="0" sz="1400" spc="-114">
                <a:solidFill>
                  <a:srgbClr val="FFFFFF"/>
                </a:solidFill>
                <a:latin typeface="Arial Black"/>
                <a:cs typeface="Arial Black"/>
              </a:rPr>
              <a:t>Mahmoud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Arial Black"/>
                <a:cs typeface="Arial Black"/>
              </a:rPr>
              <a:t>Ashraf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499501"/>
            <a:ext cx="4472305" cy="584835"/>
          </a:xfrm>
          <a:custGeom>
            <a:avLst/>
            <a:gdLst/>
            <a:ahLst/>
            <a:cxnLst/>
            <a:rect l="l" t="t" r="r" b="b"/>
            <a:pathLst>
              <a:path w="4472305" h="584835">
                <a:moveTo>
                  <a:pt x="4471873" y="44424"/>
                </a:moveTo>
                <a:lnTo>
                  <a:pt x="4470565" y="44424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95" y="44424"/>
                </a:lnTo>
                <a:lnTo>
                  <a:pt x="0" y="44424"/>
                </a:lnTo>
                <a:lnTo>
                  <a:pt x="0" y="50800"/>
                </a:lnTo>
                <a:lnTo>
                  <a:pt x="0" y="82384"/>
                </a:lnTo>
                <a:lnTo>
                  <a:pt x="0" y="533603"/>
                </a:lnTo>
                <a:lnTo>
                  <a:pt x="4013" y="553339"/>
                </a:lnTo>
                <a:lnTo>
                  <a:pt x="14922" y="569493"/>
                </a:lnTo>
                <a:lnTo>
                  <a:pt x="31076" y="580402"/>
                </a:lnTo>
                <a:lnTo>
                  <a:pt x="50812" y="584415"/>
                </a:lnTo>
                <a:lnTo>
                  <a:pt x="4421073" y="584415"/>
                </a:lnTo>
                <a:lnTo>
                  <a:pt x="4440796" y="580402"/>
                </a:lnTo>
                <a:lnTo>
                  <a:pt x="4456950" y="569493"/>
                </a:lnTo>
                <a:lnTo>
                  <a:pt x="4467860" y="553339"/>
                </a:lnTo>
                <a:lnTo>
                  <a:pt x="4471873" y="533603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24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781176" y="1586049"/>
            <a:ext cx="3105150" cy="3911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706120" marR="5080" indent="-694055">
              <a:lnSpc>
                <a:spcPct val="100000"/>
              </a:lnSpc>
              <a:spcBef>
                <a:spcPts val="95"/>
              </a:spcBef>
            </a:pPr>
            <a:r>
              <a:rPr dirty="0" sz="1200" spc="-65">
                <a:solidFill>
                  <a:srgbClr val="13132C"/>
                </a:solidFill>
                <a:latin typeface="Tahoma"/>
                <a:cs typeface="Tahoma"/>
              </a:rPr>
              <a:t>Telecom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>
                <a:solidFill>
                  <a:srgbClr val="13132C"/>
                </a:solidFill>
                <a:latin typeface="Tahoma"/>
                <a:cs typeface="Tahoma"/>
              </a:rPr>
              <a:t>RAG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35">
                <a:solidFill>
                  <a:srgbClr val="13132C"/>
                </a:solidFill>
                <a:latin typeface="Tahoma"/>
                <a:cs typeface="Tahoma"/>
              </a:rPr>
              <a:t>Assistant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355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30">
                <a:solidFill>
                  <a:srgbClr val="13132C"/>
                </a:solidFill>
                <a:latin typeface="Tahoma"/>
                <a:cs typeface="Tahoma"/>
              </a:rPr>
              <a:t>Pipeline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355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65">
                <a:solidFill>
                  <a:srgbClr val="13132C"/>
                </a:solidFill>
                <a:latin typeface="Tahoma"/>
                <a:cs typeface="Tahoma"/>
              </a:rPr>
              <a:t>Interface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305">
                <a:solidFill>
                  <a:srgbClr val="13132C"/>
                </a:solidFill>
                <a:latin typeface="Tahoma"/>
                <a:cs typeface="Tahoma"/>
              </a:rPr>
              <a:t>• </a:t>
            </a:r>
            <a:r>
              <a:rPr dirty="0" sz="1200" spc="-40">
                <a:solidFill>
                  <a:srgbClr val="13132C"/>
                </a:solidFill>
                <a:latin typeface="Tahoma"/>
                <a:cs typeface="Tahoma"/>
              </a:rPr>
              <a:t>Anti-</a:t>
            </a:r>
            <a:r>
              <a:rPr dirty="0" sz="1200" spc="-30">
                <a:solidFill>
                  <a:srgbClr val="13132C"/>
                </a:solidFill>
                <a:latin typeface="Tahoma"/>
                <a:cs typeface="Tahoma"/>
              </a:rPr>
              <a:t>Hallucination</a:t>
            </a:r>
            <a:r>
              <a:rPr dirty="0" sz="1200" spc="4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Strategy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60"/>
              <a:t>RAG</a:t>
            </a:r>
            <a:r>
              <a:rPr dirty="0" spc="25"/>
              <a:t> </a:t>
            </a:r>
            <a:r>
              <a:rPr dirty="0" spc="-145"/>
              <a:t>Assistant</a:t>
            </a:r>
            <a:r>
              <a:rPr dirty="0" spc="25"/>
              <a:t> </a:t>
            </a:r>
            <a:r>
              <a:rPr dirty="0" spc="165"/>
              <a:t>—</a:t>
            </a:r>
            <a:r>
              <a:rPr dirty="0" spc="25"/>
              <a:t> </a:t>
            </a:r>
            <a:r>
              <a:rPr dirty="0" spc="-145"/>
              <a:t>Overview</a:t>
            </a:r>
            <a:r>
              <a:rPr dirty="0" spc="30"/>
              <a:t> </a:t>
            </a:r>
            <a:r>
              <a:rPr dirty="0"/>
              <a:t>&amp;</a:t>
            </a:r>
            <a:r>
              <a:rPr dirty="0" spc="25"/>
              <a:t> </a:t>
            </a:r>
            <a:r>
              <a:rPr dirty="0" spc="-85"/>
              <a:t>Motivation</a:t>
            </a:r>
          </a:p>
        </p:txBody>
      </p:sp>
      <p:sp>
        <p:nvSpPr>
          <p:cNvPr id="3" name="object 3"/>
          <p:cNvSpPr/>
          <p:nvPr/>
        </p:nvSpPr>
        <p:spPr>
          <a:xfrm>
            <a:off x="230390" y="839545"/>
            <a:ext cx="2560320" cy="208915"/>
          </a:xfrm>
          <a:custGeom>
            <a:avLst/>
            <a:gdLst/>
            <a:ahLst/>
            <a:cxnLst/>
            <a:rect l="l" t="t" r="r" b="b"/>
            <a:pathLst>
              <a:path w="2560320" h="208915">
                <a:moveTo>
                  <a:pt x="250904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8906"/>
                </a:lnTo>
                <a:lnTo>
                  <a:pt x="2559847" y="208906"/>
                </a:lnTo>
                <a:lnTo>
                  <a:pt x="2559847" y="50800"/>
                </a:lnTo>
                <a:lnTo>
                  <a:pt x="2555839" y="31075"/>
                </a:lnTo>
                <a:lnTo>
                  <a:pt x="2544925" y="14922"/>
                </a:lnTo>
                <a:lnTo>
                  <a:pt x="2528772" y="4008"/>
                </a:lnTo>
                <a:lnTo>
                  <a:pt x="2509047" y="0"/>
                </a:lnTo>
                <a:close/>
              </a:path>
            </a:pathLst>
          </a:custGeom>
          <a:solidFill>
            <a:srgbClr val="B4131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4" name="object 4"/>
          <p:cNvSpPr txBox="1"/>
          <p:nvPr/>
        </p:nvSpPr>
        <p:spPr>
          <a:xfrm>
            <a:off x="281190" y="793908"/>
            <a:ext cx="969644" cy="266700"/>
          </a:xfrm>
          <a:prstGeom prst="rect">
            <a:avLst/>
          </a:prstGeom>
        </p:spPr>
        <p:txBody>
          <a:bodyPr wrap="square" lIns="0" tIns="32384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254"/>
              </a:spcBef>
            </a:pP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The</a:t>
            </a:r>
            <a:r>
              <a:rPr dirty="0" sz="1400" spc="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40">
                <a:solidFill>
                  <a:srgbClr val="FFFFFF"/>
                </a:solidFill>
                <a:latin typeface="Tahoma"/>
                <a:cs typeface="Tahoma"/>
              </a:rPr>
              <a:t>Problem</a:t>
            </a:r>
            <a:endParaRPr sz="1400">
              <a:latin typeface="Tahom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230390" y="896459"/>
            <a:ext cx="2611120" cy="1837689"/>
            <a:chOff x="230390" y="896459"/>
            <a:chExt cx="2611120" cy="1837689"/>
          </a:xfrm>
        </p:grpSpPr>
        <p:pic>
          <p:nvPicPr>
            <p:cNvPr id="6" name="object 6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0390" y="1035799"/>
              <a:ext cx="2559847" cy="50609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281190" y="896459"/>
              <a:ext cx="2560320" cy="1837689"/>
            </a:xfrm>
            <a:custGeom>
              <a:avLst/>
              <a:gdLst/>
              <a:ahLst/>
              <a:cxnLst/>
              <a:rect l="l" t="t" r="r" b="b"/>
              <a:pathLst>
                <a:path w="2560320" h="1837689">
                  <a:moveTo>
                    <a:pt x="2559847" y="0"/>
                  </a:moveTo>
                  <a:lnTo>
                    <a:pt x="0" y="0"/>
                  </a:lnTo>
                  <a:lnTo>
                    <a:pt x="0" y="1837216"/>
                  </a:lnTo>
                  <a:lnTo>
                    <a:pt x="2559847" y="1837216"/>
                  </a:lnTo>
                  <a:lnTo>
                    <a:pt x="255984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230390" y="1080060"/>
              <a:ext cx="2560320" cy="1603375"/>
            </a:xfrm>
            <a:custGeom>
              <a:avLst/>
              <a:gdLst/>
              <a:ahLst/>
              <a:cxnLst/>
              <a:rect l="l" t="t" r="r" b="b"/>
              <a:pathLst>
                <a:path w="2560320" h="1603375">
                  <a:moveTo>
                    <a:pt x="2559847" y="0"/>
                  </a:moveTo>
                  <a:lnTo>
                    <a:pt x="0" y="0"/>
                  </a:lnTo>
                  <a:lnTo>
                    <a:pt x="0" y="1552014"/>
                  </a:lnTo>
                  <a:lnTo>
                    <a:pt x="4008" y="1571739"/>
                  </a:lnTo>
                  <a:lnTo>
                    <a:pt x="14922" y="1587892"/>
                  </a:lnTo>
                  <a:lnTo>
                    <a:pt x="31075" y="1598806"/>
                  </a:lnTo>
                  <a:lnTo>
                    <a:pt x="50800" y="1602814"/>
                  </a:lnTo>
                  <a:lnTo>
                    <a:pt x="2509047" y="1602814"/>
                  </a:lnTo>
                  <a:lnTo>
                    <a:pt x="2528772" y="1598806"/>
                  </a:lnTo>
                  <a:lnTo>
                    <a:pt x="2544925" y="1587892"/>
                  </a:lnTo>
                  <a:lnTo>
                    <a:pt x="2555839" y="1571739"/>
                  </a:lnTo>
                  <a:lnTo>
                    <a:pt x="2559847" y="1552014"/>
                  </a:lnTo>
                  <a:lnTo>
                    <a:pt x="2559847" y="0"/>
                  </a:lnTo>
                  <a:close/>
                </a:path>
              </a:pathLst>
            </a:custGeom>
            <a:solidFill>
              <a:srgbClr val="E5E5EB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281190" y="1046286"/>
            <a:ext cx="2560320" cy="160591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297180" marR="285750" indent="-190500">
              <a:lnSpc>
                <a:spcPct val="100000"/>
              </a:lnSpc>
              <a:spcBef>
                <a:spcPts val="95"/>
              </a:spcBef>
              <a:buClr>
                <a:srgbClr val="B41313"/>
              </a:buClr>
              <a:buChar char="•"/>
              <a:tabLst>
                <a:tab pos="297180" algn="l"/>
              </a:tabLst>
            </a:pPr>
            <a:r>
              <a:rPr dirty="0" sz="1200" spc="-60">
                <a:solidFill>
                  <a:srgbClr val="13132C"/>
                </a:solidFill>
                <a:latin typeface="Tahoma"/>
                <a:cs typeface="Tahoma"/>
              </a:rPr>
              <a:t>Engineers</a:t>
            </a:r>
            <a:r>
              <a:rPr dirty="0" sz="1200" spc="-1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75">
                <a:solidFill>
                  <a:srgbClr val="13132C"/>
                </a:solidFill>
                <a:latin typeface="Tahoma"/>
                <a:cs typeface="Tahoma"/>
              </a:rPr>
              <a:t>waste</a:t>
            </a:r>
            <a:r>
              <a:rPr dirty="0" sz="1200" spc="-1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65">
                <a:solidFill>
                  <a:srgbClr val="13132C"/>
                </a:solidFill>
                <a:latin typeface="Tahoma"/>
                <a:cs typeface="Tahoma"/>
              </a:rPr>
              <a:t>hours</a:t>
            </a:r>
            <a:r>
              <a:rPr dirty="0" sz="1200" spc="-1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60">
                <a:solidFill>
                  <a:srgbClr val="13132C"/>
                </a:solidFill>
                <a:latin typeface="Tahoma"/>
                <a:cs typeface="Tahoma"/>
              </a:rPr>
              <a:t>manually </a:t>
            </a:r>
            <a:r>
              <a:rPr dirty="0" sz="1200" spc="-80">
                <a:solidFill>
                  <a:srgbClr val="13132C"/>
                </a:solidFill>
                <a:latin typeface="Tahoma"/>
                <a:cs typeface="Tahoma"/>
              </a:rPr>
              <a:t>searching</a:t>
            </a:r>
            <a:r>
              <a:rPr dirty="0" sz="1200" spc="8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>
                <a:solidFill>
                  <a:srgbClr val="13132C"/>
                </a:solidFill>
                <a:latin typeface="Tahoma"/>
                <a:cs typeface="Tahoma"/>
              </a:rPr>
              <a:t>3GPP</a:t>
            </a:r>
            <a:r>
              <a:rPr dirty="0" sz="1200" spc="9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>
                <a:solidFill>
                  <a:srgbClr val="13132C"/>
                </a:solidFill>
                <a:latin typeface="Tahoma"/>
                <a:cs typeface="Tahoma"/>
              </a:rPr>
              <a:t>PDF</a:t>
            </a:r>
            <a:r>
              <a:rPr dirty="0" sz="1200" spc="8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specs</a:t>
            </a:r>
            <a:endParaRPr sz="1200">
              <a:latin typeface="Tahoma"/>
              <a:cs typeface="Tahoma"/>
            </a:endParaRPr>
          </a:p>
          <a:p>
            <a:pPr marL="297180" marR="100330" indent="-190500">
              <a:lnSpc>
                <a:spcPct val="100000"/>
              </a:lnSpc>
              <a:spcBef>
                <a:spcPts val="305"/>
              </a:spcBef>
              <a:buClr>
                <a:srgbClr val="B41313"/>
              </a:buClr>
              <a:buChar char="•"/>
              <a:tabLst>
                <a:tab pos="297180" algn="l"/>
              </a:tabLst>
            </a:pPr>
            <a:r>
              <a:rPr dirty="0" sz="1200" spc="-55">
                <a:solidFill>
                  <a:srgbClr val="13132C"/>
                </a:solidFill>
                <a:latin typeface="Tahoma"/>
                <a:cs typeface="Tahoma"/>
              </a:rPr>
              <a:t>Keyword</a:t>
            </a:r>
            <a:r>
              <a:rPr dirty="0" sz="1200" spc="-3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80">
                <a:solidFill>
                  <a:srgbClr val="13132C"/>
                </a:solidFill>
                <a:latin typeface="Tahoma"/>
                <a:cs typeface="Tahoma"/>
              </a:rPr>
              <a:t>search</a:t>
            </a:r>
            <a:r>
              <a:rPr dirty="0" sz="1200" spc="-1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25">
                <a:solidFill>
                  <a:srgbClr val="13132C"/>
                </a:solidFill>
                <a:latin typeface="Tahoma"/>
                <a:cs typeface="Tahoma"/>
              </a:rPr>
              <a:t>fails</a:t>
            </a:r>
            <a:r>
              <a:rPr dirty="0" sz="1200" spc="-1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90">
                <a:solidFill>
                  <a:srgbClr val="13132C"/>
                </a:solidFill>
                <a:latin typeface="Tahoma"/>
                <a:cs typeface="Tahoma"/>
              </a:rPr>
              <a:t>when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70">
                <a:solidFill>
                  <a:srgbClr val="13132C"/>
                </a:solidFill>
                <a:latin typeface="Tahoma"/>
                <a:cs typeface="Tahoma"/>
              </a:rPr>
              <a:t>wording </a:t>
            </a:r>
            <a:r>
              <a:rPr dirty="0" sz="1200" spc="-55">
                <a:solidFill>
                  <a:srgbClr val="13132C"/>
                </a:solidFill>
                <a:latin typeface="Tahoma"/>
                <a:cs typeface="Tahoma"/>
              </a:rPr>
              <a:t>differs</a:t>
            </a:r>
            <a:r>
              <a:rPr dirty="0" sz="1200" spc="-3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</a:rPr>
              <a:t>from</a:t>
            </a:r>
            <a:r>
              <a:rPr dirty="0" sz="1200" spc="-3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40">
                <a:solidFill>
                  <a:srgbClr val="13132C"/>
                </a:solidFill>
                <a:latin typeface="Tahoma"/>
                <a:cs typeface="Tahoma"/>
              </a:rPr>
              <a:t>the</a:t>
            </a:r>
            <a:r>
              <a:rPr dirty="0" sz="1200" spc="-3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spec</a:t>
            </a:r>
            <a:endParaRPr sz="1200">
              <a:latin typeface="Tahoma"/>
              <a:cs typeface="Tahoma"/>
            </a:endParaRPr>
          </a:p>
          <a:p>
            <a:pPr marL="297180" indent="-189865">
              <a:lnSpc>
                <a:spcPct val="100000"/>
              </a:lnSpc>
              <a:spcBef>
                <a:spcPts val="310"/>
              </a:spcBef>
              <a:buClr>
                <a:srgbClr val="B41313"/>
              </a:buClr>
              <a:buChar char="•"/>
              <a:tabLst>
                <a:tab pos="297180" algn="l"/>
              </a:tabLst>
            </a:pPr>
            <a:r>
              <a:rPr dirty="0" sz="1200" spc="-65">
                <a:solidFill>
                  <a:srgbClr val="13132C"/>
                </a:solidFill>
                <a:latin typeface="Tahoma"/>
                <a:cs typeface="Tahoma"/>
              </a:rPr>
              <a:t>General</a:t>
            </a:r>
            <a:r>
              <a:rPr dirty="0" sz="1200" spc="4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>
                <a:solidFill>
                  <a:srgbClr val="13132C"/>
                </a:solidFill>
                <a:latin typeface="Tahoma"/>
                <a:cs typeface="Tahoma"/>
              </a:rPr>
              <a:t>LLMs</a:t>
            </a:r>
            <a:r>
              <a:rPr dirty="0" sz="1200" spc="5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50">
                <a:solidFill>
                  <a:srgbClr val="13132C"/>
                </a:solidFill>
                <a:latin typeface="Arial Black"/>
                <a:cs typeface="Arial Black"/>
              </a:rPr>
              <a:t>hallucinate</a:t>
            </a:r>
            <a:endParaRPr sz="1200">
              <a:latin typeface="Arial Black"/>
              <a:cs typeface="Arial Black"/>
            </a:endParaRPr>
          </a:p>
          <a:p>
            <a:pPr marL="297180">
              <a:lnSpc>
                <a:spcPct val="100000"/>
              </a:lnSpc>
              <a:spcBef>
                <a:spcPts val="5"/>
              </a:spcBef>
            </a:pPr>
            <a:r>
              <a:rPr dirty="0" sz="1200" spc="-35">
                <a:solidFill>
                  <a:srgbClr val="13132C"/>
                </a:solidFill>
                <a:latin typeface="Tahoma"/>
                <a:cs typeface="Tahoma"/>
              </a:rPr>
              <a:t>protocol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details</a:t>
            </a:r>
            <a:endParaRPr sz="1200">
              <a:latin typeface="Tahoma"/>
              <a:cs typeface="Tahoma"/>
            </a:endParaRPr>
          </a:p>
          <a:p>
            <a:pPr marL="297180" marR="206375" indent="-190500">
              <a:lnSpc>
                <a:spcPct val="100000"/>
              </a:lnSpc>
              <a:spcBef>
                <a:spcPts val="305"/>
              </a:spcBef>
              <a:buClr>
                <a:srgbClr val="B41313"/>
              </a:buClr>
              <a:buChar char="•"/>
              <a:tabLst>
                <a:tab pos="297180" algn="l"/>
              </a:tabLst>
            </a:pPr>
            <a:r>
              <a:rPr dirty="0" sz="1200">
                <a:solidFill>
                  <a:srgbClr val="13132C"/>
                </a:solidFill>
                <a:latin typeface="Tahoma"/>
                <a:cs typeface="Tahoma"/>
              </a:rPr>
              <a:t>No</a:t>
            </a:r>
            <a:r>
              <a:rPr dirty="0" sz="1200" spc="-3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>
                <a:solidFill>
                  <a:srgbClr val="13132C"/>
                </a:solidFill>
                <a:latin typeface="Tahoma"/>
                <a:cs typeface="Tahoma"/>
              </a:rPr>
              <a:t>tool</a:t>
            </a:r>
            <a:r>
              <a:rPr dirty="0" sz="1200" spc="-2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65">
                <a:solidFill>
                  <a:srgbClr val="13132C"/>
                </a:solidFill>
                <a:latin typeface="Tahoma"/>
                <a:cs typeface="Tahoma"/>
              </a:rPr>
              <a:t>provides</a:t>
            </a:r>
            <a:r>
              <a:rPr dirty="0" sz="1200" spc="-2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40">
                <a:solidFill>
                  <a:srgbClr val="13132C"/>
                </a:solidFill>
                <a:latin typeface="Tahoma"/>
                <a:cs typeface="Tahoma"/>
              </a:rPr>
              <a:t>citation-</a:t>
            </a:r>
            <a:r>
              <a:rPr dirty="0" sz="1200" spc="-55">
                <a:solidFill>
                  <a:srgbClr val="13132C"/>
                </a:solidFill>
                <a:latin typeface="Tahoma"/>
                <a:cs typeface="Tahoma"/>
              </a:rPr>
              <a:t>backed, </a:t>
            </a:r>
            <a:r>
              <a:rPr dirty="0" sz="1200" spc="-70">
                <a:solidFill>
                  <a:srgbClr val="13132C"/>
                </a:solidFill>
                <a:latin typeface="Tahoma"/>
                <a:cs typeface="Tahoma"/>
              </a:rPr>
              <a:t>spec-</a:t>
            </a:r>
            <a:r>
              <a:rPr dirty="0" sz="1200" spc="-80">
                <a:solidFill>
                  <a:srgbClr val="13132C"/>
                </a:solidFill>
                <a:latin typeface="Tahoma"/>
                <a:cs typeface="Tahoma"/>
              </a:rPr>
              <a:t>grounded</a:t>
            </a:r>
            <a:r>
              <a:rPr dirty="0" sz="1200" spc="7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answers</a:t>
            </a:r>
            <a:endParaRPr sz="1200">
              <a:latin typeface="Tahoma"/>
              <a:cs typeface="Tahoma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969792" y="839545"/>
            <a:ext cx="2560320" cy="208915"/>
          </a:xfrm>
          <a:custGeom>
            <a:avLst/>
            <a:gdLst/>
            <a:ahLst/>
            <a:cxnLst/>
            <a:rect l="l" t="t" r="r" b="b"/>
            <a:pathLst>
              <a:path w="2560320" h="208915">
                <a:moveTo>
                  <a:pt x="2509047" y="0"/>
                </a:moveTo>
                <a:lnTo>
                  <a:pt x="50800" y="0"/>
                </a:lnTo>
                <a:lnTo>
                  <a:pt x="31075" y="4008"/>
                </a:lnTo>
                <a:lnTo>
                  <a:pt x="14922" y="14922"/>
                </a:lnTo>
                <a:lnTo>
                  <a:pt x="4008" y="31075"/>
                </a:lnTo>
                <a:lnTo>
                  <a:pt x="0" y="50800"/>
                </a:lnTo>
                <a:lnTo>
                  <a:pt x="0" y="208906"/>
                </a:lnTo>
                <a:lnTo>
                  <a:pt x="2559847" y="208906"/>
                </a:lnTo>
                <a:lnTo>
                  <a:pt x="2559847" y="50800"/>
                </a:lnTo>
                <a:lnTo>
                  <a:pt x="2555839" y="31075"/>
                </a:lnTo>
                <a:lnTo>
                  <a:pt x="2544925" y="14922"/>
                </a:lnTo>
                <a:lnTo>
                  <a:pt x="2528772" y="4008"/>
                </a:lnTo>
                <a:lnTo>
                  <a:pt x="2509047" y="0"/>
                </a:lnTo>
                <a:close/>
              </a:path>
            </a:pathLst>
          </a:custGeom>
          <a:solidFill>
            <a:srgbClr val="B41313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1" name="object 11"/>
          <p:cNvSpPr txBox="1"/>
          <p:nvPr/>
        </p:nvSpPr>
        <p:spPr>
          <a:xfrm>
            <a:off x="3020593" y="793908"/>
            <a:ext cx="952500" cy="266700"/>
          </a:xfrm>
          <a:prstGeom prst="rect">
            <a:avLst/>
          </a:prstGeom>
        </p:spPr>
        <p:txBody>
          <a:bodyPr wrap="square" lIns="0" tIns="32384" rIns="0" bIns="0" rtlCol="0" vert="horz">
            <a:spAutoFit/>
          </a:bodyPr>
          <a:lstStyle/>
          <a:p>
            <a:pPr>
              <a:lnSpc>
                <a:spcPct val="100000"/>
              </a:lnSpc>
              <a:spcBef>
                <a:spcPts val="254"/>
              </a:spcBef>
            </a:pPr>
            <a:r>
              <a:rPr dirty="0" sz="1400">
                <a:solidFill>
                  <a:srgbClr val="FFFFFF"/>
                </a:solidFill>
                <a:latin typeface="Tahoma"/>
                <a:cs typeface="Tahoma"/>
              </a:rPr>
              <a:t>Our</a:t>
            </a:r>
            <a:r>
              <a:rPr dirty="0" sz="1400" spc="-35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dirty="0" sz="1400" spc="-30">
                <a:solidFill>
                  <a:srgbClr val="FFFFFF"/>
                </a:solidFill>
                <a:latin typeface="Tahoma"/>
                <a:cs typeface="Tahoma"/>
              </a:rPr>
              <a:t>Solution</a:t>
            </a:r>
            <a:endParaRPr sz="1400">
              <a:latin typeface="Tahoma"/>
              <a:cs typeface="Tahoma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2969792" y="896466"/>
            <a:ext cx="2611120" cy="1837689"/>
            <a:chOff x="2969792" y="896466"/>
            <a:chExt cx="2611120" cy="1837689"/>
          </a:xfrm>
        </p:grpSpPr>
        <p:pic>
          <p:nvPicPr>
            <p:cNvPr id="13" name="object 1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969792" y="1035799"/>
              <a:ext cx="2559847" cy="50609"/>
            </a:xfrm>
            <a:prstGeom prst="rect">
              <a:avLst/>
            </a:prstGeom>
          </p:spPr>
        </p:pic>
        <p:sp>
          <p:nvSpPr>
            <p:cNvPr id="14" name="object 14"/>
            <p:cNvSpPr/>
            <p:nvPr/>
          </p:nvSpPr>
          <p:spPr>
            <a:xfrm>
              <a:off x="3020593" y="896466"/>
              <a:ext cx="2560320" cy="1837689"/>
            </a:xfrm>
            <a:custGeom>
              <a:avLst/>
              <a:gdLst/>
              <a:ahLst/>
              <a:cxnLst/>
              <a:rect l="l" t="t" r="r" b="b"/>
              <a:pathLst>
                <a:path w="2560320" h="1837689">
                  <a:moveTo>
                    <a:pt x="2559847" y="0"/>
                  </a:moveTo>
                  <a:lnTo>
                    <a:pt x="0" y="0"/>
                  </a:lnTo>
                  <a:lnTo>
                    <a:pt x="0" y="1837222"/>
                  </a:lnTo>
                  <a:lnTo>
                    <a:pt x="2559847" y="1837222"/>
                  </a:lnTo>
                  <a:lnTo>
                    <a:pt x="2559847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2969792" y="1080067"/>
              <a:ext cx="2560320" cy="1603375"/>
            </a:xfrm>
            <a:custGeom>
              <a:avLst/>
              <a:gdLst/>
              <a:ahLst/>
              <a:cxnLst/>
              <a:rect l="l" t="t" r="r" b="b"/>
              <a:pathLst>
                <a:path w="2560320" h="1603375">
                  <a:moveTo>
                    <a:pt x="2559847" y="0"/>
                  </a:moveTo>
                  <a:lnTo>
                    <a:pt x="0" y="0"/>
                  </a:lnTo>
                  <a:lnTo>
                    <a:pt x="0" y="1552019"/>
                  </a:lnTo>
                  <a:lnTo>
                    <a:pt x="4008" y="1571744"/>
                  </a:lnTo>
                  <a:lnTo>
                    <a:pt x="14922" y="1587897"/>
                  </a:lnTo>
                  <a:lnTo>
                    <a:pt x="31075" y="1598811"/>
                  </a:lnTo>
                  <a:lnTo>
                    <a:pt x="50800" y="1602820"/>
                  </a:lnTo>
                  <a:lnTo>
                    <a:pt x="2509047" y="1602820"/>
                  </a:lnTo>
                  <a:lnTo>
                    <a:pt x="2528772" y="1598811"/>
                  </a:lnTo>
                  <a:lnTo>
                    <a:pt x="2544925" y="1587897"/>
                  </a:lnTo>
                  <a:lnTo>
                    <a:pt x="2555839" y="1571744"/>
                  </a:lnTo>
                  <a:lnTo>
                    <a:pt x="2559847" y="1552019"/>
                  </a:lnTo>
                  <a:lnTo>
                    <a:pt x="2559847" y="0"/>
                  </a:lnTo>
                  <a:close/>
                </a:path>
              </a:pathLst>
            </a:custGeom>
            <a:solidFill>
              <a:srgbClr val="E5E5EB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/>
          <p:nvPr/>
        </p:nvSpPr>
        <p:spPr>
          <a:xfrm>
            <a:off x="3020593" y="1046299"/>
            <a:ext cx="2560320" cy="160591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297180" indent="-189865">
              <a:lnSpc>
                <a:spcPct val="100000"/>
              </a:lnSpc>
              <a:spcBef>
                <a:spcPts val="95"/>
              </a:spcBef>
              <a:buClr>
                <a:srgbClr val="B41313"/>
              </a:buClr>
              <a:buFont typeface="Tahoma"/>
              <a:buChar char="•"/>
              <a:tabLst>
                <a:tab pos="297180" algn="l"/>
              </a:tabLst>
            </a:pPr>
            <a:r>
              <a:rPr dirty="0" sz="1200" spc="-130">
                <a:solidFill>
                  <a:srgbClr val="13132C"/>
                </a:solidFill>
                <a:latin typeface="Arial Black"/>
                <a:cs typeface="Arial Black"/>
              </a:rPr>
              <a:t>Engineering-</a:t>
            </a:r>
            <a:r>
              <a:rPr dirty="0" sz="1200" spc="-135">
                <a:solidFill>
                  <a:srgbClr val="13132C"/>
                </a:solidFill>
                <a:latin typeface="Arial Black"/>
                <a:cs typeface="Arial Black"/>
              </a:rPr>
              <a:t>grade</a:t>
            </a:r>
            <a:r>
              <a:rPr dirty="0" sz="1200" spc="120">
                <a:solidFill>
                  <a:srgbClr val="13132C"/>
                </a:solidFill>
                <a:latin typeface="Arial Black"/>
                <a:cs typeface="Arial Black"/>
              </a:rPr>
              <a:t> </a:t>
            </a:r>
            <a:r>
              <a:rPr dirty="0" sz="1200" spc="-25">
                <a:solidFill>
                  <a:srgbClr val="13132C"/>
                </a:solidFill>
                <a:latin typeface="Arial Black"/>
                <a:cs typeface="Arial Black"/>
              </a:rPr>
              <a:t>RAG</a:t>
            </a:r>
            <a:endParaRPr sz="1200">
              <a:latin typeface="Arial Black"/>
              <a:cs typeface="Arial Black"/>
            </a:endParaRPr>
          </a:p>
          <a:p>
            <a:pPr marL="297180">
              <a:lnSpc>
                <a:spcPct val="100000"/>
              </a:lnSpc>
              <a:spcBef>
                <a:spcPts val="5"/>
              </a:spcBef>
            </a:pPr>
            <a:r>
              <a:rPr dirty="0" sz="1200" spc="-65">
                <a:solidFill>
                  <a:srgbClr val="13132C"/>
                </a:solidFill>
                <a:latin typeface="Tahoma"/>
                <a:cs typeface="Tahoma"/>
              </a:rPr>
              <a:t>purpose-</a:t>
            </a:r>
            <a:r>
              <a:rPr dirty="0" sz="1200" spc="-35">
                <a:solidFill>
                  <a:srgbClr val="13132C"/>
                </a:solidFill>
                <a:latin typeface="Tahoma"/>
                <a:cs typeface="Tahoma"/>
              </a:rPr>
              <a:t>built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</a:rPr>
              <a:t>for</a:t>
            </a:r>
            <a:r>
              <a:rPr dirty="0" sz="1200" spc="-2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3GPP</a:t>
            </a:r>
            <a:endParaRPr sz="1200">
              <a:latin typeface="Tahoma"/>
              <a:cs typeface="Tahoma"/>
            </a:endParaRPr>
          </a:p>
          <a:p>
            <a:pPr marL="297180" marR="291465" indent="-190500">
              <a:lnSpc>
                <a:spcPct val="100000"/>
              </a:lnSpc>
              <a:spcBef>
                <a:spcPts val="300"/>
              </a:spcBef>
              <a:buClr>
                <a:srgbClr val="B41313"/>
              </a:buClr>
              <a:buChar char="•"/>
              <a:tabLst>
                <a:tab pos="297180" algn="l"/>
              </a:tabLst>
            </a:pP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Fully</a:t>
            </a:r>
            <a:r>
              <a:rPr dirty="0" sz="1200" spc="-5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125">
                <a:solidFill>
                  <a:srgbClr val="13132C"/>
                </a:solidFill>
                <a:latin typeface="Arial Black"/>
                <a:cs typeface="Arial Black"/>
              </a:rPr>
              <a:t>local</a:t>
            </a:r>
            <a:r>
              <a:rPr dirty="0" sz="1200" spc="-125">
                <a:solidFill>
                  <a:srgbClr val="13132C"/>
                </a:solidFill>
                <a:latin typeface="Tahoma"/>
                <a:cs typeface="Tahoma"/>
              </a:rPr>
              <a:t>:</a:t>
            </a:r>
            <a:r>
              <a:rPr dirty="0" sz="1200" spc="6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70">
                <a:solidFill>
                  <a:srgbClr val="13132C"/>
                </a:solidFill>
                <a:latin typeface="Tahoma"/>
                <a:cs typeface="Tahoma"/>
              </a:rPr>
              <a:t>embeddings,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50">
                <a:solidFill>
                  <a:srgbClr val="13132C"/>
                </a:solidFill>
                <a:latin typeface="Tahoma"/>
                <a:cs typeface="Tahoma"/>
              </a:rPr>
              <a:t>vector </a:t>
            </a:r>
            <a:r>
              <a:rPr dirty="0" sz="1200" spc="-65">
                <a:solidFill>
                  <a:srgbClr val="13132C"/>
                </a:solidFill>
                <a:latin typeface="Tahoma"/>
                <a:cs typeface="Tahoma"/>
              </a:rPr>
              <a:t>store,</a:t>
            </a:r>
            <a:r>
              <a:rPr dirty="0" sz="1200" spc="3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70">
                <a:solidFill>
                  <a:srgbClr val="13132C"/>
                </a:solidFill>
                <a:latin typeface="Tahoma"/>
                <a:cs typeface="Tahoma"/>
              </a:rPr>
              <a:t>re-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ranking</a:t>
            </a:r>
            <a:endParaRPr sz="1200">
              <a:latin typeface="Tahoma"/>
              <a:cs typeface="Tahoma"/>
            </a:endParaRPr>
          </a:p>
          <a:p>
            <a:pPr marL="297180" marR="269875" indent="-190500">
              <a:lnSpc>
                <a:spcPct val="100000"/>
              </a:lnSpc>
              <a:spcBef>
                <a:spcPts val="310"/>
              </a:spcBef>
              <a:buClr>
                <a:srgbClr val="B41313"/>
              </a:buClr>
              <a:buChar char="•"/>
              <a:tabLst>
                <a:tab pos="297180" algn="l"/>
              </a:tabLst>
            </a:pPr>
            <a:r>
              <a:rPr dirty="0" sz="1200" spc="-55">
                <a:solidFill>
                  <a:srgbClr val="13132C"/>
                </a:solidFill>
                <a:latin typeface="Tahoma"/>
                <a:cs typeface="Tahoma"/>
              </a:rPr>
              <a:t>Every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90">
                <a:solidFill>
                  <a:srgbClr val="13132C"/>
                </a:solidFill>
                <a:latin typeface="Tahoma"/>
                <a:cs typeface="Tahoma"/>
              </a:rPr>
              <a:t>answer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35">
                <a:solidFill>
                  <a:srgbClr val="13132C"/>
                </a:solidFill>
                <a:latin typeface="Tahoma"/>
                <a:cs typeface="Tahoma"/>
              </a:rPr>
              <a:t>cites:</a:t>
            </a:r>
            <a:r>
              <a:rPr dirty="0" sz="1200" spc="12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>
                <a:solidFill>
                  <a:srgbClr val="13132C"/>
                </a:solidFill>
                <a:latin typeface="Tahoma"/>
                <a:cs typeface="Tahoma"/>
              </a:rPr>
              <a:t>TS </a:t>
            </a:r>
            <a:r>
              <a:rPr dirty="0" sz="1200" spc="-65">
                <a:solidFill>
                  <a:srgbClr val="13132C"/>
                </a:solidFill>
                <a:latin typeface="Tahoma"/>
                <a:cs typeface="Tahoma"/>
              </a:rPr>
              <a:t>number, </a:t>
            </a:r>
            <a:r>
              <a:rPr dirty="0" sz="1200" spc="-75">
                <a:solidFill>
                  <a:srgbClr val="13132C"/>
                </a:solidFill>
                <a:latin typeface="Tahoma"/>
                <a:cs typeface="Tahoma"/>
              </a:rPr>
              <a:t>Release,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35">
                <a:solidFill>
                  <a:srgbClr val="13132C"/>
                </a:solidFill>
                <a:latin typeface="Tahoma"/>
                <a:cs typeface="Tahoma"/>
              </a:rPr>
              <a:t>Section,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page</a:t>
            </a:r>
            <a:endParaRPr sz="1200">
              <a:latin typeface="Tahoma"/>
              <a:cs typeface="Tahoma"/>
            </a:endParaRPr>
          </a:p>
          <a:p>
            <a:pPr marL="297180" marR="159385" indent="-190500">
              <a:lnSpc>
                <a:spcPct val="100000"/>
              </a:lnSpc>
              <a:spcBef>
                <a:spcPts val="309"/>
              </a:spcBef>
              <a:buClr>
                <a:srgbClr val="B41313"/>
              </a:buClr>
              <a:buChar char="•"/>
              <a:tabLst>
                <a:tab pos="297180" algn="l"/>
              </a:tabLst>
            </a:pPr>
            <a:r>
              <a:rPr dirty="0" sz="1200" spc="-65">
                <a:solidFill>
                  <a:srgbClr val="13132C"/>
                </a:solidFill>
                <a:latin typeface="Tahoma"/>
                <a:cs typeface="Tahoma"/>
              </a:rPr>
              <a:t>Integrated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into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>
                <a:solidFill>
                  <a:srgbClr val="13132C"/>
                </a:solidFill>
                <a:latin typeface="Tahoma"/>
                <a:cs typeface="Tahoma"/>
              </a:rPr>
              <a:t>RANPilotAI</a:t>
            </a:r>
            <a:r>
              <a:rPr dirty="0" sz="1200" spc="-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75">
                <a:solidFill>
                  <a:srgbClr val="13132C"/>
                </a:solidFill>
                <a:latin typeface="Tahoma"/>
                <a:cs typeface="Tahoma"/>
              </a:rPr>
              <a:t>—</a:t>
            </a:r>
            <a:r>
              <a:rPr dirty="0" sz="120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</a:rPr>
              <a:t>no </a:t>
            </a:r>
            <a:r>
              <a:rPr dirty="0" sz="1200">
                <a:solidFill>
                  <a:srgbClr val="13132C"/>
                </a:solidFill>
                <a:latin typeface="Tahoma"/>
                <a:cs typeface="Tahoma"/>
              </a:rPr>
              <a:t>tool</a:t>
            </a:r>
            <a:r>
              <a:rPr dirty="0" sz="1200" spc="-7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10">
                <a:solidFill>
                  <a:srgbClr val="13132C"/>
                </a:solidFill>
                <a:latin typeface="Tahoma"/>
                <a:cs typeface="Tahoma"/>
              </a:rPr>
              <a:t>switching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8" name="object 1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9" name="object 1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" name="object 21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4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23" name="object 2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4472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60">
                <a:solidFill>
                  <a:srgbClr val="FFFFFF"/>
                </a:solidFill>
                <a:latin typeface="Arial Black"/>
                <a:cs typeface="Arial Black"/>
              </a:rPr>
              <a:t>RAG</a:t>
            </a:r>
            <a:r>
              <a:rPr dirty="0" sz="1400" spc="-2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14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dirty="0" sz="1400" spc="-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25">
                <a:solidFill>
                  <a:srgbClr val="FFFFFF"/>
                </a:solidFill>
                <a:latin typeface="Arial Black"/>
                <a:cs typeface="Arial Black"/>
              </a:rPr>
              <a:t>Architecture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41235" y="464580"/>
            <a:ext cx="4477537" cy="2515042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14"/>
              <a:t>Pipeline</a:t>
            </a:r>
            <a:r>
              <a:rPr dirty="0" spc="50"/>
              <a:t> </a:t>
            </a:r>
            <a:r>
              <a:rPr dirty="0" spc="165"/>
              <a:t>—</a:t>
            </a:r>
            <a:r>
              <a:rPr dirty="0" spc="50"/>
              <a:t> </a:t>
            </a:r>
            <a:r>
              <a:rPr dirty="0" spc="-125"/>
              <a:t>Key</a:t>
            </a:r>
            <a:r>
              <a:rPr dirty="0" spc="50"/>
              <a:t> </a:t>
            </a:r>
            <a:r>
              <a:rPr dirty="0" spc="-145"/>
              <a:t>Engineering</a:t>
            </a:r>
            <a:r>
              <a:rPr dirty="0" spc="50"/>
              <a:t> </a:t>
            </a:r>
            <a:r>
              <a:rPr dirty="0" spc="-135"/>
              <a:t>Decisions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pc="-130"/>
              <a:t>Ingestion</a:t>
            </a:r>
            <a:r>
              <a:rPr dirty="0" spc="30"/>
              <a:t> </a:t>
            </a:r>
            <a:r>
              <a:rPr dirty="0"/>
              <a:t>&amp;</a:t>
            </a:r>
            <a:r>
              <a:rPr dirty="0" spc="-10"/>
              <a:t> Chunking</a:t>
            </a:r>
          </a:p>
          <a:p>
            <a:pPr marL="309880" marR="5080" indent="-182245">
              <a:lnSpc>
                <a:spcPct val="102600"/>
              </a:lnSpc>
              <a:spcBef>
                <a:spcPts val="894"/>
              </a:spcBef>
              <a:buClr>
                <a:srgbClr val="B41313"/>
              </a:buClr>
              <a:buFont typeface="Tahoma"/>
              <a:buChar char="•"/>
              <a:tabLst>
                <a:tab pos="309880" algn="l"/>
              </a:tabLst>
            </a:pPr>
            <a:r>
              <a:rPr dirty="0" spc="-130"/>
              <a:t>Section-</a:t>
            </a:r>
            <a:r>
              <a:rPr dirty="0" spc="-185"/>
              <a:t>aware</a:t>
            </a:r>
            <a:r>
              <a:rPr dirty="0" spc="15"/>
              <a:t> </a:t>
            </a:r>
            <a:r>
              <a:rPr dirty="0" spc="50">
                <a:latin typeface="Tahoma"/>
                <a:cs typeface="Tahoma"/>
              </a:rPr>
              <a:t>PDF</a:t>
            </a:r>
            <a:r>
              <a:rPr dirty="0" spc="45">
                <a:latin typeface="Tahoma"/>
                <a:cs typeface="Tahoma"/>
              </a:rPr>
              <a:t> </a:t>
            </a:r>
            <a:r>
              <a:rPr dirty="0" spc="-45">
                <a:latin typeface="Tahoma"/>
                <a:cs typeface="Tahoma"/>
              </a:rPr>
              <a:t>parsing</a:t>
            </a:r>
            <a:r>
              <a:rPr dirty="0" spc="40">
                <a:latin typeface="Tahoma"/>
                <a:cs typeface="Tahoma"/>
              </a:rPr>
              <a:t> </a:t>
            </a:r>
            <a:r>
              <a:rPr dirty="0" spc="-10">
                <a:latin typeface="Tahoma"/>
                <a:cs typeface="Tahoma"/>
              </a:rPr>
              <a:t>(PyMuPDF) splits</a:t>
            </a:r>
            <a:r>
              <a:rPr dirty="0" spc="-25">
                <a:latin typeface="Tahoma"/>
                <a:cs typeface="Tahoma"/>
              </a:rPr>
              <a:t> </a:t>
            </a:r>
            <a:r>
              <a:rPr dirty="0" spc="-10">
                <a:latin typeface="Tahoma"/>
                <a:cs typeface="Tahoma"/>
              </a:rPr>
              <a:t>on</a:t>
            </a:r>
            <a:r>
              <a:rPr dirty="0" spc="-15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3GPP</a:t>
            </a:r>
            <a:r>
              <a:rPr dirty="0" spc="-25">
                <a:latin typeface="Tahoma"/>
                <a:cs typeface="Tahoma"/>
              </a:rPr>
              <a:t> </a:t>
            </a:r>
            <a:r>
              <a:rPr dirty="0" spc="-35">
                <a:latin typeface="Tahoma"/>
                <a:cs typeface="Tahoma"/>
              </a:rPr>
              <a:t>section</a:t>
            </a:r>
            <a:r>
              <a:rPr dirty="0" spc="-20">
                <a:latin typeface="Tahoma"/>
                <a:cs typeface="Tahoma"/>
              </a:rPr>
              <a:t> </a:t>
            </a:r>
            <a:r>
              <a:rPr dirty="0" spc="-50">
                <a:latin typeface="Tahoma"/>
                <a:cs typeface="Tahoma"/>
              </a:rPr>
              <a:t>boundaries</a:t>
            </a:r>
            <a:r>
              <a:rPr dirty="0" spc="-20">
                <a:latin typeface="Tahoma"/>
                <a:cs typeface="Tahoma"/>
              </a:rPr>
              <a:t> </a:t>
            </a:r>
            <a:r>
              <a:rPr dirty="0" spc="30">
                <a:latin typeface="Tahoma"/>
                <a:cs typeface="Tahoma"/>
              </a:rPr>
              <a:t>— </a:t>
            </a:r>
            <a:r>
              <a:rPr dirty="0" spc="-40">
                <a:latin typeface="Tahoma"/>
                <a:cs typeface="Tahoma"/>
              </a:rPr>
              <a:t>formulas</a:t>
            </a:r>
            <a:r>
              <a:rPr dirty="0" spc="-15">
                <a:latin typeface="Tahoma"/>
                <a:cs typeface="Tahoma"/>
              </a:rPr>
              <a:t> </a:t>
            </a:r>
            <a:r>
              <a:rPr dirty="0" spc="-40">
                <a:latin typeface="Tahoma"/>
                <a:cs typeface="Tahoma"/>
              </a:rPr>
              <a:t>and</a:t>
            </a:r>
            <a:r>
              <a:rPr dirty="0" spc="-15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ASN.1</a:t>
            </a:r>
            <a:r>
              <a:rPr dirty="0" spc="-15">
                <a:latin typeface="Tahoma"/>
                <a:cs typeface="Tahoma"/>
              </a:rPr>
              <a:t> </a:t>
            </a:r>
            <a:r>
              <a:rPr dirty="0" spc="-65">
                <a:latin typeface="Tahoma"/>
                <a:cs typeface="Tahoma"/>
              </a:rPr>
              <a:t>never</a:t>
            </a:r>
            <a:r>
              <a:rPr dirty="0" spc="-10">
                <a:latin typeface="Tahoma"/>
                <a:cs typeface="Tahoma"/>
              </a:rPr>
              <a:t> </a:t>
            </a:r>
            <a:r>
              <a:rPr dirty="0">
                <a:latin typeface="Tahoma"/>
                <a:cs typeface="Tahoma"/>
              </a:rPr>
              <a:t>cut</a:t>
            </a:r>
            <a:r>
              <a:rPr dirty="0" spc="-10">
                <a:latin typeface="Tahoma"/>
                <a:cs typeface="Tahoma"/>
              </a:rPr>
              <a:t> </a:t>
            </a:r>
            <a:r>
              <a:rPr dirty="0" spc="-45">
                <a:latin typeface="Tahoma"/>
                <a:cs typeface="Tahoma"/>
              </a:rPr>
              <a:t>mid-</a:t>
            </a:r>
            <a:r>
              <a:rPr dirty="0" spc="-25">
                <a:latin typeface="Tahoma"/>
                <a:cs typeface="Tahoma"/>
              </a:rPr>
              <a:t>way</a:t>
            </a:r>
          </a:p>
          <a:p>
            <a:pPr marL="310515" indent="-182880">
              <a:lnSpc>
                <a:spcPct val="100000"/>
              </a:lnSpc>
              <a:spcBef>
                <a:spcPts val="935"/>
              </a:spcBef>
              <a:buClr>
                <a:srgbClr val="B41313"/>
              </a:buClr>
              <a:buChar char="•"/>
              <a:tabLst>
                <a:tab pos="310515" algn="l"/>
              </a:tabLst>
            </a:pPr>
            <a:r>
              <a:rPr dirty="0" spc="-30">
                <a:latin typeface="Tahoma"/>
                <a:cs typeface="Tahoma"/>
              </a:rPr>
              <a:t>Target</a:t>
            </a:r>
            <a:r>
              <a:rPr dirty="0" spc="-60">
                <a:latin typeface="Tahoma"/>
                <a:cs typeface="Tahoma"/>
              </a:rPr>
              <a:t> </a:t>
            </a:r>
            <a:r>
              <a:rPr dirty="0" spc="-30">
                <a:latin typeface="Tahoma"/>
                <a:cs typeface="Tahoma"/>
              </a:rPr>
              <a:t>chunk:</a:t>
            </a:r>
            <a:r>
              <a:rPr dirty="0" spc="60">
                <a:latin typeface="Tahoma"/>
                <a:cs typeface="Tahoma"/>
              </a:rPr>
              <a:t> </a:t>
            </a:r>
            <a:r>
              <a:rPr dirty="0" spc="-60">
                <a:latin typeface="Tahoma"/>
                <a:cs typeface="Tahoma"/>
              </a:rPr>
              <a:t>200–</a:t>
            </a:r>
            <a:r>
              <a:rPr dirty="0" spc="-45">
                <a:latin typeface="Tahoma"/>
                <a:cs typeface="Tahoma"/>
              </a:rPr>
              <a:t>350 </a:t>
            </a:r>
            <a:r>
              <a:rPr dirty="0" spc="-50">
                <a:latin typeface="Tahoma"/>
                <a:cs typeface="Tahoma"/>
              </a:rPr>
              <a:t>tokens</a:t>
            </a:r>
            <a:r>
              <a:rPr dirty="0" spc="-35">
                <a:latin typeface="Tahoma"/>
                <a:cs typeface="Tahoma"/>
              </a:rPr>
              <a:t> </a:t>
            </a:r>
            <a:r>
              <a:rPr dirty="0" spc="-25">
                <a:latin typeface="Tahoma"/>
                <a:cs typeface="Tahoma"/>
              </a:rPr>
              <a:t>(max</a:t>
            </a:r>
            <a:r>
              <a:rPr dirty="0" spc="-45">
                <a:latin typeface="Tahoma"/>
                <a:cs typeface="Tahoma"/>
              </a:rPr>
              <a:t> </a:t>
            </a:r>
            <a:r>
              <a:rPr dirty="0" spc="-20">
                <a:latin typeface="Tahoma"/>
                <a:cs typeface="Tahoma"/>
              </a:rPr>
              <a:t>500)</a:t>
            </a:r>
          </a:p>
          <a:p>
            <a:pPr marL="309880" marR="350520" indent="-182245">
              <a:lnSpc>
                <a:spcPct val="102600"/>
              </a:lnSpc>
              <a:spcBef>
                <a:spcPts val="894"/>
              </a:spcBef>
              <a:buClr>
                <a:srgbClr val="B41313"/>
              </a:buClr>
              <a:buChar char="•"/>
              <a:tabLst>
                <a:tab pos="309880" algn="l"/>
              </a:tabLst>
            </a:pPr>
            <a:r>
              <a:rPr dirty="0">
                <a:latin typeface="Tahoma"/>
                <a:cs typeface="Tahoma"/>
              </a:rPr>
              <a:t>8</a:t>
            </a:r>
            <a:r>
              <a:rPr dirty="0" spc="-50">
                <a:latin typeface="Tahoma"/>
                <a:cs typeface="Tahoma"/>
              </a:rPr>
              <a:t> </a:t>
            </a:r>
            <a:r>
              <a:rPr dirty="0" spc="-40">
                <a:latin typeface="Tahoma"/>
                <a:cs typeface="Tahoma"/>
              </a:rPr>
              <a:t>chunk</a:t>
            </a:r>
            <a:r>
              <a:rPr dirty="0" spc="-45">
                <a:latin typeface="Tahoma"/>
                <a:cs typeface="Tahoma"/>
              </a:rPr>
              <a:t> </a:t>
            </a:r>
            <a:r>
              <a:rPr dirty="0" spc="-35">
                <a:latin typeface="Tahoma"/>
                <a:cs typeface="Tahoma"/>
              </a:rPr>
              <a:t>types:</a:t>
            </a:r>
            <a:r>
              <a:rPr dirty="0" spc="55">
                <a:latin typeface="Tahoma"/>
                <a:cs typeface="Tahoma"/>
              </a:rPr>
              <a:t> </a:t>
            </a:r>
            <a:r>
              <a:rPr dirty="0" spc="-35">
                <a:latin typeface="Tahoma"/>
                <a:cs typeface="Tahoma"/>
              </a:rPr>
              <a:t>section,</a:t>
            </a:r>
            <a:r>
              <a:rPr dirty="0" spc="-40">
                <a:latin typeface="Tahoma"/>
                <a:cs typeface="Tahoma"/>
              </a:rPr>
              <a:t> </a:t>
            </a:r>
            <a:r>
              <a:rPr dirty="0" spc="-10">
                <a:latin typeface="Tahoma"/>
                <a:cs typeface="Tahoma"/>
              </a:rPr>
              <a:t>event_def, </a:t>
            </a:r>
            <a:r>
              <a:rPr dirty="0">
                <a:latin typeface="Tahoma"/>
                <a:cs typeface="Tahoma"/>
              </a:rPr>
              <a:t>ASN.1,</a:t>
            </a:r>
            <a:r>
              <a:rPr dirty="0" spc="-30">
                <a:latin typeface="Tahoma"/>
                <a:cs typeface="Tahoma"/>
              </a:rPr>
              <a:t> </a:t>
            </a:r>
            <a:r>
              <a:rPr dirty="0" spc="-25">
                <a:latin typeface="Tahoma"/>
                <a:cs typeface="Tahoma"/>
              </a:rPr>
              <a:t>table,</a:t>
            </a:r>
            <a:r>
              <a:rPr dirty="0" spc="-20">
                <a:latin typeface="Tahoma"/>
                <a:cs typeface="Tahoma"/>
              </a:rPr>
              <a:t> </a:t>
            </a:r>
            <a:r>
              <a:rPr dirty="0" spc="-50">
                <a:latin typeface="Tahoma"/>
                <a:cs typeface="Tahoma"/>
              </a:rPr>
              <a:t>figure,</a:t>
            </a:r>
            <a:r>
              <a:rPr dirty="0" spc="-30">
                <a:latin typeface="Tahoma"/>
                <a:cs typeface="Tahoma"/>
              </a:rPr>
              <a:t> </a:t>
            </a:r>
            <a:r>
              <a:rPr dirty="0" spc="-50">
                <a:latin typeface="Tahoma"/>
                <a:cs typeface="Tahoma"/>
              </a:rPr>
              <a:t>annex,</a:t>
            </a:r>
            <a:r>
              <a:rPr dirty="0" spc="-25">
                <a:latin typeface="Tahoma"/>
                <a:cs typeface="Tahoma"/>
              </a:rPr>
              <a:t> </a:t>
            </a:r>
            <a:r>
              <a:rPr dirty="0" spc="-40">
                <a:latin typeface="Tahoma"/>
                <a:cs typeface="Tahoma"/>
              </a:rPr>
              <a:t>history, </a:t>
            </a:r>
            <a:r>
              <a:rPr dirty="0" spc="-10">
                <a:latin typeface="Tahoma"/>
                <a:cs typeface="Tahoma"/>
              </a:rPr>
              <a:t>formula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916847" y="630325"/>
            <a:ext cx="2728595" cy="219583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dirty="0" sz="1100" spc="-125">
                <a:latin typeface="Arial Black"/>
                <a:cs typeface="Arial Black"/>
              </a:rPr>
              <a:t>Retrieval</a:t>
            </a:r>
            <a:r>
              <a:rPr dirty="0" sz="1100" spc="30">
                <a:latin typeface="Arial Black"/>
                <a:cs typeface="Arial Black"/>
              </a:rPr>
              <a:t> </a:t>
            </a:r>
            <a:r>
              <a:rPr dirty="0" sz="1100">
                <a:latin typeface="Arial Black"/>
                <a:cs typeface="Arial Black"/>
              </a:rPr>
              <a:t>&amp; </a:t>
            </a:r>
            <a:r>
              <a:rPr dirty="0" sz="1100" spc="-35">
                <a:latin typeface="Arial Black"/>
                <a:cs typeface="Arial Black"/>
              </a:rPr>
              <a:t>Generation</a:t>
            </a:r>
            <a:endParaRPr sz="1100">
              <a:latin typeface="Arial Black"/>
              <a:cs typeface="Arial Black"/>
            </a:endParaRPr>
          </a:p>
          <a:p>
            <a:pPr marL="310515" indent="-182880">
              <a:lnSpc>
                <a:spcPct val="100000"/>
              </a:lnSpc>
              <a:spcBef>
                <a:spcPts val="930"/>
              </a:spcBef>
              <a:buClr>
                <a:srgbClr val="B41313"/>
              </a:buClr>
              <a:buFont typeface="Tahoma"/>
              <a:buChar char="•"/>
              <a:tabLst>
                <a:tab pos="310515" algn="l"/>
              </a:tabLst>
            </a:pPr>
            <a:r>
              <a:rPr dirty="0" sz="1100" spc="-85">
                <a:latin typeface="Arial Black"/>
                <a:cs typeface="Arial Black"/>
              </a:rPr>
              <a:t>BGE-</a:t>
            </a:r>
            <a:r>
              <a:rPr dirty="0" sz="1100" spc="-110">
                <a:latin typeface="Arial Black"/>
                <a:cs typeface="Arial Black"/>
              </a:rPr>
              <a:t>large-</a:t>
            </a:r>
            <a:r>
              <a:rPr dirty="0" sz="1100" spc="-105">
                <a:latin typeface="Arial Black"/>
                <a:cs typeface="Arial Black"/>
              </a:rPr>
              <a:t>en-v1.5</a:t>
            </a:r>
            <a:r>
              <a:rPr dirty="0" sz="1100" spc="20">
                <a:latin typeface="Arial Black"/>
                <a:cs typeface="Arial Black"/>
              </a:rPr>
              <a:t> </a:t>
            </a:r>
            <a:r>
              <a:rPr dirty="0" sz="1100" spc="-60">
                <a:latin typeface="Tahoma"/>
                <a:cs typeface="Tahoma"/>
              </a:rPr>
              <a:t>embedder</a:t>
            </a:r>
            <a:r>
              <a:rPr dirty="0" sz="1100" spc="40">
                <a:latin typeface="Tahoma"/>
                <a:cs typeface="Tahoma"/>
              </a:rPr>
              <a:t> </a:t>
            </a:r>
            <a:r>
              <a:rPr dirty="0" sz="1100" spc="180" i="1">
                <a:latin typeface="Utopia Std Caption"/>
                <a:cs typeface="Utopia Std Caption"/>
              </a:rPr>
              <a:t>→</a:t>
            </a:r>
            <a:r>
              <a:rPr dirty="0" sz="1100" spc="140" i="1">
                <a:latin typeface="Utopia Std Caption"/>
                <a:cs typeface="Utopia Std Caption"/>
              </a:rPr>
              <a:t> </a:t>
            </a:r>
            <a:r>
              <a:rPr dirty="0" sz="1100" spc="-10">
                <a:latin typeface="Tahoma"/>
                <a:cs typeface="Tahoma"/>
              </a:rPr>
              <a:t>local</a:t>
            </a:r>
            <a:endParaRPr sz="1100">
              <a:latin typeface="Tahoma"/>
              <a:cs typeface="Tahoma"/>
            </a:endParaRPr>
          </a:p>
          <a:p>
            <a:pPr marL="309880">
              <a:lnSpc>
                <a:spcPct val="100000"/>
              </a:lnSpc>
              <a:spcBef>
                <a:spcPts val="35"/>
              </a:spcBef>
            </a:pPr>
            <a:r>
              <a:rPr dirty="0" sz="1100" spc="-110">
                <a:latin typeface="Arial Black"/>
                <a:cs typeface="Arial Black"/>
              </a:rPr>
              <a:t>Qdrant</a:t>
            </a:r>
            <a:r>
              <a:rPr dirty="0" sz="1100" spc="-5">
                <a:latin typeface="Arial Black"/>
                <a:cs typeface="Arial Black"/>
              </a:rPr>
              <a:t> </a:t>
            </a:r>
            <a:r>
              <a:rPr dirty="0" sz="1100" spc="-35">
                <a:latin typeface="Tahoma"/>
                <a:cs typeface="Tahoma"/>
              </a:rPr>
              <a:t>vector</a:t>
            </a:r>
            <a:r>
              <a:rPr dirty="0" sz="110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store</a:t>
            </a:r>
            <a:endParaRPr sz="1100">
              <a:latin typeface="Tahoma"/>
              <a:cs typeface="Tahoma"/>
            </a:endParaRPr>
          </a:p>
          <a:p>
            <a:pPr marL="309880" marR="448309" indent="-182245">
              <a:lnSpc>
                <a:spcPct val="102600"/>
              </a:lnSpc>
              <a:spcBef>
                <a:spcPts val="900"/>
              </a:spcBef>
              <a:buClr>
                <a:srgbClr val="B41313"/>
              </a:buClr>
              <a:buChar char="•"/>
              <a:tabLst>
                <a:tab pos="309880" algn="l"/>
              </a:tabLst>
            </a:pPr>
            <a:r>
              <a:rPr dirty="0" sz="1100" spc="-40">
                <a:latin typeface="Tahoma"/>
                <a:cs typeface="Tahoma"/>
              </a:rPr>
              <a:t>Top-</a:t>
            </a:r>
            <a:r>
              <a:rPr dirty="0" sz="1100" spc="-10">
                <a:latin typeface="Tahoma"/>
                <a:cs typeface="Tahoma"/>
              </a:rPr>
              <a:t>20</a:t>
            </a:r>
            <a:r>
              <a:rPr dirty="0" sz="1100">
                <a:latin typeface="Tahoma"/>
                <a:cs typeface="Tahoma"/>
              </a:rPr>
              <a:t> </a:t>
            </a:r>
            <a:r>
              <a:rPr dirty="0" sz="1100" spc="-45">
                <a:latin typeface="Tahoma"/>
                <a:cs typeface="Tahoma"/>
              </a:rPr>
              <a:t>retrieved</a:t>
            </a:r>
            <a:r>
              <a:rPr dirty="0" sz="1100" spc="5">
                <a:latin typeface="Tahoma"/>
                <a:cs typeface="Tahoma"/>
              </a:rPr>
              <a:t> </a:t>
            </a:r>
            <a:r>
              <a:rPr dirty="0" sz="1100" spc="180" i="1">
                <a:latin typeface="Utopia Std Caption"/>
                <a:cs typeface="Utopia Std Caption"/>
              </a:rPr>
              <a:t>→</a:t>
            </a:r>
            <a:r>
              <a:rPr dirty="0" sz="1100" spc="100" i="1">
                <a:latin typeface="Utopia Std Caption"/>
                <a:cs typeface="Utopia Std Caption"/>
              </a:rPr>
              <a:t> </a:t>
            </a:r>
            <a:r>
              <a:rPr dirty="0" sz="1100" spc="-55">
                <a:latin typeface="Tahoma"/>
                <a:cs typeface="Tahoma"/>
              </a:rPr>
              <a:t>cross-encoder reranker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180" i="1">
                <a:latin typeface="Utopia Std Caption"/>
                <a:cs typeface="Utopia Std Caption"/>
              </a:rPr>
              <a:t>→</a:t>
            </a:r>
            <a:r>
              <a:rPr dirty="0" sz="1100" spc="85" i="1">
                <a:latin typeface="Utopia Std Caption"/>
                <a:cs typeface="Utopia Std Caption"/>
              </a:rPr>
              <a:t> </a:t>
            </a:r>
            <a:r>
              <a:rPr dirty="0" sz="1100" spc="-40">
                <a:latin typeface="Tahoma"/>
                <a:cs typeface="Tahoma"/>
              </a:rPr>
              <a:t>top-</a:t>
            </a:r>
            <a:r>
              <a:rPr dirty="0" sz="1100">
                <a:latin typeface="Tahoma"/>
                <a:cs typeface="Tahoma"/>
              </a:rPr>
              <a:t>5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30">
                <a:latin typeface="Tahoma"/>
                <a:cs typeface="Tahoma"/>
              </a:rPr>
              <a:t>sent</a:t>
            </a:r>
            <a:r>
              <a:rPr dirty="0" sz="1100" spc="-10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to</a:t>
            </a:r>
            <a:r>
              <a:rPr dirty="0" sz="1100" spc="-10">
                <a:latin typeface="Tahoma"/>
                <a:cs typeface="Tahoma"/>
              </a:rPr>
              <a:t> </a:t>
            </a:r>
            <a:r>
              <a:rPr dirty="0" sz="1100" spc="30">
                <a:latin typeface="Tahoma"/>
                <a:cs typeface="Tahoma"/>
              </a:rPr>
              <a:t>LLM</a:t>
            </a:r>
            <a:endParaRPr sz="1100">
              <a:latin typeface="Tahoma"/>
              <a:cs typeface="Tahoma"/>
            </a:endParaRPr>
          </a:p>
          <a:p>
            <a:pPr marL="309880" marR="5080" indent="-182245">
              <a:lnSpc>
                <a:spcPct val="102600"/>
              </a:lnSpc>
              <a:spcBef>
                <a:spcPts val="894"/>
              </a:spcBef>
              <a:buClr>
                <a:srgbClr val="B41313"/>
              </a:buClr>
              <a:buFont typeface="Tahoma"/>
              <a:buChar char="•"/>
              <a:tabLst>
                <a:tab pos="309880" algn="l"/>
              </a:tabLst>
            </a:pPr>
            <a:r>
              <a:rPr dirty="0" sz="1100" spc="-70">
                <a:latin typeface="Arial Black"/>
                <a:cs typeface="Arial Black"/>
              </a:rPr>
              <a:t>Anti-</a:t>
            </a:r>
            <a:r>
              <a:rPr dirty="0" sz="1100" spc="-130">
                <a:latin typeface="Arial Black"/>
                <a:cs typeface="Arial Black"/>
              </a:rPr>
              <a:t>hallucination</a:t>
            </a:r>
            <a:r>
              <a:rPr dirty="0" sz="1100" spc="30">
                <a:latin typeface="Arial Black"/>
                <a:cs typeface="Arial Black"/>
              </a:rPr>
              <a:t> </a:t>
            </a:r>
            <a:r>
              <a:rPr dirty="0" sz="1100" spc="-100">
                <a:latin typeface="Arial Black"/>
                <a:cs typeface="Arial Black"/>
              </a:rPr>
              <a:t>prompt</a:t>
            </a:r>
            <a:r>
              <a:rPr dirty="0" sz="1100" spc="-100">
                <a:latin typeface="Tahoma"/>
                <a:cs typeface="Tahoma"/>
              </a:rPr>
              <a:t>:</a:t>
            </a:r>
            <a:r>
              <a:rPr dirty="0" sz="1100" spc="114">
                <a:latin typeface="Tahoma"/>
                <a:cs typeface="Tahoma"/>
              </a:rPr>
              <a:t> </a:t>
            </a:r>
            <a:r>
              <a:rPr dirty="0" sz="1100" spc="-35">
                <a:latin typeface="Tahoma"/>
                <a:cs typeface="Tahoma"/>
              </a:rPr>
              <a:t>model</a:t>
            </a:r>
            <a:r>
              <a:rPr dirty="0" sz="1100" spc="5">
                <a:latin typeface="Tahoma"/>
                <a:cs typeface="Tahoma"/>
              </a:rPr>
              <a:t> </a:t>
            </a:r>
            <a:r>
              <a:rPr dirty="0" sz="1100" spc="-20">
                <a:latin typeface="Tahoma"/>
                <a:cs typeface="Tahoma"/>
              </a:rPr>
              <a:t>must </a:t>
            </a:r>
            <a:r>
              <a:rPr dirty="0" sz="1100" spc="-55">
                <a:latin typeface="Tahoma"/>
                <a:cs typeface="Tahoma"/>
              </a:rPr>
              <a:t>say</a:t>
            </a:r>
            <a:r>
              <a:rPr dirty="0" sz="1100" spc="15">
                <a:latin typeface="Tahoma"/>
                <a:cs typeface="Tahoma"/>
              </a:rPr>
              <a:t> </a:t>
            </a:r>
            <a:r>
              <a:rPr dirty="0" sz="1100" i="1">
                <a:latin typeface="Calibri"/>
                <a:cs typeface="Calibri"/>
              </a:rPr>
              <a:t>“cannot</a:t>
            </a:r>
            <a:r>
              <a:rPr dirty="0" sz="1100" spc="105" i="1">
                <a:latin typeface="Calibri"/>
                <a:cs typeface="Calibri"/>
              </a:rPr>
              <a:t> </a:t>
            </a:r>
            <a:r>
              <a:rPr dirty="0" sz="1100" i="1">
                <a:latin typeface="Calibri"/>
                <a:cs typeface="Calibri"/>
              </a:rPr>
              <a:t>find</a:t>
            </a:r>
            <a:r>
              <a:rPr dirty="0" sz="1100" spc="110" i="1">
                <a:latin typeface="Calibri"/>
                <a:cs typeface="Calibri"/>
              </a:rPr>
              <a:t> </a:t>
            </a:r>
            <a:r>
              <a:rPr dirty="0" sz="1100" i="1">
                <a:latin typeface="Calibri"/>
                <a:cs typeface="Calibri"/>
              </a:rPr>
              <a:t>in</a:t>
            </a:r>
            <a:r>
              <a:rPr dirty="0" sz="1100" spc="105" i="1">
                <a:latin typeface="Calibri"/>
                <a:cs typeface="Calibri"/>
              </a:rPr>
              <a:t> </a:t>
            </a:r>
            <a:r>
              <a:rPr dirty="0" sz="1100" i="1">
                <a:latin typeface="Calibri"/>
                <a:cs typeface="Calibri"/>
              </a:rPr>
              <a:t>specifications”</a:t>
            </a:r>
            <a:r>
              <a:rPr dirty="0" sz="1100" spc="110" i="1">
                <a:latin typeface="Calibri"/>
                <a:cs typeface="Calibri"/>
              </a:rPr>
              <a:t> </a:t>
            </a:r>
            <a:r>
              <a:rPr dirty="0" sz="1100" spc="-10">
                <a:latin typeface="Tahoma"/>
                <a:cs typeface="Tahoma"/>
              </a:rPr>
              <a:t>rather </a:t>
            </a:r>
            <a:r>
              <a:rPr dirty="0" sz="1100" spc="-20">
                <a:latin typeface="Tahoma"/>
                <a:cs typeface="Tahoma"/>
              </a:rPr>
              <a:t>than</a:t>
            </a:r>
            <a:r>
              <a:rPr dirty="0" sz="1100" spc="-50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guess</a:t>
            </a:r>
            <a:endParaRPr sz="1100">
              <a:latin typeface="Tahoma"/>
              <a:cs typeface="Tahoma"/>
            </a:endParaRPr>
          </a:p>
          <a:p>
            <a:pPr marL="309880" marR="74930" indent="-182245">
              <a:lnSpc>
                <a:spcPct val="102600"/>
              </a:lnSpc>
              <a:spcBef>
                <a:spcPts val="900"/>
              </a:spcBef>
              <a:buClr>
                <a:srgbClr val="B41313"/>
              </a:buClr>
              <a:buChar char="•"/>
              <a:tabLst>
                <a:tab pos="309880" algn="l"/>
              </a:tabLst>
            </a:pPr>
            <a:r>
              <a:rPr dirty="0" sz="1100" spc="-10">
                <a:latin typeface="Tahoma"/>
                <a:cs typeface="Tahoma"/>
              </a:rPr>
              <a:t>Metadata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 spc="-10">
                <a:latin typeface="Tahoma"/>
                <a:cs typeface="Tahoma"/>
              </a:rPr>
              <a:t>filter:</a:t>
            </a:r>
            <a:r>
              <a:rPr dirty="0" sz="1100" spc="90">
                <a:latin typeface="Tahoma"/>
                <a:cs typeface="Tahoma"/>
              </a:rPr>
              <a:t> </a:t>
            </a:r>
            <a:r>
              <a:rPr dirty="0" sz="1100" spc="-20">
                <a:latin typeface="Tahoma"/>
                <a:cs typeface="Tahoma"/>
              </a:rPr>
              <a:t>restrict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to</a:t>
            </a:r>
            <a:r>
              <a:rPr dirty="0" sz="1100" spc="-15">
                <a:latin typeface="Tahoma"/>
                <a:cs typeface="Tahoma"/>
              </a:rPr>
              <a:t> </a:t>
            </a:r>
            <a:r>
              <a:rPr dirty="0" sz="1100" spc="-30">
                <a:latin typeface="Tahoma"/>
                <a:cs typeface="Tahoma"/>
              </a:rPr>
              <a:t>specific</a:t>
            </a:r>
            <a:r>
              <a:rPr dirty="0" sz="1100" spc="-20">
                <a:latin typeface="Tahoma"/>
                <a:cs typeface="Tahoma"/>
              </a:rPr>
              <a:t> </a:t>
            </a:r>
            <a:r>
              <a:rPr dirty="0" sz="1100">
                <a:latin typeface="Tahoma"/>
                <a:cs typeface="Tahoma"/>
              </a:rPr>
              <a:t>TS</a:t>
            </a:r>
            <a:r>
              <a:rPr dirty="0" sz="1100" spc="-25">
                <a:latin typeface="Tahoma"/>
                <a:cs typeface="Tahoma"/>
              </a:rPr>
              <a:t> </a:t>
            </a:r>
            <a:r>
              <a:rPr dirty="0" sz="1100" spc="65">
                <a:latin typeface="Tahoma"/>
                <a:cs typeface="Tahoma"/>
              </a:rPr>
              <a:t>/ </a:t>
            </a:r>
            <a:r>
              <a:rPr dirty="0" sz="1100" spc="-10">
                <a:latin typeface="Tahoma"/>
                <a:cs typeface="Tahoma"/>
              </a:rPr>
              <a:t>Release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6" name="object 6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1" name="object 11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79844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60">
                <a:solidFill>
                  <a:srgbClr val="FFFFFF"/>
                </a:solidFill>
                <a:latin typeface="Arial Black"/>
                <a:cs typeface="Arial Black"/>
              </a:rPr>
              <a:t>RAG</a:t>
            </a:r>
            <a:r>
              <a:rPr dirty="0" sz="1400" spc="-1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45">
                <a:solidFill>
                  <a:srgbClr val="FFFFFF"/>
                </a:solidFill>
                <a:latin typeface="Arial Black"/>
                <a:cs typeface="Arial Black"/>
              </a:rPr>
              <a:t>Assistant</a:t>
            </a:r>
            <a:r>
              <a:rPr dirty="0" sz="1400" spc="2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165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dirty="0" sz="1400" spc="1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70">
                <a:solidFill>
                  <a:srgbClr val="FFFFFF"/>
                </a:solidFill>
                <a:latin typeface="Arial Black"/>
                <a:cs typeface="Arial Black"/>
              </a:rPr>
              <a:t>Main</a:t>
            </a:r>
            <a:r>
              <a:rPr dirty="0" sz="1400" spc="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25">
                <a:solidFill>
                  <a:srgbClr val="FFFFFF"/>
                </a:solidFill>
                <a:latin typeface="Arial Black"/>
                <a:cs typeface="Arial Black"/>
              </a:rPr>
              <a:t>Interface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1830" y="667910"/>
            <a:ext cx="4916302" cy="1997247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332479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25">
                <a:solidFill>
                  <a:srgbClr val="FFFFFF"/>
                </a:solidFill>
                <a:latin typeface="Arial Black"/>
                <a:cs typeface="Arial Black"/>
              </a:rPr>
              <a:t>Live</a:t>
            </a:r>
            <a:r>
              <a:rPr dirty="0" sz="1400" spc="3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05">
                <a:solidFill>
                  <a:srgbClr val="FFFFFF"/>
                </a:solidFill>
                <a:latin typeface="Arial Black"/>
                <a:cs typeface="Arial Black"/>
              </a:rPr>
              <a:t>Query</a:t>
            </a:r>
            <a:r>
              <a:rPr dirty="0" sz="1400" spc="3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165">
                <a:solidFill>
                  <a:srgbClr val="FFFFFF"/>
                </a:solidFill>
                <a:latin typeface="Arial Black"/>
                <a:cs typeface="Arial Black"/>
              </a:rPr>
              <a:t>—</a:t>
            </a:r>
            <a:r>
              <a:rPr dirty="0" sz="1400" spc="3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14">
                <a:solidFill>
                  <a:srgbClr val="FFFFFF"/>
                </a:solidFill>
                <a:latin typeface="Arial Black"/>
                <a:cs typeface="Arial Black"/>
              </a:rPr>
              <a:t>Pipeline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50">
                <a:solidFill>
                  <a:srgbClr val="FFFFFF"/>
                </a:solidFill>
                <a:latin typeface="Arial Black"/>
                <a:cs typeface="Arial Black"/>
              </a:rPr>
              <a:t>Execution</a:t>
            </a:r>
            <a:r>
              <a:rPr dirty="0" sz="1400" spc="3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30">
                <a:solidFill>
                  <a:srgbClr val="FFFFFF"/>
                </a:solidFill>
                <a:latin typeface="Arial Black"/>
                <a:cs typeface="Arial Black"/>
              </a:rPr>
              <a:t>Steps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1792" y="770487"/>
            <a:ext cx="4916407" cy="1740759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314833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40">
                <a:solidFill>
                  <a:srgbClr val="FFFFFF"/>
                </a:solidFill>
                <a:latin typeface="Arial Black"/>
                <a:cs typeface="Arial Black"/>
              </a:rPr>
              <a:t>Retrieved</a:t>
            </a:r>
            <a:r>
              <a:rPr dirty="0" sz="1400" spc="2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55">
                <a:solidFill>
                  <a:srgbClr val="FFFFFF"/>
                </a:solidFill>
                <a:latin typeface="Arial Black"/>
                <a:cs typeface="Arial Black"/>
              </a:rPr>
              <a:t>Chunks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60">
                <a:solidFill>
                  <a:srgbClr val="FFFFFF"/>
                </a:solidFill>
                <a:latin typeface="Arial Black"/>
                <a:cs typeface="Arial Black"/>
              </a:rPr>
              <a:t>Source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95">
                <a:solidFill>
                  <a:srgbClr val="FFFFFF"/>
                </a:solidFill>
                <a:latin typeface="Arial Black"/>
                <a:cs typeface="Arial Black"/>
              </a:rPr>
              <a:t>Citations</a:t>
            </a:r>
            <a:endParaRPr sz="1400">
              <a:latin typeface="Arial Black"/>
              <a:cs typeface="Arial Black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1792" y="691032"/>
            <a:ext cx="4916332" cy="1939442"/>
          </a:xfrm>
          <a:prstGeom prst="rect">
            <a:avLst/>
          </a:prstGeom>
        </p:spPr>
      </p:pic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99275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70">
                <a:solidFill>
                  <a:srgbClr val="FFFFFF"/>
                </a:solidFill>
                <a:latin typeface="Arial Black"/>
                <a:cs typeface="Arial Black"/>
              </a:rPr>
              <a:t>Answer</a:t>
            </a:r>
            <a:r>
              <a:rPr dirty="0" sz="1400" spc="5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40">
                <a:solidFill>
                  <a:srgbClr val="FFFFFF"/>
                </a:solidFill>
                <a:latin typeface="Arial Black"/>
                <a:cs typeface="Arial Black"/>
              </a:rPr>
              <a:t>Panel</a:t>
            </a:r>
            <a:r>
              <a:rPr dirty="0" sz="1400" spc="3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dirty="0" sz="1400" spc="5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75">
                <a:solidFill>
                  <a:srgbClr val="FFFFFF"/>
                </a:solidFill>
                <a:latin typeface="Arial Black"/>
                <a:cs typeface="Arial Black"/>
              </a:rPr>
              <a:t>Backend</a:t>
            </a:r>
            <a:r>
              <a:rPr dirty="0" sz="1400" spc="5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55">
                <a:solidFill>
                  <a:srgbClr val="FFFFFF"/>
                </a:solidFill>
                <a:latin typeface="Arial Black"/>
                <a:cs typeface="Arial Black"/>
              </a:rPr>
              <a:t>Response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62749" y="895520"/>
            <a:ext cx="1785620" cy="1778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000" spc="-95">
                <a:latin typeface="Arial Black"/>
                <a:cs typeface="Arial Black"/>
              </a:rPr>
              <a:t>Citation-</a:t>
            </a:r>
            <a:r>
              <a:rPr dirty="0" sz="1000" spc="-130">
                <a:latin typeface="Arial Black"/>
                <a:cs typeface="Arial Black"/>
              </a:rPr>
              <a:t>Backed</a:t>
            </a:r>
            <a:r>
              <a:rPr dirty="0" sz="1000" spc="85">
                <a:latin typeface="Arial Black"/>
                <a:cs typeface="Arial Black"/>
              </a:rPr>
              <a:t> </a:t>
            </a:r>
            <a:r>
              <a:rPr dirty="0" sz="1000" spc="-145">
                <a:latin typeface="Arial Black"/>
                <a:cs typeface="Arial Black"/>
              </a:rPr>
              <a:t>Answer</a:t>
            </a:r>
            <a:r>
              <a:rPr dirty="0" sz="1000" spc="90">
                <a:latin typeface="Arial Black"/>
                <a:cs typeface="Arial Black"/>
              </a:rPr>
              <a:t> </a:t>
            </a:r>
            <a:r>
              <a:rPr dirty="0" sz="1000" spc="-80">
                <a:latin typeface="Arial Black"/>
                <a:cs typeface="Arial Black"/>
              </a:rPr>
              <a:t>Panel</a:t>
            </a:r>
            <a:endParaRPr sz="1000">
              <a:latin typeface="Arial Black"/>
              <a:cs typeface="Arial Black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5521" y="1097994"/>
            <a:ext cx="2840614" cy="114867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641687" y="1012690"/>
            <a:ext cx="1452880" cy="1778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000" spc="-140">
                <a:latin typeface="Arial Black"/>
                <a:cs typeface="Arial Black"/>
              </a:rPr>
              <a:t>Backend</a:t>
            </a:r>
            <a:r>
              <a:rPr dirty="0" sz="1000" spc="65">
                <a:latin typeface="Arial Black"/>
                <a:cs typeface="Arial Black"/>
              </a:rPr>
              <a:t> </a:t>
            </a:r>
            <a:r>
              <a:rPr dirty="0" sz="1000" spc="-100">
                <a:latin typeface="Arial Black"/>
                <a:cs typeface="Arial Black"/>
              </a:rPr>
              <a:t>Pipeline</a:t>
            </a:r>
            <a:r>
              <a:rPr dirty="0" sz="1000" spc="70">
                <a:latin typeface="Arial Black"/>
                <a:cs typeface="Arial Black"/>
              </a:rPr>
              <a:t> </a:t>
            </a:r>
            <a:r>
              <a:rPr dirty="0" sz="1000" spc="-114">
                <a:latin typeface="Arial Black"/>
                <a:cs typeface="Arial Black"/>
              </a:rPr>
              <a:t>Stages</a:t>
            </a:r>
            <a:endParaRPr sz="1000">
              <a:latin typeface="Arial Black"/>
              <a:cs typeface="Arial Black"/>
            </a:endParaRPr>
          </a:p>
        </p:txBody>
      </p:sp>
      <p:pic>
        <p:nvPicPr>
          <p:cNvPr id="6" name="object 6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111639" y="1239773"/>
            <a:ext cx="2512840" cy="889724"/>
          </a:xfrm>
          <a:prstGeom prst="rect">
            <a:avLst/>
          </a:prstGeom>
        </p:spPr>
      </p:pic>
      <p:grpSp>
        <p:nvGrpSpPr>
          <p:cNvPr id="7" name="object 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8" name="object 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4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97827" y="886142"/>
            <a:ext cx="4523105" cy="494030"/>
            <a:chOff x="97827" y="886142"/>
            <a:chExt cx="4523105" cy="494030"/>
          </a:xfrm>
        </p:grpSpPr>
        <p:sp>
          <p:nvSpPr>
            <p:cNvPr id="3" name="object 3"/>
            <p:cNvSpPr/>
            <p:nvPr/>
          </p:nvSpPr>
          <p:spPr>
            <a:xfrm>
              <a:off x="97827" y="886142"/>
              <a:ext cx="4472305" cy="82550"/>
            </a:xfrm>
            <a:custGeom>
              <a:avLst/>
              <a:gdLst/>
              <a:ahLst/>
              <a:cxnLst/>
              <a:rect l="l" t="t" r="r" b="b"/>
              <a:pathLst>
                <a:path w="4472305" h="82550">
                  <a:moveTo>
                    <a:pt x="4421063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82384"/>
                  </a:lnTo>
                  <a:lnTo>
                    <a:pt x="4471864" y="82384"/>
                  </a:lnTo>
                  <a:lnTo>
                    <a:pt x="4471864" y="50800"/>
                  </a:lnTo>
                  <a:lnTo>
                    <a:pt x="4467855" y="31075"/>
                  </a:lnTo>
                  <a:lnTo>
                    <a:pt x="4456941" y="14922"/>
                  </a:lnTo>
                  <a:lnTo>
                    <a:pt x="4440788" y="4008"/>
                  </a:lnTo>
                  <a:lnTo>
                    <a:pt x="4421063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148628" y="949391"/>
              <a:ext cx="4472305" cy="431165"/>
            </a:xfrm>
            <a:custGeom>
              <a:avLst/>
              <a:gdLst/>
              <a:ahLst/>
              <a:cxnLst/>
              <a:rect l="l" t="t" r="r" b="b"/>
              <a:pathLst>
                <a:path w="4472305" h="431165">
                  <a:moveTo>
                    <a:pt x="4471864" y="0"/>
                  </a:moveTo>
                  <a:lnTo>
                    <a:pt x="0" y="0"/>
                  </a:lnTo>
                  <a:lnTo>
                    <a:pt x="0" y="430667"/>
                  </a:lnTo>
                  <a:lnTo>
                    <a:pt x="4471864" y="430667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97827" y="930554"/>
              <a:ext cx="4472305" cy="398780"/>
            </a:xfrm>
            <a:custGeom>
              <a:avLst/>
              <a:gdLst/>
              <a:ahLst/>
              <a:cxnLst/>
              <a:rect l="l" t="t" r="r" b="b"/>
              <a:pathLst>
                <a:path w="4472305" h="398780">
                  <a:moveTo>
                    <a:pt x="4471864" y="0"/>
                  </a:moveTo>
                  <a:lnTo>
                    <a:pt x="0" y="0"/>
                  </a:lnTo>
                  <a:lnTo>
                    <a:pt x="0" y="347903"/>
                  </a:lnTo>
                  <a:lnTo>
                    <a:pt x="4008" y="367627"/>
                  </a:lnTo>
                  <a:lnTo>
                    <a:pt x="14922" y="383780"/>
                  </a:lnTo>
                  <a:lnTo>
                    <a:pt x="31075" y="394695"/>
                  </a:lnTo>
                  <a:lnTo>
                    <a:pt x="50800" y="398703"/>
                  </a:lnTo>
                  <a:lnTo>
                    <a:pt x="4421063" y="398703"/>
                  </a:lnTo>
                  <a:lnTo>
                    <a:pt x="4440788" y="394695"/>
                  </a:lnTo>
                  <a:lnTo>
                    <a:pt x="4456941" y="383780"/>
                  </a:lnTo>
                  <a:lnTo>
                    <a:pt x="4467855" y="367627"/>
                  </a:lnTo>
                  <a:lnTo>
                    <a:pt x="4471864" y="347903"/>
                  </a:lnTo>
                  <a:lnTo>
                    <a:pt x="4471864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148628" y="949391"/>
            <a:ext cx="4472305" cy="431165"/>
          </a:xfrm>
          <a:prstGeom prst="rect">
            <a:avLst/>
          </a:prstGeom>
        </p:spPr>
        <p:txBody>
          <a:bodyPr wrap="square" lIns="0" tIns="56515" rIns="0" bIns="0" rtlCol="0" vert="horz">
            <a:spAutoFit/>
          </a:bodyPr>
          <a:lstStyle/>
          <a:p>
            <a:pPr algn="ctr" marR="93980">
              <a:lnSpc>
                <a:spcPct val="100000"/>
              </a:lnSpc>
              <a:spcBef>
                <a:spcPts val="445"/>
              </a:spcBef>
            </a:pPr>
            <a:r>
              <a:rPr dirty="0" sz="1400" spc="-100">
                <a:solidFill>
                  <a:srgbClr val="FFFFFF"/>
                </a:solidFill>
                <a:latin typeface="Arial Black"/>
                <a:cs typeface="Arial Black"/>
              </a:rPr>
              <a:t>Mohab</a:t>
            </a:r>
            <a:r>
              <a:rPr dirty="0" sz="1400" spc="-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Arial Black"/>
                <a:cs typeface="Arial Black"/>
              </a:rPr>
              <a:t>Tarek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7815" y="1511312"/>
            <a:ext cx="4472305" cy="554990"/>
          </a:xfrm>
          <a:custGeom>
            <a:avLst/>
            <a:gdLst/>
            <a:ahLst/>
            <a:cxnLst/>
            <a:rect l="l" t="t" r="r" b="b"/>
            <a:pathLst>
              <a:path w="4472305" h="554989">
                <a:moveTo>
                  <a:pt x="4471873" y="44437"/>
                </a:moveTo>
                <a:lnTo>
                  <a:pt x="4470578" y="44437"/>
                </a:lnTo>
                <a:lnTo>
                  <a:pt x="4467860" y="31076"/>
                </a:lnTo>
                <a:lnTo>
                  <a:pt x="4456950" y="14922"/>
                </a:lnTo>
                <a:lnTo>
                  <a:pt x="4440796" y="4013"/>
                </a:lnTo>
                <a:lnTo>
                  <a:pt x="4421073" y="0"/>
                </a:lnTo>
                <a:lnTo>
                  <a:pt x="50812" y="0"/>
                </a:lnTo>
                <a:lnTo>
                  <a:pt x="31076" y="4013"/>
                </a:lnTo>
                <a:lnTo>
                  <a:pt x="14922" y="14922"/>
                </a:lnTo>
                <a:lnTo>
                  <a:pt x="4013" y="31076"/>
                </a:lnTo>
                <a:lnTo>
                  <a:pt x="1282" y="44437"/>
                </a:lnTo>
                <a:lnTo>
                  <a:pt x="0" y="44437"/>
                </a:lnTo>
                <a:lnTo>
                  <a:pt x="0" y="50800"/>
                </a:lnTo>
                <a:lnTo>
                  <a:pt x="0" y="82384"/>
                </a:lnTo>
                <a:lnTo>
                  <a:pt x="0" y="504101"/>
                </a:lnTo>
                <a:lnTo>
                  <a:pt x="4013" y="523824"/>
                </a:lnTo>
                <a:lnTo>
                  <a:pt x="14922" y="539978"/>
                </a:lnTo>
                <a:lnTo>
                  <a:pt x="31076" y="550887"/>
                </a:lnTo>
                <a:lnTo>
                  <a:pt x="50812" y="554901"/>
                </a:lnTo>
                <a:lnTo>
                  <a:pt x="4421073" y="554901"/>
                </a:lnTo>
                <a:lnTo>
                  <a:pt x="4440796" y="550887"/>
                </a:lnTo>
                <a:lnTo>
                  <a:pt x="4456950" y="539978"/>
                </a:lnTo>
                <a:lnTo>
                  <a:pt x="4467860" y="523824"/>
                </a:lnTo>
                <a:lnTo>
                  <a:pt x="4471873" y="504101"/>
                </a:lnTo>
                <a:lnTo>
                  <a:pt x="4471873" y="82384"/>
                </a:lnTo>
                <a:lnTo>
                  <a:pt x="4471873" y="50800"/>
                </a:lnTo>
                <a:lnTo>
                  <a:pt x="4471873" y="44437"/>
                </a:lnTo>
                <a:close/>
              </a:path>
            </a:pathLst>
          </a:custGeom>
          <a:solidFill>
            <a:srgbClr val="E5E5EB"/>
          </a:solidFill>
        </p:spPr>
        <p:txBody>
          <a:bodyPr wrap="square" lIns="0" tIns="0" rIns="0" bIns="0" rtlCol="0"/>
          <a:lstStyle/>
          <a:p/>
        </p:txBody>
      </p:sp>
      <p:sp>
        <p:nvSpPr>
          <p:cNvPr id="8" name="object 8"/>
          <p:cNvSpPr txBox="1"/>
          <p:nvPr/>
        </p:nvSpPr>
        <p:spPr>
          <a:xfrm>
            <a:off x="279552" y="1597860"/>
            <a:ext cx="4109085" cy="39116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spc="-70">
                <a:solidFill>
                  <a:srgbClr val="13132C"/>
                </a:solidFill>
                <a:latin typeface="Tahoma"/>
                <a:cs typeface="Tahoma"/>
              </a:rPr>
              <a:t>Software</a:t>
            </a:r>
            <a:r>
              <a:rPr dirty="0" sz="1200" spc="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55">
                <a:solidFill>
                  <a:srgbClr val="13132C"/>
                </a:solidFill>
                <a:latin typeface="Tahoma"/>
                <a:cs typeface="Tahoma"/>
              </a:rPr>
              <a:t>Testing</a:t>
            </a:r>
            <a:r>
              <a:rPr dirty="0" sz="1200" spc="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355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dirty="0" sz="1200" spc="1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60">
                <a:solidFill>
                  <a:srgbClr val="13132C"/>
                </a:solidFill>
                <a:latin typeface="Tahoma"/>
                <a:cs typeface="Tahoma"/>
              </a:rPr>
              <a:t>Real-</a:t>
            </a:r>
            <a:r>
              <a:rPr dirty="0" sz="1200" spc="-55">
                <a:solidFill>
                  <a:srgbClr val="13132C"/>
                </a:solidFill>
                <a:latin typeface="Tahoma"/>
                <a:cs typeface="Tahoma"/>
              </a:rPr>
              <a:t>Case</a:t>
            </a:r>
            <a:r>
              <a:rPr dirty="0" sz="1200" spc="1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45">
                <a:solidFill>
                  <a:srgbClr val="13132C"/>
                </a:solidFill>
                <a:latin typeface="Tahoma"/>
                <a:cs typeface="Tahoma"/>
              </a:rPr>
              <a:t>Experimental</a:t>
            </a:r>
            <a:r>
              <a:rPr dirty="0" sz="1200" spc="1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55">
                <a:solidFill>
                  <a:srgbClr val="13132C"/>
                </a:solidFill>
                <a:latin typeface="Tahoma"/>
                <a:cs typeface="Tahoma"/>
              </a:rPr>
              <a:t>Results</a:t>
            </a:r>
            <a:r>
              <a:rPr dirty="0" sz="1200" spc="1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355">
                <a:solidFill>
                  <a:srgbClr val="13132C"/>
                </a:solidFill>
                <a:latin typeface="Tahoma"/>
                <a:cs typeface="Tahoma"/>
              </a:rPr>
              <a:t>•</a:t>
            </a:r>
            <a:r>
              <a:rPr dirty="0" sz="1200" spc="10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25">
                <a:solidFill>
                  <a:srgbClr val="13132C"/>
                </a:solidFill>
                <a:latin typeface="Tahoma"/>
                <a:cs typeface="Tahoma"/>
              </a:rPr>
              <a:t>Conclusion</a:t>
            </a:r>
            <a:endParaRPr sz="1200">
              <a:latin typeface="Tahoma"/>
              <a:cs typeface="Tahoma"/>
            </a:endParaRPr>
          </a:p>
          <a:p>
            <a:pPr marL="1744980" indent="-164465">
              <a:lnSpc>
                <a:spcPct val="100000"/>
              </a:lnSpc>
              <a:spcBef>
                <a:spcPts val="5"/>
              </a:spcBef>
              <a:buChar char="•"/>
              <a:tabLst>
                <a:tab pos="1744980" algn="l"/>
              </a:tabLst>
            </a:pPr>
            <a:r>
              <a:rPr dirty="0" sz="1200" spc="-40">
                <a:solidFill>
                  <a:srgbClr val="13132C"/>
                </a:solidFill>
                <a:latin typeface="Tahoma"/>
                <a:cs typeface="Tahoma"/>
              </a:rPr>
              <a:t>Future</a:t>
            </a:r>
            <a:r>
              <a:rPr dirty="0" sz="1200" spc="-55">
                <a:solidFill>
                  <a:srgbClr val="13132C"/>
                </a:solidFill>
                <a:latin typeface="Tahoma"/>
                <a:cs typeface="Tahoma"/>
              </a:rPr>
              <a:t> </a:t>
            </a:r>
            <a:r>
              <a:rPr dirty="0" sz="1200" spc="-20">
                <a:solidFill>
                  <a:srgbClr val="13132C"/>
                </a:solidFill>
                <a:latin typeface="Tahoma"/>
                <a:cs typeface="Tahoma"/>
              </a:rPr>
              <a:t>Work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88988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40">
                <a:solidFill>
                  <a:srgbClr val="FFFFFF"/>
                </a:solidFill>
                <a:latin typeface="Arial Black"/>
                <a:cs typeface="Arial Black"/>
              </a:rPr>
              <a:t>Testing</a:t>
            </a:r>
            <a:r>
              <a:rPr dirty="0" sz="1400" spc="3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30">
                <a:solidFill>
                  <a:srgbClr val="FFFFFF"/>
                </a:solidFill>
                <a:latin typeface="Arial Black"/>
                <a:cs typeface="Arial Black"/>
              </a:rPr>
              <a:t>Strategy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dirty="0" sz="1400" spc="3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55">
                <a:solidFill>
                  <a:srgbClr val="FFFFFF"/>
                </a:solidFill>
                <a:latin typeface="Arial Black"/>
                <a:cs typeface="Arial Black"/>
              </a:rPr>
              <a:t>Test</a:t>
            </a:r>
            <a:r>
              <a:rPr dirty="0" sz="14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30">
                <a:solidFill>
                  <a:srgbClr val="FFFFFF"/>
                </a:solidFill>
                <a:latin typeface="Arial Black"/>
                <a:cs typeface="Arial Black"/>
              </a:rPr>
              <a:t>Coverage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264410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65">
                <a:solidFill>
                  <a:srgbClr val="FFFFFF"/>
                </a:solidFill>
                <a:latin typeface="Arial Black"/>
                <a:cs typeface="Arial Black"/>
              </a:rPr>
              <a:t>Unit</a:t>
            </a:r>
            <a:r>
              <a:rPr dirty="0" sz="1400" spc="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>
                <a:solidFill>
                  <a:srgbClr val="FFFFFF"/>
                </a:solidFill>
                <a:latin typeface="Arial Black"/>
                <a:cs typeface="Arial Black"/>
              </a:rPr>
              <a:t>&amp;</a:t>
            </a:r>
            <a:r>
              <a:rPr dirty="0" sz="1400" spc="1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25">
                <a:solidFill>
                  <a:srgbClr val="FFFFFF"/>
                </a:solidFill>
                <a:latin typeface="Arial Black"/>
                <a:cs typeface="Arial Black"/>
              </a:rPr>
              <a:t>Integration</a:t>
            </a:r>
            <a:r>
              <a:rPr dirty="0" sz="1400" spc="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25">
                <a:solidFill>
                  <a:srgbClr val="FFFFFF"/>
                </a:solidFill>
                <a:latin typeface="Arial Black"/>
                <a:cs typeface="Arial Black"/>
              </a:rPr>
              <a:t>Testing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258000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30">
                <a:solidFill>
                  <a:srgbClr val="FFFFFF"/>
                </a:solidFill>
                <a:latin typeface="Arial Black"/>
                <a:cs typeface="Arial Black"/>
              </a:rPr>
              <a:t>Real-</a:t>
            </a:r>
            <a:r>
              <a:rPr dirty="0" sz="1400" spc="-155">
                <a:solidFill>
                  <a:srgbClr val="FFFFFF"/>
                </a:solidFill>
                <a:latin typeface="Arial Black"/>
                <a:cs typeface="Arial Black"/>
              </a:rPr>
              <a:t>Case</a:t>
            </a:r>
            <a:r>
              <a:rPr dirty="0" sz="1400" spc="6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25">
                <a:solidFill>
                  <a:srgbClr val="FFFFFF"/>
                </a:solidFill>
                <a:latin typeface="Arial Black"/>
                <a:cs typeface="Arial Black"/>
              </a:rPr>
              <a:t>Dataset</a:t>
            </a:r>
            <a:r>
              <a:rPr dirty="0" sz="1400" spc="6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120">
                <a:solidFill>
                  <a:srgbClr val="FFFFFF"/>
                </a:solidFill>
                <a:latin typeface="Arial Black"/>
                <a:cs typeface="Arial Black"/>
              </a:rPr>
              <a:t>Description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0"/>
              <a:t>KPI</a:t>
            </a:r>
            <a:r>
              <a:rPr dirty="0" spc="30"/>
              <a:t> </a:t>
            </a:r>
            <a:r>
              <a:rPr dirty="0" spc="-130"/>
              <a:t>Degradation</a:t>
            </a:r>
            <a:r>
              <a:rPr dirty="0" spc="35"/>
              <a:t> </a:t>
            </a:r>
            <a:r>
              <a:rPr dirty="0" spc="165"/>
              <a:t>—</a:t>
            </a:r>
            <a:r>
              <a:rPr dirty="0" spc="35"/>
              <a:t> </a:t>
            </a:r>
            <a:r>
              <a:rPr dirty="0" spc="-145"/>
              <a:t>Experimental</a:t>
            </a:r>
            <a:r>
              <a:rPr dirty="0" spc="35"/>
              <a:t> </a:t>
            </a:r>
            <a:r>
              <a:rPr dirty="0" spc="-114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40534" y="1473960"/>
            <a:ext cx="1678939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screenshots/mohab/results_degradation.png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95300" y="57337"/>
            <a:ext cx="3060700" cy="244475"/>
          </a:xfrm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65"/>
              <a:t>Forecasting</a:t>
            </a:r>
            <a:r>
              <a:rPr dirty="0" spc="85"/>
              <a:t> </a:t>
            </a:r>
            <a:r>
              <a:rPr dirty="0" spc="165"/>
              <a:t>—</a:t>
            </a:r>
            <a:r>
              <a:rPr dirty="0" spc="85"/>
              <a:t> </a:t>
            </a:r>
            <a:r>
              <a:rPr dirty="0" spc="-145"/>
              <a:t>Experimental</a:t>
            </a:r>
            <a:r>
              <a:rPr dirty="0" spc="90"/>
              <a:t> </a:t>
            </a:r>
            <a:r>
              <a:rPr dirty="0" spc="-120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040534" y="1473960"/>
            <a:ext cx="1678939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screenshots/mohab/results_forecasting.png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120"/>
              <a:t>Action</a:t>
            </a:r>
            <a:r>
              <a:rPr dirty="0" spc="55"/>
              <a:t> </a:t>
            </a:r>
            <a:r>
              <a:rPr dirty="0" spc="-125"/>
              <a:t>Analyzer</a:t>
            </a:r>
            <a:r>
              <a:rPr dirty="0" spc="60"/>
              <a:t> </a:t>
            </a:r>
            <a:r>
              <a:rPr dirty="0" spc="165"/>
              <a:t>—</a:t>
            </a:r>
            <a:r>
              <a:rPr dirty="0" spc="55"/>
              <a:t> </a:t>
            </a:r>
            <a:r>
              <a:rPr dirty="0" spc="-145"/>
              <a:t>Experimental</a:t>
            </a:r>
            <a:r>
              <a:rPr dirty="0" spc="60"/>
              <a:t> </a:t>
            </a:r>
            <a:r>
              <a:rPr dirty="0" spc="-125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51560" y="425226"/>
            <a:ext cx="1663700" cy="1778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000" spc="-95">
                <a:latin typeface="Arial Black"/>
                <a:cs typeface="Arial Black"/>
              </a:rPr>
              <a:t>Configuration</a:t>
            </a:r>
            <a:r>
              <a:rPr dirty="0" sz="1000" spc="30">
                <a:latin typeface="Arial Black"/>
                <a:cs typeface="Arial Black"/>
              </a:rPr>
              <a:t> </a:t>
            </a:r>
            <a:r>
              <a:rPr dirty="0" sz="1000" spc="-120">
                <a:latin typeface="Arial Black"/>
                <a:cs typeface="Arial Black"/>
              </a:rPr>
              <a:t>Change</a:t>
            </a:r>
            <a:r>
              <a:rPr dirty="0" sz="1000" spc="35">
                <a:latin typeface="Arial Black"/>
                <a:cs typeface="Arial Black"/>
              </a:rPr>
              <a:t> </a:t>
            </a:r>
            <a:r>
              <a:rPr dirty="0" sz="1000" spc="-90">
                <a:latin typeface="Arial Black"/>
                <a:cs typeface="Arial Black"/>
              </a:rPr>
              <a:t>Event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74472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screenshots/mohab/results_action_before.png</a:t>
            </a:r>
            <a:endParaRPr sz="600">
              <a:latin typeface="Palatino Linotype"/>
              <a:cs typeface="Palatino Linotype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622319" y="425226"/>
            <a:ext cx="1310005" cy="177800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000" spc="-40">
                <a:latin typeface="Arial Black"/>
                <a:cs typeface="Arial Black"/>
              </a:rPr>
              <a:t>KPI</a:t>
            </a:r>
            <a:r>
              <a:rPr dirty="0" sz="1000" spc="-5">
                <a:latin typeface="Arial Black"/>
                <a:cs typeface="Arial Black"/>
              </a:rPr>
              <a:t> </a:t>
            </a:r>
            <a:r>
              <a:rPr dirty="0" sz="1000" spc="-120">
                <a:latin typeface="Arial Black"/>
                <a:cs typeface="Arial Black"/>
              </a:rPr>
              <a:t>Impact</a:t>
            </a:r>
            <a:r>
              <a:rPr dirty="0" sz="1000" spc="30">
                <a:latin typeface="Arial Black"/>
                <a:cs typeface="Arial Black"/>
              </a:rPr>
              <a:t> </a:t>
            </a:r>
            <a:r>
              <a:rPr dirty="0" sz="1000" spc="-105">
                <a:latin typeface="Arial Black"/>
                <a:cs typeface="Arial Black"/>
              </a:rPr>
              <a:t>Measured</a:t>
            </a:r>
            <a:endParaRPr sz="1000">
              <a:latin typeface="Arial Black"/>
              <a:cs typeface="Arial Black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968498" y="654837"/>
            <a:ext cx="2703195" cy="2294890"/>
          </a:xfrm>
          <a:prstGeom prst="rect">
            <a:avLst/>
          </a:prstGeom>
          <a:ln w="5054">
            <a:solidFill>
              <a:srgbClr val="000000"/>
            </a:solidFill>
          </a:ln>
        </p:spPr>
        <p:txBody>
          <a:bodyPr wrap="square" lIns="0" tIns="0" rIns="0" bIns="0" rtlCol="0" vert="horz">
            <a:spAutoFit/>
          </a:bodyPr>
          <a:lstStyle/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10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900"/>
              </a:spcBef>
            </a:pPr>
            <a:endParaRPr sz="1100">
              <a:latin typeface="Times New Roman"/>
              <a:cs typeface="Times New Roman"/>
            </a:endParaRPr>
          </a:p>
          <a:p>
            <a:pPr algn="ctr">
              <a:lnSpc>
                <a:spcPct val="100000"/>
              </a:lnSpc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screenshots/mohab/results_action_after.png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8" name="object 8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9" name="object 9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3" name="object 1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pc="-60"/>
              <a:t>RAG</a:t>
            </a:r>
            <a:r>
              <a:rPr dirty="0" spc="40"/>
              <a:t> </a:t>
            </a:r>
            <a:r>
              <a:rPr dirty="0" spc="-145"/>
              <a:t>Assistant</a:t>
            </a:r>
            <a:r>
              <a:rPr dirty="0" spc="35"/>
              <a:t> </a:t>
            </a:r>
            <a:r>
              <a:rPr dirty="0" spc="165"/>
              <a:t>—</a:t>
            </a:r>
            <a:r>
              <a:rPr dirty="0" spc="40"/>
              <a:t> </a:t>
            </a:r>
            <a:r>
              <a:rPr dirty="0" spc="-145"/>
              <a:t>Experimental</a:t>
            </a:r>
            <a:r>
              <a:rPr dirty="0" spc="35"/>
              <a:t> </a:t>
            </a:r>
            <a:r>
              <a:rPr dirty="0" spc="-125"/>
              <a:t>Results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33015" y="1473960"/>
            <a:ext cx="1494155" cy="438784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algn="ctr">
              <a:lnSpc>
                <a:spcPct val="100000"/>
              </a:lnSpc>
              <a:spcBef>
                <a:spcPts val="90"/>
              </a:spcBef>
            </a:pP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Screenshot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not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i="1">
                <a:solidFill>
                  <a:srgbClr val="13132C"/>
                </a:solidFill>
                <a:latin typeface="Calibri"/>
                <a:cs typeface="Calibri"/>
              </a:rPr>
              <a:t>yet</a:t>
            </a:r>
            <a:r>
              <a:rPr dirty="0" sz="1100" spc="120" i="1">
                <a:solidFill>
                  <a:srgbClr val="13132C"/>
                </a:solidFill>
                <a:latin typeface="Calibri"/>
                <a:cs typeface="Calibri"/>
              </a:rPr>
              <a:t> </a:t>
            </a:r>
            <a:r>
              <a:rPr dirty="0" sz="1100" spc="-10" i="1">
                <a:solidFill>
                  <a:srgbClr val="13132C"/>
                </a:solidFill>
                <a:latin typeface="Calibri"/>
                <a:cs typeface="Calibri"/>
              </a:rPr>
              <a:t>added</a:t>
            </a:r>
            <a:endParaRPr sz="1100">
              <a:latin typeface="Calibri"/>
              <a:cs typeface="Calibri"/>
            </a:endParaRPr>
          </a:p>
          <a:p>
            <a:pPr algn="ctr">
              <a:lnSpc>
                <a:spcPct val="100000"/>
              </a:lnSpc>
              <a:spcBef>
                <a:spcPts val="1220"/>
              </a:spcBef>
            </a:pPr>
            <a:r>
              <a:rPr dirty="0" sz="600" spc="-10">
                <a:solidFill>
                  <a:srgbClr val="13132C"/>
                </a:solidFill>
                <a:latin typeface="Palatino Linotype"/>
                <a:cs typeface="Palatino Linotype"/>
              </a:rPr>
              <a:t>screenshots/mohab/results_rag.png</a:t>
            </a:r>
            <a:endParaRPr sz="600">
              <a:latin typeface="Palatino Linotype"/>
              <a:cs typeface="Palatino Linotype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378764" y="473087"/>
            <a:ext cx="5002530" cy="2484755"/>
            <a:chOff x="378764" y="473087"/>
            <a:chExt cx="5002530" cy="2484755"/>
          </a:xfrm>
        </p:grpSpPr>
        <p:sp>
          <p:nvSpPr>
            <p:cNvPr id="5" name="object 5"/>
            <p:cNvSpPr/>
            <p:nvPr/>
          </p:nvSpPr>
          <p:spPr>
            <a:xfrm>
              <a:off x="378764" y="475614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381292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5378704" y="475614"/>
              <a:ext cx="0" cy="2479675"/>
            </a:xfrm>
            <a:custGeom>
              <a:avLst/>
              <a:gdLst/>
              <a:ahLst/>
              <a:cxnLst/>
              <a:rect l="l" t="t" r="r" b="b"/>
              <a:pathLst>
                <a:path w="0" h="2479675">
                  <a:moveTo>
                    <a:pt x="0" y="2479217"/>
                  </a:moveTo>
                  <a:lnTo>
                    <a:pt x="0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378764" y="2954832"/>
              <a:ext cx="5002530" cy="0"/>
            </a:xfrm>
            <a:custGeom>
              <a:avLst/>
              <a:gdLst/>
              <a:ahLst/>
              <a:cxnLst/>
              <a:rect l="l" t="t" r="r" b="b"/>
              <a:pathLst>
                <a:path w="5002530" h="0">
                  <a:moveTo>
                    <a:pt x="0" y="0"/>
                  </a:moveTo>
                  <a:lnTo>
                    <a:pt x="5002466" y="0"/>
                  </a:lnTo>
                </a:path>
              </a:pathLst>
            </a:custGeom>
            <a:ln w="5054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grpSp>
        <p:nvGrpSpPr>
          <p:cNvPr id="9" name="object 9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10" name="object 10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1" name="object 11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2" name="object 12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3" name="object 13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5" name="object 1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92011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45">
                <a:solidFill>
                  <a:srgbClr val="FFFFFF"/>
                </a:solidFill>
                <a:latin typeface="Arial Black"/>
                <a:cs typeface="Arial Black"/>
              </a:rPr>
              <a:t>Conclusion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57337"/>
            <a:ext cx="1080135" cy="244475"/>
          </a:xfrm>
          <a:prstGeom prst="rect">
            <a:avLst/>
          </a:prstGeom>
        </p:spPr>
        <p:txBody>
          <a:bodyPr wrap="square" lIns="0" tIns="1714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dirty="0" sz="1400" spc="-114">
                <a:solidFill>
                  <a:srgbClr val="FFFFFF"/>
                </a:solidFill>
                <a:latin typeface="Arial Black"/>
                <a:cs typeface="Arial Black"/>
              </a:rPr>
              <a:t>Future</a:t>
            </a:r>
            <a:r>
              <a:rPr dirty="0" sz="1400" spc="1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400" spc="-95">
                <a:solidFill>
                  <a:srgbClr val="FFFFFF"/>
                </a:solidFill>
                <a:latin typeface="Arial Black"/>
                <a:cs typeface="Arial Black"/>
              </a:rPr>
              <a:t>Work</a:t>
            </a:r>
            <a:endParaRPr sz="1400">
              <a:latin typeface="Arial Black"/>
              <a:cs typeface="Arial Black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2030209" y="1519171"/>
            <a:ext cx="1699895" cy="207645"/>
          </a:xfrm>
          <a:prstGeom prst="rect">
            <a:avLst/>
          </a:prstGeom>
        </p:spPr>
        <p:txBody>
          <a:bodyPr wrap="square" lIns="0" tIns="1206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[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Fill</a:t>
            </a:r>
            <a:r>
              <a:rPr dirty="0" sz="1200" spc="8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in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your</a:t>
            </a:r>
            <a:r>
              <a:rPr dirty="0" sz="1200" spc="75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i="1">
                <a:solidFill>
                  <a:srgbClr val="ACACB5"/>
                </a:solidFill>
                <a:latin typeface="Calibri"/>
                <a:cs typeface="Calibri"/>
              </a:rPr>
              <a:t>content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10" i="1">
                <a:solidFill>
                  <a:srgbClr val="ACACB5"/>
                </a:solidFill>
                <a:latin typeface="Calibri"/>
                <a:cs typeface="Calibri"/>
              </a:rPr>
              <a:t>here</a:t>
            </a:r>
            <a:r>
              <a:rPr dirty="0" sz="1200" spc="80" i="1">
                <a:solidFill>
                  <a:srgbClr val="ACACB5"/>
                </a:solidFill>
                <a:latin typeface="Calibri"/>
                <a:cs typeface="Calibri"/>
              </a:rPr>
              <a:t> </a:t>
            </a:r>
            <a:r>
              <a:rPr dirty="0" sz="1200" spc="-50" i="1">
                <a:solidFill>
                  <a:srgbClr val="ACACB5"/>
                </a:solidFill>
                <a:latin typeface="Calibri"/>
                <a:cs typeface="Calibri"/>
              </a:rPr>
              <a:t>]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125279"/>
            <a:ext cx="5760085" cy="114935"/>
            <a:chOff x="0" y="3125279"/>
            <a:chExt cx="5760085" cy="114935"/>
          </a:xfrm>
        </p:grpSpPr>
        <p:sp>
          <p:nvSpPr>
            <p:cNvPr id="5" name="object 5"/>
            <p:cNvSpPr/>
            <p:nvPr/>
          </p:nvSpPr>
          <p:spPr>
            <a:xfrm>
              <a:off x="0" y="3125279"/>
              <a:ext cx="2016125" cy="114935"/>
            </a:xfrm>
            <a:custGeom>
              <a:avLst/>
              <a:gdLst/>
              <a:ahLst/>
              <a:cxnLst/>
              <a:rect l="l" t="t" r="r" b="b"/>
              <a:pathLst>
                <a:path w="2016125" h="114935">
                  <a:moveTo>
                    <a:pt x="2016036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016036" y="114719"/>
                  </a:lnTo>
                  <a:lnTo>
                    <a:pt x="2016036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6" name="object 6"/>
            <p:cNvSpPr/>
            <p:nvPr/>
          </p:nvSpPr>
          <p:spPr>
            <a:xfrm>
              <a:off x="2016036" y="3125279"/>
              <a:ext cx="2592070" cy="114935"/>
            </a:xfrm>
            <a:custGeom>
              <a:avLst/>
              <a:gdLst/>
              <a:ahLst/>
              <a:cxnLst/>
              <a:rect l="l" t="t" r="r" b="b"/>
              <a:pathLst>
                <a:path w="2592070" h="114935">
                  <a:moveTo>
                    <a:pt x="2591981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2591981" y="114719"/>
                  </a:lnTo>
                  <a:lnTo>
                    <a:pt x="2591981" y="0"/>
                  </a:lnTo>
                  <a:close/>
                </a:path>
              </a:pathLst>
            </a:custGeom>
            <a:solidFill>
              <a:srgbClr val="37374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7" name="object 7"/>
            <p:cNvSpPr/>
            <p:nvPr/>
          </p:nvSpPr>
          <p:spPr>
            <a:xfrm>
              <a:off x="4608017" y="3125279"/>
              <a:ext cx="1152525" cy="114935"/>
            </a:xfrm>
            <a:custGeom>
              <a:avLst/>
              <a:gdLst/>
              <a:ahLst/>
              <a:cxnLst/>
              <a:rect l="l" t="t" r="r" b="b"/>
              <a:pathLst>
                <a:path w="1152525" h="114935">
                  <a:moveTo>
                    <a:pt x="1151978" y="0"/>
                  </a:moveTo>
                  <a:lnTo>
                    <a:pt x="0" y="0"/>
                  </a:lnTo>
                  <a:lnTo>
                    <a:pt x="0" y="114719"/>
                  </a:lnTo>
                  <a:lnTo>
                    <a:pt x="1151978" y="114719"/>
                  </a:lnTo>
                  <a:lnTo>
                    <a:pt x="1151978" y="0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8" name="object 8"/>
          <p:cNvSpPr txBox="1">
            <a:spLocks noGrp="1"/>
          </p:cNvSpPr>
          <p:nvPr>
            <p:ph type="ftr" idx="5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/>
              <a:t>ITI </a:t>
            </a:r>
            <a:r>
              <a:rPr dirty="0" spc="-10"/>
              <a:t>Intake</a:t>
            </a:r>
            <a:r>
              <a:rPr dirty="0" spc="5"/>
              <a:t> </a:t>
            </a:r>
            <a:r>
              <a:rPr dirty="0" spc="-25"/>
              <a:t>46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3100044" y="3105948"/>
            <a:ext cx="424180" cy="137160"/>
          </a:xfrm>
          <a:prstGeom prst="rect">
            <a:avLst/>
          </a:prstGeom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r>
              <a:rPr dirty="0" sz="600" spc="-10">
                <a:solidFill>
                  <a:srgbClr val="FFFFFF"/>
                </a:solidFill>
                <a:latin typeface="Tahoma"/>
                <a:cs typeface="Tahoma"/>
                <a:hlinkClick r:id="rId2" action="ppaction://hlinksldjump"/>
              </a:rPr>
              <a:t>RANPilotAI</a:t>
            </a:r>
            <a:endParaRPr sz="600">
              <a:latin typeface="Tahoma"/>
              <a:cs typeface="Tahoma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2413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90"/>
              </a:spcBef>
            </a:pPr>
            <a:fld id="{81D60167-4931-47E6-BA6A-407CBD079E47}" type="slidenum">
              <a:rPr dirty="0"/>
              <a:t>10</a:t>
            </a:fld>
            <a:r>
              <a:rPr dirty="0" spc="10"/>
              <a:t> </a:t>
            </a:r>
            <a:r>
              <a:rPr dirty="0" spc="90"/>
              <a:t>/</a:t>
            </a:r>
            <a:r>
              <a:rPr dirty="0" spc="10"/>
              <a:t> </a:t>
            </a:r>
            <a:r>
              <a:rPr dirty="0" spc="-25"/>
              <a:t>47</a:t>
            </a:r>
          </a:p>
        </p:txBody>
      </p:sp>
    </p:spTree>
  </p:cSld>
  <p:clrMapOvr>
    <a:masterClrMapping/>
  </p:clrMapOvr>
  <p:transition spd="fast">
    <p:cut thruBlk="0"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48628" y="0"/>
            <a:ext cx="5611495" cy="1296035"/>
            <a:chOff x="148628" y="0"/>
            <a:chExt cx="5611495" cy="1296035"/>
          </a:xfrm>
        </p:grpSpPr>
        <p:sp>
          <p:nvSpPr>
            <p:cNvPr id="3" name="object 3"/>
            <p:cNvSpPr/>
            <p:nvPr/>
          </p:nvSpPr>
          <p:spPr>
            <a:xfrm>
              <a:off x="148628" y="0"/>
              <a:ext cx="5611495" cy="972185"/>
            </a:xfrm>
            <a:custGeom>
              <a:avLst/>
              <a:gdLst/>
              <a:ahLst/>
              <a:cxnLst/>
              <a:rect l="l" t="t" r="r" b="b"/>
              <a:pathLst>
                <a:path w="5611495" h="972185">
                  <a:moveTo>
                    <a:pt x="0" y="971972"/>
                  </a:moveTo>
                  <a:lnTo>
                    <a:pt x="5611367" y="971972"/>
                  </a:lnTo>
                  <a:lnTo>
                    <a:pt x="5611367" y="0"/>
                  </a:lnTo>
                  <a:lnTo>
                    <a:pt x="0" y="0"/>
                  </a:lnTo>
                  <a:lnTo>
                    <a:pt x="0" y="971972"/>
                  </a:lnTo>
                  <a:close/>
                </a:path>
              </a:pathLst>
            </a:custGeom>
            <a:solidFill>
              <a:srgbClr val="13132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4" name="object 4"/>
            <p:cNvSpPr/>
            <p:nvPr/>
          </p:nvSpPr>
          <p:spPr>
            <a:xfrm>
              <a:off x="148628" y="971973"/>
              <a:ext cx="5611495" cy="324485"/>
            </a:xfrm>
            <a:custGeom>
              <a:avLst/>
              <a:gdLst/>
              <a:ahLst/>
              <a:cxnLst/>
              <a:rect l="l" t="t" r="r" b="b"/>
              <a:pathLst>
                <a:path w="5611495" h="324484">
                  <a:moveTo>
                    <a:pt x="5611367" y="0"/>
                  </a:moveTo>
                  <a:lnTo>
                    <a:pt x="0" y="0"/>
                  </a:lnTo>
                  <a:lnTo>
                    <a:pt x="0" y="324023"/>
                  </a:lnTo>
                  <a:lnTo>
                    <a:pt x="5611367" y="324023"/>
                  </a:lnTo>
                  <a:lnTo>
                    <a:pt x="5611367" y="0"/>
                  </a:lnTo>
                  <a:close/>
                </a:path>
              </a:pathLst>
            </a:custGeom>
            <a:solidFill>
              <a:srgbClr val="666666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148628" y="923374"/>
              <a:ext cx="5611495" cy="48895"/>
            </a:xfrm>
            <a:custGeom>
              <a:avLst/>
              <a:gdLst/>
              <a:ahLst/>
              <a:cxnLst/>
              <a:rect l="l" t="t" r="r" b="b"/>
              <a:pathLst>
                <a:path w="5611495" h="48894">
                  <a:moveTo>
                    <a:pt x="5611367" y="0"/>
                  </a:moveTo>
                  <a:lnTo>
                    <a:pt x="0" y="0"/>
                  </a:lnTo>
                  <a:lnTo>
                    <a:pt x="0" y="48598"/>
                  </a:lnTo>
                  <a:lnTo>
                    <a:pt x="5611367" y="48598"/>
                  </a:lnTo>
                  <a:lnTo>
                    <a:pt x="5611367" y="0"/>
                  </a:lnTo>
                  <a:close/>
                </a:path>
              </a:pathLst>
            </a:custGeom>
            <a:solidFill>
              <a:srgbClr val="B41313"/>
            </a:solidFill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148628" y="1024367"/>
            <a:ext cx="5611495" cy="191770"/>
          </a:xfrm>
          <a:prstGeom prst="rect">
            <a:avLst/>
          </a:prstGeom>
        </p:spPr>
        <p:txBody>
          <a:bodyPr wrap="square" lIns="0" tIns="11430" rIns="0" bIns="0" rtlCol="0" vert="horz">
            <a:spAutoFit/>
          </a:bodyPr>
          <a:lstStyle/>
          <a:p>
            <a:pPr algn="ctr" marL="147955">
              <a:lnSpc>
                <a:spcPct val="100000"/>
              </a:lnSpc>
              <a:spcBef>
                <a:spcPts val="90"/>
              </a:spcBef>
            </a:pPr>
            <a:r>
              <a:rPr dirty="0" sz="1100" spc="-75">
                <a:solidFill>
                  <a:srgbClr val="FFFFFF"/>
                </a:solidFill>
                <a:latin typeface="Arial Black"/>
                <a:cs typeface="Arial Black"/>
              </a:rPr>
              <a:t>RANPilotAI</a:t>
            </a:r>
            <a:r>
              <a:rPr dirty="0" sz="1100" spc="3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100" i="1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dirty="0" sz="1100" spc="155" i="1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dirty="0" sz="1100" spc="-20">
                <a:solidFill>
                  <a:srgbClr val="FFFFFF"/>
                </a:solidFill>
                <a:latin typeface="Arial Black"/>
                <a:cs typeface="Arial Black"/>
              </a:rPr>
              <a:t>ITI</a:t>
            </a:r>
            <a:r>
              <a:rPr dirty="0" sz="1100" spc="40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100" spc="-140">
                <a:solidFill>
                  <a:srgbClr val="FFFFFF"/>
                </a:solidFill>
                <a:latin typeface="Arial Black"/>
                <a:cs typeface="Arial Black"/>
              </a:rPr>
              <a:t>Intake</a:t>
            </a:r>
            <a:r>
              <a:rPr dirty="0" sz="1100" spc="3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100" spc="-145">
                <a:solidFill>
                  <a:srgbClr val="FFFFFF"/>
                </a:solidFill>
                <a:latin typeface="Arial Black"/>
                <a:cs typeface="Arial Black"/>
              </a:rPr>
              <a:t>46</a:t>
            </a:r>
            <a:r>
              <a:rPr dirty="0" sz="1100" spc="3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100" i="1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dirty="0" sz="1100" spc="160" i="1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dirty="0" sz="1100" spc="-140">
                <a:solidFill>
                  <a:srgbClr val="FFFFFF"/>
                </a:solidFill>
                <a:latin typeface="Arial Black"/>
                <a:cs typeface="Arial Black"/>
              </a:rPr>
              <a:t>Ismailia</a:t>
            </a:r>
            <a:r>
              <a:rPr dirty="0" sz="1100" spc="3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100" spc="-135">
                <a:solidFill>
                  <a:srgbClr val="FFFFFF"/>
                </a:solidFill>
                <a:latin typeface="Arial Black"/>
                <a:cs typeface="Arial Black"/>
              </a:rPr>
              <a:t>Branch</a:t>
            </a:r>
            <a:r>
              <a:rPr dirty="0" sz="1100" spc="35">
                <a:solidFill>
                  <a:srgbClr val="FFFFFF"/>
                </a:solidFill>
                <a:latin typeface="Arial Black"/>
                <a:cs typeface="Arial Black"/>
              </a:rPr>
              <a:t> </a:t>
            </a:r>
            <a:r>
              <a:rPr dirty="0" sz="1100" i="1">
                <a:solidFill>
                  <a:srgbClr val="FFFFFF"/>
                </a:solidFill>
                <a:latin typeface="Utopia Std Caption"/>
                <a:cs typeface="Utopia Std Caption"/>
              </a:rPr>
              <a:t>·</a:t>
            </a:r>
            <a:r>
              <a:rPr dirty="0" sz="1100" spc="160" i="1">
                <a:solidFill>
                  <a:srgbClr val="FFFFFF"/>
                </a:solidFill>
                <a:latin typeface="Utopia Std Caption"/>
                <a:cs typeface="Utopia Std Caption"/>
              </a:rPr>
              <a:t> </a:t>
            </a:r>
            <a:r>
              <a:rPr dirty="0" sz="1100" spc="-20">
                <a:solidFill>
                  <a:srgbClr val="FFFFFF"/>
                </a:solidFill>
                <a:latin typeface="Arial Black"/>
                <a:cs typeface="Arial Black"/>
              </a:rPr>
              <a:t>2026</a:t>
            </a:r>
            <a:endParaRPr sz="1100">
              <a:latin typeface="Arial Black"/>
              <a:cs typeface="Arial Black"/>
            </a:endParaRPr>
          </a:p>
        </p:txBody>
      </p:sp>
    </p:spTree>
  </p:cSld>
  <p:clrMapOvr>
    <a:masterClrMapping/>
  </p:clrMapOvr>
  <p:transition spd="fast">
    <p:cut thruBlk="0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Tasneem · Ibrahim · Khaled · Mahmoud · Mohab</dc:creator>
  <dc:title>RANPilotAI</dc:title>
  <dcterms:created xsi:type="dcterms:W3CDTF">2026-08-06T23:05:55Z</dcterms:created>
  <dcterms:modified xsi:type="dcterms:W3CDTF">2026-08-06T23:05:55Z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2026-08-07T00:00:00Z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2026-08-06T00:00:00Z</vt:filetime>
  </property>
  <property fmtid="{D5CDD505-2E9C-101B-9397-08002B2CF9AE}" pid="5" name="PTEX.Fullbanner">
    <vt:lpwstr>This is MiKTeX-pdfTeX 4.23.0 (1.40.28)</vt:lpwstr>
  </property>
  <property fmtid="{D5CDD505-2E9C-101B-9397-08002B2CF9AE}" pid="6" name="Producer">
    <vt:lpwstr>MiKTeX pdfTeX-1.40.28</vt:lpwstr>
  </property>
</Properties>
</file>